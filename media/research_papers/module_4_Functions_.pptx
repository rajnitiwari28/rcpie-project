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6858000" cx="12192000"/>
  <p:notesSz cx="12192000" cy="6858000"/>
  <p:embeddedFontLst>
    <p:embeddedFont>
      <p:font typeface="Helvetica Neue"/>
      <p:regular r:id="rId55"/>
      <p:bold r:id="rId56"/>
      <p:italic r:id="rId57"/>
      <p:boldItalic r:id="rId58"/>
    </p:embeddedFont>
    <p:embeddedFont>
      <p:font typeface="Roboto Mono"/>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16">
          <p15:clr>
            <a:srgbClr val="A4A3A4"/>
          </p15:clr>
        </p15:guide>
        <p15:guide id="2" pos="2160">
          <p15:clr>
            <a:srgbClr val="A4A3A4"/>
          </p15:clr>
        </p15:guide>
      </p15:sldGuideLst>
    </p:ext>
    <p:ext uri="GoogleSlidesCustomDataVersion2">
      <go:slidesCustomData xmlns:go="http://customooxmlschemas.google.com/" r:id="rId63" roundtripDataSignature="AMtx7miOKpIXnOUnkL+yCXCc6gDelXlZ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16"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Mono-boldItalic.fntdata"/><Relationship Id="rId61" Type="http://schemas.openxmlformats.org/officeDocument/2006/relationships/font" Target="fonts/RobotoMono-italic.fntdata"/><Relationship Id="rId20" Type="http://schemas.openxmlformats.org/officeDocument/2006/relationships/slide" Target="slides/slide15.xml"/><Relationship Id="rId63"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Mono-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HelveticaNeue-regular.fnt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HelveticaNeue-italic.fntdata"/><Relationship Id="rId12" Type="http://schemas.openxmlformats.org/officeDocument/2006/relationships/slide" Target="slides/slide7.xml"/><Relationship Id="rId56" Type="http://schemas.openxmlformats.org/officeDocument/2006/relationships/font" Target="fonts/HelveticaNeue-bold.fntdata"/><Relationship Id="rId15" Type="http://schemas.openxmlformats.org/officeDocument/2006/relationships/slide" Target="slides/slide10.xml"/><Relationship Id="rId59" Type="http://schemas.openxmlformats.org/officeDocument/2006/relationships/font" Target="fonts/RobotoMono-regular.fntdata"/><Relationship Id="rId14" Type="http://schemas.openxmlformats.org/officeDocument/2006/relationships/slide" Target="slides/slide9.xml"/><Relationship Id="rId58" Type="http://schemas.openxmlformats.org/officeDocument/2006/relationships/font" Target="fonts/HelveticaNeue-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 name="Google Shape;41;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 name="Google Shape;48;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82a10cad02_0_9: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82a10cad02_0_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82a10cad02_0_95: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382a10cad02_0_9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82a10cad02_0_114: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g382a10cad02_0_11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82a10cad02_0_139: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82a10cad02_0_13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82a10cad02_0_159: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382a10cad02_0_15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82a10cad02_0_179: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82a10cad02_0_17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82a10cad02_0_199: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82a10cad02_0_19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83052a1459_0_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383052a1459_0_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83071ae8d3_0_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383071ae8d3_0_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7a158a6f9e_0_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37a158a6f9e_0_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82a10cad02_0_219: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382a10cad02_0_21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83071ae8d3_0_2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383071ae8d3_0_2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7a158a6f9e_0_25: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g37a158a6f9e_0_2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7a158a6f9e_0_4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g37a158a6f9e_0_4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7a158a6f9e_0_6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37a158a6f9e_0_6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83071ae8d3_0_495: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g383071ae8d3_0_49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83071ae8d3_0_6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g383071ae8d3_0_6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83071ae8d3_0_44: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g383071ae8d3_0_4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83071ae8d3_0_8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2" name="Google Shape;462;g383071ae8d3_0_8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83071ae8d3_0_98: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3" name="Google Shape;483;g383071ae8d3_0_9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83071ae8d3_0_11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g383071ae8d3_0_11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83071ae8d3_0_134: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4" name="Google Shape;524;g383071ae8d3_0_13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83071ae8d3_0_15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4" name="Google Shape;544;g383071ae8d3_0_15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83071ae8d3_0_17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5" name="Google Shape;565;g383071ae8d3_0_17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83071ae8d3_0_188: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5" name="Google Shape;585;g383071ae8d3_0_18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83071ae8d3_0_20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6" name="Google Shape;606;g383071ae8d3_0_20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83071ae8d3_0_224: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6" name="Google Shape;626;g383071ae8d3_0_22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83071ae8d3_0_24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8" name="Google Shape;648;g383071ae8d3_0_24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83071ae8d3_0_26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1" name="Google Shape;671;g383071ae8d3_0_26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83071ae8d3_0_29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2" name="Google Shape;692;g383071ae8d3_0_29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83071ae8d3_0_314: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3" name="Google Shape;713;g383071ae8d3_0_31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79c1af9f7a_0_25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5" name="Google Shape;735;g379c1af9f7a_0_25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83071ae8d3_0_33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5" name="Google Shape;755;g383071ae8d3_0_33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7a158a6f9e_0_108: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6" name="Google Shape;776;g37a158a6f9e_0_10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7a158a6f9e_0_14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6" name="Google Shape;796;g37a158a6f9e_0_14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83071ae8d3_0_35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6" name="Google Shape;816;g383071ae8d3_0_35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83071ae8d3_0_368: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8" name="Google Shape;838;g383071ae8d3_0_36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83071ae8d3_0_38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9" name="Google Shape;859;g383071ae8d3_0_38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79c1af9f7a_0_14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9" name="Google Shape;879;g379c1af9f7a_0_14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79c1af9f7a_0_158: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0" name="Google Shape;900;g379c1af9f7a_0_15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79c1af9f7a_0_17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0" name="Google Shape;920;g379c1af9f7a_0_17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79c1af9f7a_0_199: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1" name="Google Shape;941;g379c1af9f7a_0_19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83071ae8d3_0_476: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5" name="Google Shape;965;g383071ae8d3_0_47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79c1af9f7a_0_32: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9" name="Google Shape;989;g379c1af9f7a_0_3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7a158a6f9e_0_165: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0" name="Google Shape;1010;g37a158a6f9e_0_16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37a158a6f9e_0_188: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2" name="Google Shape;1032;g37a158a6f9e_0_18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5"/>
          <p:cNvSpPr txBox="1"/>
          <p:nvPr>
            <p:ph type="title"/>
          </p:nvPr>
        </p:nvSpPr>
        <p:spPr>
          <a:xfrm>
            <a:off x="128157" y="-121259"/>
            <a:ext cx="11935685" cy="10102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100">
                <a:solidFill>
                  <a:srgbClr val="FF0000"/>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
          <p:cNvSpPr txBox="1"/>
          <p:nvPr>
            <p:ph idx="1" type="body"/>
          </p:nvPr>
        </p:nvSpPr>
        <p:spPr>
          <a:xfrm>
            <a:off x="512253" y="2218551"/>
            <a:ext cx="5454015" cy="326262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050">
                <a:solidFill>
                  <a:schemeClr val="dk1"/>
                </a:solidFill>
                <a:latin typeface="Times New Roman"/>
                <a:ea typeface="Times New Roman"/>
                <a:cs typeface="Times New Roman"/>
                <a:sym typeface="Times New Roman"/>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 name="Google Shape;14;p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6"/>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100">
                <a:solidFill>
                  <a:srgbClr val="FF0000"/>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050">
                <a:solidFill>
                  <a:schemeClr val="dk1"/>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3" name="Shape 23"/>
        <p:cNvGrpSpPr/>
        <p:nvPr/>
      </p:nvGrpSpPr>
      <p:grpSpPr>
        <a:xfrm>
          <a:off x="0" y="0"/>
          <a:ext cx="0" cy="0"/>
          <a:chOff x="0" y="0"/>
          <a:chExt cx="0" cy="0"/>
        </a:xfrm>
      </p:grpSpPr>
      <p:sp>
        <p:nvSpPr>
          <p:cNvPr id="24" name="Google Shape;24;p7"/>
          <p:cNvSpPr txBox="1"/>
          <p:nvPr>
            <p:ph type="title"/>
          </p:nvPr>
        </p:nvSpPr>
        <p:spPr>
          <a:xfrm>
            <a:off x="128157" y="-121259"/>
            <a:ext cx="11935685" cy="10102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100">
                <a:solidFill>
                  <a:srgbClr val="FF0000"/>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6" name="Google Shape;26;p7"/>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 name="Shape 30"/>
        <p:cNvGrpSpPr/>
        <p:nvPr/>
      </p:nvGrpSpPr>
      <p:grpSpPr>
        <a:xfrm>
          <a:off x="0" y="0"/>
          <a:ext cx="0" cy="0"/>
          <a:chOff x="0" y="0"/>
          <a:chExt cx="0" cy="0"/>
        </a:xfrm>
      </p:grpSpPr>
      <p:sp>
        <p:nvSpPr>
          <p:cNvPr id="31" name="Google Shape;31;p8"/>
          <p:cNvSpPr txBox="1"/>
          <p:nvPr>
            <p:ph type="title"/>
          </p:nvPr>
        </p:nvSpPr>
        <p:spPr>
          <a:xfrm>
            <a:off x="128157" y="-121259"/>
            <a:ext cx="11935685" cy="10102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100">
                <a:solidFill>
                  <a:srgbClr val="FF0000"/>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 name="Shape 35"/>
        <p:cNvGrpSpPr/>
        <p:nvPr/>
      </p:nvGrpSpPr>
      <p:grpSpPr>
        <a:xfrm>
          <a:off x="0" y="0"/>
          <a:ext cx="0" cy="0"/>
          <a:chOff x="0" y="0"/>
          <a:chExt cx="0" cy="0"/>
        </a:xfrm>
      </p:grpSpPr>
      <p:sp>
        <p:nvSpPr>
          <p:cNvPr id="36" name="Google Shape;36;p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128157" y="-121259"/>
            <a:ext cx="11935685" cy="101028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100" u="none" cap="none" strike="noStrike">
                <a:solidFill>
                  <a:srgbClr val="FF0000"/>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
          <p:cNvSpPr txBox="1"/>
          <p:nvPr>
            <p:ph idx="1" type="body"/>
          </p:nvPr>
        </p:nvSpPr>
        <p:spPr>
          <a:xfrm>
            <a:off x="512253" y="2218551"/>
            <a:ext cx="5454015" cy="3262629"/>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2050" u="none" cap="none" strike="noStrike">
                <a:solidFill>
                  <a:schemeClr val="dk1"/>
                </a:solidFill>
                <a:latin typeface="Times New Roman"/>
                <a:ea typeface="Times New Roman"/>
                <a:cs typeface="Times New Roman"/>
                <a:sym typeface="Times New Roman"/>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23.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8.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7.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4.png"/><Relationship Id="rId10" Type="http://schemas.openxmlformats.org/officeDocument/2006/relationships/image" Target="../media/image15.png"/><Relationship Id="rId9" Type="http://schemas.openxmlformats.org/officeDocument/2006/relationships/image" Target="../media/image16.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4.png"/><Relationship Id="rId10" Type="http://schemas.openxmlformats.org/officeDocument/2006/relationships/image" Target="../media/image27.png"/><Relationship Id="rId9" Type="http://schemas.openxmlformats.org/officeDocument/2006/relationships/image" Target="../media/image2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4.png"/><Relationship Id="rId10" Type="http://schemas.openxmlformats.org/officeDocument/2006/relationships/image" Target="../media/image21.png"/><Relationship Id="rId9" Type="http://schemas.openxmlformats.org/officeDocument/2006/relationships/image" Target="../media/image20.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25.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4.png"/><Relationship Id="rId10" Type="http://schemas.openxmlformats.org/officeDocument/2006/relationships/image" Target="../media/image26.png"/><Relationship Id="rId9" Type="http://schemas.openxmlformats.org/officeDocument/2006/relationships/image" Target="../media/image28.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4.png"/><Relationship Id="rId10" Type="http://schemas.openxmlformats.org/officeDocument/2006/relationships/image" Target="../media/image19.png"/><Relationship Id="rId9" Type="http://schemas.openxmlformats.org/officeDocument/2006/relationships/image" Target="../media/image22.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 name="Shape 42"/>
        <p:cNvGrpSpPr/>
        <p:nvPr/>
      </p:nvGrpSpPr>
      <p:grpSpPr>
        <a:xfrm>
          <a:off x="0" y="0"/>
          <a:ext cx="0" cy="0"/>
          <a:chOff x="0" y="0"/>
          <a:chExt cx="0" cy="0"/>
        </a:xfrm>
      </p:grpSpPr>
      <p:sp>
        <p:nvSpPr>
          <p:cNvPr id="43" name="Google Shape;43;p1"/>
          <p:cNvSpPr txBox="1"/>
          <p:nvPr>
            <p:ph type="title"/>
          </p:nvPr>
        </p:nvSpPr>
        <p:spPr>
          <a:xfrm>
            <a:off x="4435082" y="97217"/>
            <a:ext cx="3843000" cy="908700"/>
          </a:xfrm>
          <a:prstGeom prst="rect">
            <a:avLst/>
          </a:prstGeom>
          <a:noFill/>
          <a:ln>
            <a:noFill/>
          </a:ln>
        </p:spPr>
        <p:txBody>
          <a:bodyPr anchorCtr="0" anchor="t" bIns="0" lIns="0" spcFirstLastPara="1" rIns="0" wrap="square" tIns="15875">
            <a:spAutoFit/>
          </a:bodyPr>
          <a:lstStyle/>
          <a:p>
            <a:pPr indent="0" lvl="0" marL="0" marR="3810" rtl="0" algn="ctr">
              <a:lnSpc>
                <a:spcPct val="100000"/>
              </a:lnSpc>
              <a:spcBef>
                <a:spcPts val="0"/>
              </a:spcBef>
              <a:spcAft>
                <a:spcPts val="0"/>
              </a:spcAft>
              <a:buSzPts val="1400"/>
              <a:buNone/>
            </a:pPr>
            <a:r>
              <a:rPr b="1" lang="en-US" sz="2900">
                <a:solidFill>
                  <a:srgbClr val="000000"/>
                </a:solidFill>
                <a:latin typeface="Calibri"/>
                <a:ea typeface="Calibri"/>
                <a:cs typeface="Calibri"/>
                <a:sym typeface="Calibri"/>
              </a:rPr>
              <a:t>1BEIT105/205</a:t>
            </a:r>
            <a:endParaRPr sz="2900">
              <a:latin typeface="Calibri"/>
              <a:ea typeface="Calibri"/>
              <a:cs typeface="Calibri"/>
              <a:sym typeface="Calibri"/>
            </a:endParaRPr>
          </a:p>
          <a:p>
            <a:pPr indent="0" lvl="0" marL="12700" marR="5080" rtl="0" algn="ctr">
              <a:lnSpc>
                <a:spcPct val="101000"/>
              </a:lnSpc>
              <a:spcBef>
                <a:spcPts val="0"/>
              </a:spcBef>
              <a:spcAft>
                <a:spcPts val="0"/>
              </a:spcAft>
              <a:buSzPts val="1400"/>
              <a:buNone/>
            </a:pPr>
            <a:r>
              <a:rPr b="1" lang="en-US" sz="2900">
                <a:solidFill>
                  <a:srgbClr val="000000"/>
                </a:solidFill>
                <a:latin typeface="Calibri"/>
                <a:ea typeface="Calibri"/>
                <a:cs typeface="Calibri"/>
                <a:sym typeface="Calibri"/>
              </a:rPr>
              <a:t> Programming in C</a:t>
            </a:r>
            <a:endParaRPr sz="2900">
              <a:latin typeface="Calibri"/>
              <a:ea typeface="Calibri"/>
              <a:cs typeface="Calibri"/>
              <a:sym typeface="Calibri"/>
            </a:endParaRPr>
          </a:p>
        </p:txBody>
      </p:sp>
      <p:sp>
        <p:nvSpPr>
          <p:cNvPr id="44" name="Google Shape;44;p1"/>
          <p:cNvSpPr txBox="1"/>
          <p:nvPr/>
        </p:nvSpPr>
        <p:spPr>
          <a:xfrm>
            <a:off x="4196185" y="2063534"/>
            <a:ext cx="4602600" cy="2435700"/>
          </a:xfrm>
          <a:prstGeom prst="rect">
            <a:avLst/>
          </a:prstGeom>
          <a:noFill/>
          <a:ln>
            <a:noFill/>
          </a:ln>
        </p:spPr>
        <p:txBody>
          <a:bodyPr anchorCtr="0" anchor="t" bIns="0" lIns="0" spcFirstLastPara="1" rIns="0" wrap="square" tIns="12700">
            <a:spAutoFit/>
          </a:bodyPr>
          <a:lstStyle/>
          <a:p>
            <a:pPr indent="0" lvl="0" marL="14605" marR="0" rtl="0" algn="ctr">
              <a:lnSpc>
                <a:spcPct val="117446"/>
              </a:lnSpc>
              <a:spcBef>
                <a:spcPts val="0"/>
              </a:spcBef>
              <a:spcAft>
                <a:spcPts val="0"/>
              </a:spcAft>
              <a:buClr>
                <a:srgbClr val="000000"/>
              </a:buClr>
              <a:buSzPts val="4700"/>
              <a:buFont typeface="Arial"/>
              <a:buNone/>
            </a:pPr>
            <a:r>
              <a:rPr b="1" i="0" lang="en-US" sz="4700" u="none" cap="none" strike="noStrike">
                <a:solidFill>
                  <a:srgbClr val="000000"/>
                </a:solidFill>
                <a:latin typeface="Trebuchet MS"/>
                <a:ea typeface="Trebuchet MS"/>
                <a:cs typeface="Trebuchet MS"/>
                <a:sym typeface="Trebuchet MS"/>
              </a:rPr>
              <a:t>Module 4</a:t>
            </a:r>
            <a:endParaRPr b="0" i="0" sz="4700" u="none" cap="none" strike="noStrike">
              <a:solidFill>
                <a:srgbClr val="000000"/>
              </a:solidFill>
              <a:latin typeface="Trebuchet MS"/>
              <a:ea typeface="Trebuchet MS"/>
              <a:cs typeface="Trebuchet MS"/>
              <a:sym typeface="Trebuchet MS"/>
            </a:endParaRPr>
          </a:p>
          <a:p>
            <a:pPr indent="0" lvl="0" marL="0" marR="12700" rtl="0" algn="ctr">
              <a:lnSpc>
                <a:spcPct val="117446"/>
              </a:lnSpc>
              <a:spcBef>
                <a:spcPts val="0"/>
              </a:spcBef>
              <a:spcAft>
                <a:spcPts val="0"/>
              </a:spcAft>
              <a:buClr>
                <a:srgbClr val="000000"/>
              </a:buClr>
              <a:buSzPts val="4700"/>
              <a:buFont typeface="Arial"/>
              <a:buNone/>
            </a:pPr>
            <a:r>
              <a:rPr b="1" i="0" lang="en-US" sz="4700" u="none" cap="none" strike="noStrike">
                <a:solidFill>
                  <a:srgbClr val="000000"/>
                </a:solidFill>
                <a:latin typeface="Trebuchet MS"/>
                <a:ea typeface="Trebuchet MS"/>
                <a:cs typeface="Trebuchet MS"/>
                <a:sym typeface="Trebuchet MS"/>
              </a:rPr>
              <a:t>Chapter 6 </a:t>
            </a:r>
            <a:endParaRPr b="1" i="0" sz="4700" u="none" cap="none" strike="noStrike">
              <a:solidFill>
                <a:srgbClr val="000000"/>
              </a:solidFill>
              <a:latin typeface="Trebuchet MS"/>
              <a:ea typeface="Trebuchet MS"/>
              <a:cs typeface="Trebuchet MS"/>
              <a:sym typeface="Trebuchet MS"/>
            </a:endParaRPr>
          </a:p>
          <a:p>
            <a:pPr indent="0" lvl="0" marL="0" marR="12700" rtl="0" algn="ctr">
              <a:lnSpc>
                <a:spcPct val="117446"/>
              </a:lnSpc>
              <a:spcBef>
                <a:spcPts val="0"/>
              </a:spcBef>
              <a:spcAft>
                <a:spcPts val="0"/>
              </a:spcAft>
              <a:buClr>
                <a:srgbClr val="000000"/>
              </a:buClr>
              <a:buSzPts val="4700"/>
              <a:buFont typeface="Arial"/>
              <a:buNone/>
            </a:pPr>
            <a:r>
              <a:rPr b="1" i="0" lang="en-US" sz="4700" u="none" cap="none" strike="noStrike">
                <a:solidFill>
                  <a:srgbClr val="000000"/>
                </a:solidFill>
                <a:latin typeface="Trebuchet MS"/>
                <a:ea typeface="Trebuchet MS"/>
                <a:cs typeface="Trebuchet MS"/>
                <a:sym typeface="Trebuchet MS"/>
              </a:rPr>
              <a:t>Functions</a:t>
            </a:r>
            <a:endParaRPr b="1" i="0" sz="4700" u="none" cap="none" strike="noStrike">
              <a:solidFill>
                <a:srgbClr val="000000"/>
              </a:solidFill>
              <a:latin typeface="Trebuchet MS"/>
              <a:ea typeface="Trebuchet MS"/>
              <a:cs typeface="Trebuchet MS"/>
              <a:sym typeface="Trebuchet MS"/>
            </a:endParaRPr>
          </a:p>
        </p:txBody>
      </p:sp>
      <p:sp>
        <p:nvSpPr>
          <p:cNvPr id="45" name="Google Shape;45;p1"/>
          <p:cNvSpPr txBox="1"/>
          <p:nvPr/>
        </p:nvSpPr>
        <p:spPr>
          <a:xfrm>
            <a:off x="6535626" y="5050225"/>
            <a:ext cx="4176300" cy="1259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Times New Roman"/>
                <a:ea typeface="Times New Roman"/>
                <a:cs typeface="Times New Roman"/>
                <a:sym typeface="Times New Roman"/>
              </a:rPr>
              <a:t>Dhivya Kalaiselvan</a:t>
            </a:r>
            <a:endParaRPr b="0" i="0" sz="27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Times New Roman"/>
                <a:ea typeface="Times New Roman"/>
                <a:cs typeface="Times New Roman"/>
                <a:sym typeface="Times New Roman"/>
              </a:rPr>
              <a:t>Assistant Professor </a:t>
            </a:r>
            <a:endParaRPr b="0" i="0" sz="27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Times New Roman"/>
                <a:ea typeface="Times New Roman"/>
                <a:cs typeface="Times New Roman"/>
                <a:sym typeface="Times New Roman"/>
              </a:rPr>
              <a:t>CSE,CMRIT</a:t>
            </a:r>
            <a:endParaRPr b="0" i="0" sz="27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 name="Shape 49"/>
        <p:cNvGrpSpPr/>
        <p:nvPr/>
      </p:nvGrpSpPr>
      <p:grpSpPr>
        <a:xfrm>
          <a:off x="0" y="0"/>
          <a:ext cx="0" cy="0"/>
          <a:chOff x="0" y="0"/>
          <a:chExt cx="0" cy="0"/>
        </a:xfrm>
      </p:grpSpPr>
      <p:sp>
        <p:nvSpPr>
          <p:cNvPr id="50" name="Google Shape;50;p2"/>
          <p:cNvSpPr txBox="1"/>
          <p:nvPr>
            <p:ph type="title"/>
          </p:nvPr>
        </p:nvSpPr>
        <p:spPr>
          <a:xfrm>
            <a:off x="128157" y="-121259"/>
            <a:ext cx="11935685" cy="1010285"/>
          </a:xfrm>
          <a:prstGeom prst="rect">
            <a:avLst/>
          </a:prstGeom>
          <a:noFill/>
          <a:ln>
            <a:noFill/>
          </a:ln>
        </p:spPr>
        <p:txBody>
          <a:bodyPr anchorCtr="0" anchor="t" bIns="0" lIns="0" spcFirstLastPara="1" rIns="0" wrap="square" tIns="415550">
            <a:spAutoFit/>
          </a:bodyPr>
          <a:lstStyle/>
          <a:p>
            <a:pPr indent="0" lvl="0" marL="384810" rtl="0" algn="l">
              <a:lnSpc>
                <a:spcPct val="100000"/>
              </a:lnSpc>
              <a:spcBef>
                <a:spcPts val="0"/>
              </a:spcBef>
              <a:spcAft>
                <a:spcPts val="0"/>
              </a:spcAft>
              <a:buSzPts val="1400"/>
              <a:buNone/>
            </a:pPr>
            <a:r>
              <a:rPr lang="en-US" sz="3950">
                <a:latin typeface="Times New Roman"/>
                <a:ea typeface="Times New Roman"/>
                <a:cs typeface="Times New Roman"/>
                <a:sym typeface="Times New Roman"/>
              </a:rPr>
              <a:t>Content</a:t>
            </a:r>
            <a:endParaRPr sz="3950">
              <a:latin typeface="Times New Roman"/>
              <a:ea typeface="Times New Roman"/>
              <a:cs typeface="Times New Roman"/>
              <a:sym typeface="Times New Roman"/>
            </a:endParaRPr>
          </a:p>
        </p:txBody>
      </p:sp>
      <p:sp>
        <p:nvSpPr>
          <p:cNvPr id="51" name="Google Shape;51;p2"/>
          <p:cNvSpPr txBox="1"/>
          <p:nvPr/>
        </p:nvSpPr>
        <p:spPr>
          <a:xfrm>
            <a:off x="424950" y="1099050"/>
            <a:ext cx="11767200" cy="5876700"/>
          </a:xfrm>
          <a:prstGeom prst="rect">
            <a:avLst/>
          </a:prstGeom>
          <a:noFill/>
          <a:ln>
            <a:noFill/>
          </a:ln>
        </p:spPr>
        <p:txBody>
          <a:bodyPr anchorCtr="0" anchor="t" bIns="0" lIns="0" spcFirstLastPara="1" rIns="0" wrap="square" tIns="64750">
            <a:spAutoFit/>
          </a:bodyPr>
          <a:lstStyle/>
          <a:p>
            <a:pPr indent="0" lvl="0" marL="457200" marR="0" rtl="0" algn="l">
              <a:lnSpc>
                <a:spcPct val="100000"/>
              </a:lnSpc>
              <a:spcBef>
                <a:spcPts val="0"/>
              </a:spcBef>
              <a:spcAft>
                <a:spcPts val="0"/>
              </a:spcAft>
              <a:buClr>
                <a:srgbClr val="000000"/>
              </a:buClr>
              <a:buSzPts val="3000"/>
              <a:buFont typeface="Arial"/>
              <a:buNone/>
            </a:pPr>
            <a:r>
              <a:rPr b="1" i="0" lang="en-US" sz="3000" u="none" cap="none" strike="noStrike">
                <a:solidFill>
                  <a:srgbClr val="000000"/>
                </a:solidFill>
                <a:latin typeface="Times New Roman"/>
                <a:ea typeface="Times New Roman"/>
                <a:cs typeface="Times New Roman"/>
                <a:sym typeface="Times New Roman"/>
              </a:rPr>
              <a:t>Functions</a:t>
            </a:r>
            <a:endParaRPr b="1" i="0" sz="3000" u="none" cap="none" strike="noStrike">
              <a:solidFill>
                <a:srgbClr val="000000"/>
              </a:solidFill>
              <a:latin typeface="Times New Roman"/>
              <a:ea typeface="Times New Roman"/>
              <a:cs typeface="Times New Roman"/>
              <a:sym typeface="Times New Roman"/>
            </a:endParaRPr>
          </a:p>
          <a:p>
            <a:pPr indent="-215265" lvl="0" marL="240665" marR="0" rtl="0" algn="l">
              <a:lnSpc>
                <a:spcPct val="100000"/>
              </a:lnSpc>
              <a:spcBef>
                <a:spcPts val="0"/>
              </a:spcBef>
              <a:spcAft>
                <a:spcPts val="0"/>
              </a:spcAft>
              <a:buClr>
                <a:srgbClr val="000000"/>
              </a:buClr>
              <a:buSzPts val="3000"/>
              <a:buFont typeface="Times New Roman"/>
              <a:buChar char="•"/>
            </a:pPr>
            <a:r>
              <a:rPr b="0" i="0" lang="en-US" sz="3000" u="none" cap="none" strike="noStrike">
                <a:solidFill>
                  <a:srgbClr val="000000"/>
                </a:solidFill>
                <a:latin typeface="Times New Roman"/>
                <a:ea typeface="Times New Roman"/>
                <a:cs typeface="Times New Roman"/>
                <a:sym typeface="Times New Roman"/>
              </a:rPr>
              <a:t>The General form of a Function</a:t>
            </a:r>
            <a:endParaRPr b="0" i="0" sz="3000" u="none" cap="none" strike="noStrike">
              <a:solidFill>
                <a:srgbClr val="000000"/>
              </a:solidFill>
              <a:latin typeface="Times New Roman"/>
              <a:ea typeface="Times New Roman"/>
              <a:cs typeface="Times New Roman"/>
              <a:sym typeface="Times New Roman"/>
            </a:endParaRPr>
          </a:p>
          <a:p>
            <a:pPr indent="-215265" lvl="0" marL="240665" marR="0" rtl="0" algn="l">
              <a:lnSpc>
                <a:spcPct val="100000"/>
              </a:lnSpc>
              <a:spcBef>
                <a:spcPts val="0"/>
              </a:spcBef>
              <a:spcAft>
                <a:spcPts val="0"/>
              </a:spcAft>
              <a:buClr>
                <a:srgbClr val="000000"/>
              </a:buClr>
              <a:buSzPts val="3000"/>
              <a:buFont typeface="Times New Roman"/>
              <a:buChar char="•"/>
            </a:pPr>
            <a:r>
              <a:rPr b="0" i="0" lang="en-US" sz="3000" u="none" cap="none" strike="noStrike">
                <a:solidFill>
                  <a:srgbClr val="000000"/>
                </a:solidFill>
                <a:latin typeface="Times New Roman"/>
                <a:ea typeface="Times New Roman"/>
                <a:cs typeface="Times New Roman"/>
                <a:sym typeface="Times New Roman"/>
              </a:rPr>
              <a:t>Understanding the scope of Function</a:t>
            </a:r>
            <a:endParaRPr b="0" i="0" sz="3000" u="none" cap="none" strike="noStrike">
              <a:solidFill>
                <a:srgbClr val="000000"/>
              </a:solidFill>
              <a:latin typeface="Times New Roman"/>
              <a:ea typeface="Times New Roman"/>
              <a:cs typeface="Times New Roman"/>
              <a:sym typeface="Times New Roman"/>
            </a:endParaRPr>
          </a:p>
          <a:p>
            <a:pPr indent="-190500" lvl="0" marL="240665" marR="0" rtl="0" algn="l">
              <a:lnSpc>
                <a:spcPct val="118536"/>
              </a:lnSpc>
              <a:spcBef>
                <a:spcPts val="415"/>
              </a:spcBef>
              <a:spcAft>
                <a:spcPts val="0"/>
              </a:spcAft>
              <a:buClr>
                <a:srgbClr val="000000"/>
              </a:buClr>
              <a:buSzPts val="3000"/>
              <a:buFont typeface="Times New Roman"/>
              <a:buChar char="•"/>
            </a:pPr>
            <a:r>
              <a:rPr b="0" i="0" lang="en-US" sz="3000" u="none" cap="none" strike="noStrike">
                <a:solidFill>
                  <a:srgbClr val="000000"/>
                </a:solidFill>
                <a:latin typeface="Times New Roman"/>
                <a:ea typeface="Times New Roman"/>
                <a:cs typeface="Times New Roman"/>
                <a:sym typeface="Times New Roman"/>
              </a:rPr>
              <a:t>Function Arguments</a:t>
            </a:r>
            <a:endParaRPr b="0" i="0" sz="3000" u="none" cap="none" strike="noStrike">
              <a:solidFill>
                <a:srgbClr val="000000"/>
              </a:solidFill>
              <a:latin typeface="Times New Roman"/>
              <a:ea typeface="Times New Roman"/>
              <a:cs typeface="Times New Roman"/>
              <a:sym typeface="Times New Roman"/>
            </a:endParaRPr>
          </a:p>
          <a:p>
            <a:pPr indent="-190500" lvl="0" marL="240665" marR="0" rtl="0" algn="l">
              <a:lnSpc>
                <a:spcPct val="118536"/>
              </a:lnSpc>
              <a:spcBef>
                <a:spcPts val="415"/>
              </a:spcBef>
              <a:spcAft>
                <a:spcPts val="0"/>
              </a:spcAft>
              <a:buClr>
                <a:srgbClr val="000000"/>
              </a:buClr>
              <a:buSzPts val="3000"/>
              <a:buFont typeface="Times New Roman"/>
              <a:buChar char="•"/>
            </a:pPr>
            <a:r>
              <a:rPr b="0" i="0" lang="en-US" sz="3000" u="none" cap="none" strike="noStrike">
                <a:solidFill>
                  <a:srgbClr val="000000"/>
                </a:solidFill>
                <a:latin typeface="Times New Roman"/>
                <a:ea typeface="Times New Roman"/>
                <a:cs typeface="Times New Roman"/>
                <a:sym typeface="Times New Roman"/>
              </a:rPr>
              <a:t>argc and argv-arguments to main()</a:t>
            </a:r>
            <a:endParaRPr b="0" i="0" sz="3000" u="none" cap="none" strike="noStrike">
              <a:solidFill>
                <a:srgbClr val="000000"/>
              </a:solidFill>
              <a:latin typeface="Times New Roman"/>
              <a:ea typeface="Times New Roman"/>
              <a:cs typeface="Times New Roman"/>
              <a:sym typeface="Times New Roman"/>
            </a:endParaRPr>
          </a:p>
          <a:p>
            <a:pPr indent="-190500" lvl="0" marL="240665" marR="0" rtl="0" algn="l">
              <a:lnSpc>
                <a:spcPct val="118536"/>
              </a:lnSpc>
              <a:spcBef>
                <a:spcPts val="415"/>
              </a:spcBef>
              <a:spcAft>
                <a:spcPts val="0"/>
              </a:spcAft>
              <a:buClr>
                <a:srgbClr val="000000"/>
              </a:buClr>
              <a:buSzPts val="3000"/>
              <a:buFont typeface="Times New Roman"/>
              <a:buChar char="•"/>
            </a:pPr>
            <a:r>
              <a:rPr b="0" i="0" lang="en-US" sz="3000" u="none" cap="none" strike="noStrike">
                <a:solidFill>
                  <a:srgbClr val="000000"/>
                </a:solidFill>
                <a:latin typeface="Times New Roman"/>
                <a:ea typeface="Times New Roman"/>
                <a:cs typeface="Times New Roman"/>
                <a:sym typeface="Times New Roman"/>
              </a:rPr>
              <a:t>The return statement</a:t>
            </a:r>
            <a:endParaRPr b="0" i="0" sz="3000" u="none" cap="none" strike="noStrike">
              <a:solidFill>
                <a:srgbClr val="000000"/>
              </a:solidFill>
              <a:latin typeface="Times New Roman"/>
              <a:ea typeface="Times New Roman"/>
              <a:cs typeface="Times New Roman"/>
              <a:sym typeface="Times New Roman"/>
            </a:endParaRPr>
          </a:p>
          <a:p>
            <a:pPr indent="-190500" lvl="0" marL="240665" marR="0" rtl="0" algn="l">
              <a:lnSpc>
                <a:spcPct val="117073"/>
              </a:lnSpc>
              <a:spcBef>
                <a:spcPts val="0"/>
              </a:spcBef>
              <a:spcAft>
                <a:spcPts val="0"/>
              </a:spcAft>
              <a:buClr>
                <a:srgbClr val="000000"/>
              </a:buClr>
              <a:buSzPts val="3000"/>
              <a:buFont typeface="Times New Roman"/>
              <a:buChar char="•"/>
            </a:pPr>
            <a:r>
              <a:rPr b="0" i="0" lang="en-US" sz="3000" u="none" cap="none" strike="noStrike">
                <a:solidFill>
                  <a:srgbClr val="000000"/>
                </a:solidFill>
                <a:latin typeface="Times New Roman"/>
                <a:ea typeface="Times New Roman"/>
                <a:cs typeface="Times New Roman"/>
                <a:sym typeface="Times New Roman"/>
              </a:rPr>
              <a:t>What does main() return</a:t>
            </a:r>
            <a:endParaRPr b="0" i="0" sz="3000" u="none" cap="none" strike="noStrike">
              <a:solidFill>
                <a:srgbClr val="000000"/>
              </a:solidFill>
              <a:latin typeface="Times New Roman"/>
              <a:ea typeface="Times New Roman"/>
              <a:cs typeface="Times New Roman"/>
              <a:sym typeface="Times New Roman"/>
            </a:endParaRPr>
          </a:p>
          <a:p>
            <a:pPr indent="-190500" lvl="0" marL="240665" marR="0" rtl="0" algn="l">
              <a:lnSpc>
                <a:spcPct val="117073"/>
              </a:lnSpc>
              <a:spcBef>
                <a:spcPts val="0"/>
              </a:spcBef>
              <a:spcAft>
                <a:spcPts val="0"/>
              </a:spcAft>
              <a:buClr>
                <a:srgbClr val="000000"/>
              </a:buClr>
              <a:buSzPts val="3000"/>
              <a:buFont typeface="Times New Roman"/>
              <a:buChar char="•"/>
            </a:pPr>
            <a:r>
              <a:rPr b="0" i="0" lang="en-US" sz="3000" u="none" cap="none" strike="noStrike">
                <a:solidFill>
                  <a:srgbClr val="000000"/>
                </a:solidFill>
                <a:latin typeface="Times New Roman"/>
                <a:ea typeface="Times New Roman"/>
                <a:cs typeface="Times New Roman"/>
                <a:sym typeface="Times New Roman"/>
              </a:rPr>
              <a:t>Recursion,Function Prototype</a:t>
            </a:r>
            <a:endParaRPr b="0" i="0" sz="3000" u="none" cap="none" strike="noStrike">
              <a:solidFill>
                <a:srgbClr val="000000"/>
              </a:solidFill>
              <a:latin typeface="Times New Roman"/>
              <a:ea typeface="Times New Roman"/>
              <a:cs typeface="Times New Roman"/>
              <a:sym typeface="Times New Roman"/>
            </a:endParaRPr>
          </a:p>
          <a:p>
            <a:pPr indent="-190500" lvl="0" marL="240665" marR="0" rtl="0" algn="l">
              <a:lnSpc>
                <a:spcPct val="117073"/>
              </a:lnSpc>
              <a:spcBef>
                <a:spcPts val="0"/>
              </a:spcBef>
              <a:spcAft>
                <a:spcPts val="0"/>
              </a:spcAft>
              <a:buClr>
                <a:srgbClr val="000000"/>
              </a:buClr>
              <a:buSzPts val="3000"/>
              <a:buFont typeface="Times New Roman"/>
              <a:buChar char="•"/>
            </a:pPr>
            <a:r>
              <a:rPr b="0" i="0" lang="en-US" sz="3000" u="none" cap="none" strike="noStrike">
                <a:solidFill>
                  <a:srgbClr val="000000"/>
                </a:solidFill>
                <a:latin typeface="Times New Roman"/>
                <a:ea typeface="Times New Roman"/>
                <a:cs typeface="Times New Roman"/>
                <a:sym typeface="Times New Roman"/>
              </a:rPr>
              <a:t>Declaring Variable Length Parameter Declarations</a:t>
            </a:r>
            <a:endParaRPr b="0" i="0" sz="3000" u="none" cap="none" strike="noStrike">
              <a:solidFill>
                <a:srgbClr val="000000"/>
              </a:solidFill>
              <a:latin typeface="Times New Roman"/>
              <a:ea typeface="Times New Roman"/>
              <a:cs typeface="Times New Roman"/>
              <a:sym typeface="Times New Roman"/>
            </a:endParaRPr>
          </a:p>
          <a:p>
            <a:pPr indent="-190500" lvl="0" marL="240665" marR="0" rtl="0" algn="l">
              <a:lnSpc>
                <a:spcPct val="117073"/>
              </a:lnSpc>
              <a:spcBef>
                <a:spcPts val="0"/>
              </a:spcBef>
              <a:spcAft>
                <a:spcPts val="0"/>
              </a:spcAft>
              <a:buClr>
                <a:srgbClr val="000000"/>
              </a:buClr>
              <a:buSzPts val="3000"/>
              <a:buFont typeface="Times New Roman"/>
              <a:buChar char="•"/>
            </a:pPr>
            <a:r>
              <a:rPr b="0" i="0" lang="en-US" sz="3000" u="none" cap="none" strike="noStrike">
                <a:solidFill>
                  <a:srgbClr val="000000"/>
                </a:solidFill>
                <a:latin typeface="Times New Roman"/>
                <a:ea typeface="Times New Roman"/>
                <a:cs typeface="Times New Roman"/>
                <a:sym typeface="Times New Roman"/>
              </a:rPr>
              <a:t>The inline Keyword</a:t>
            </a:r>
            <a:endParaRPr b="0" i="0" sz="3000" u="none" cap="none" strike="noStrike">
              <a:solidFill>
                <a:srgbClr val="000000"/>
              </a:solidFill>
              <a:latin typeface="Times New Roman"/>
              <a:ea typeface="Times New Roman"/>
              <a:cs typeface="Times New Roman"/>
              <a:sym typeface="Times New Roman"/>
            </a:endParaRPr>
          </a:p>
          <a:p>
            <a:pPr indent="0" lvl="0" marL="457200" marR="0" rtl="0" algn="l">
              <a:lnSpc>
                <a:spcPct val="117073"/>
              </a:lnSpc>
              <a:spcBef>
                <a:spcPts val="0"/>
              </a:spcBef>
              <a:spcAft>
                <a:spcPts val="0"/>
              </a:spcAft>
              <a:buClr>
                <a:srgbClr val="000000"/>
              </a:buClr>
              <a:buSzPts val="3000"/>
              <a:buFont typeface="Arial"/>
              <a:buNone/>
            </a:pPr>
            <a:r>
              <a:t/>
            </a:r>
            <a:endParaRPr b="0" i="0" sz="3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5" name="Shape 55"/>
        <p:cNvGrpSpPr/>
        <p:nvPr/>
      </p:nvGrpSpPr>
      <p:grpSpPr>
        <a:xfrm>
          <a:off x="0" y="0"/>
          <a:ext cx="0" cy="0"/>
          <a:chOff x="0" y="0"/>
          <a:chExt cx="0" cy="0"/>
        </a:xfrm>
      </p:grpSpPr>
      <p:grpSp>
        <p:nvGrpSpPr>
          <p:cNvPr id="56" name="Google Shape;56;p3"/>
          <p:cNvGrpSpPr/>
          <p:nvPr/>
        </p:nvGrpSpPr>
        <p:grpSpPr>
          <a:xfrm>
            <a:off x="0" y="0"/>
            <a:ext cx="12192000" cy="6858000"/>
            <a:chOff x="0" y="0"/>
            <a:chExt cx="12192000" cy="6858000"/>
          </a:xfrm>
        </p:grpSpPr>
        <p:pic>
          <p:nvPicPr>
            <p:cNvPr id="57" name="Google Shape;57;p3"/>
            <p:cNvPicPr preferRelativeResize="0"/>
            <p:nvPr/>
          </p:nvPicPr>
          <p:blipFill rotWithShape="1">
            <a:blip r:embed="rId3">
              <a:alphaModFix/>
            </a:blip>
            <a:srcRect b="0" l="0" r="0" t="0"/>
            <a:stretch/>
          </p:blipFill>
          <p:spPr>
            <a:xfrm>
              <a:off x="0" y="0"/>
              <a:ext cx="12192000" cy="6857996"/>
            </a:xfrm>
            <a:prstGeom prst="rect">
              <a:avLst/>
            </a:prstGeom>
            <a:noFill/>
            <a:ln>
              <a:noFill/>
            </a:ln>
          </p:spPr>
        </p:pic>
        <p:sp>
          <p:nvSpPr>
            <p:cNvPr id="58" name="Google Shape;58;p3"/>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 name="Google Shape;59;p3"/>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0" name="Google Shape;60;p3"/>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61" name="Google Shape;61;p3"/>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2" name="Google Shape;62;p3"/>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63" name="Google Shape;63;p3"/>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64" name="Google Shape;64;p3"/>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 name="Google Shape;65;p3"/>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 name="Google Shape;66;p3"/>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7" name="Google Shape;67;p3"/>
            <p:cNvPicPr preferRelativeResize="0"/>
            <p:nvPr/>
          </p:nvPicPr>
          <p:blipFill rotWithShape="1">
            <a:blip r:embed="rId7">
              <a:alphaModFix/>
            </a:blip>
            <a:srcRect b="0" l="0" r="0" t="0"/>
            <a:stretch/>
          </p:blipFill>
          <p:spPr>
            <a:xfrm>
              <a:off x="1273810" y="0"/>
              <a:ext cx="177165" cy="6857996"/>
            </a:xfrm>
            <a:prstGeom prst="rect">
              <a:avLst/>
            </a:prstGeom>
            <a:noFill/>
            <a:ln>
              <a:noFill/>
            </a:ln>
          </p:spPr>
        </p:pic>
        <p:sp>
          <p:nvSpPr>
            <p:cNvPr id="68" name="Google Shape;68;p3"/>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9" name="Google Shape;69;p3"/>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70" name="Google Shape;70;p3"/>
          <p:cNvSpPr txBox="1"/>
          <p:nvPr>
            <p:ph type="title"/>
          </p:nvPr>
        </p:nvSpPr>
        <p:spPr>
          <a:xfrm>
            <a:off x="2077720" y="533400"/>
            <a:ext cx="8745300" cy="477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Functions</a:t>
            </a:r>
            <a:endParaRPr/>
          </a:p>
        </p:txBody>
      </p:sp>
      <p:sp>
        <p:nvSpPr>
          <p:cNvPr id="71" name="Google Shape;71;p3"/>
          <p:cNvSpPr txBox="1"/>
          <p:nvPr/>
        </p:nvSpPr>
        <p:spPr>
          <a:xfrm>
            <a:off x="1963625" y="1274875"/>
            <a:ext cx="10008600" cy="4381500"/>
          </a:xfrm>
          <a:prstGeom prst="rect">
            <a:avLst/>
          </a:prstGeom>
          <a:noFill/>
          <a:ln>
            <a:noFill/>
          </a:ln>
        </p:spPr>
        <p:txBody>
          <a:bodyPr anchorCtr="0" anchor="t" bIns="91425" lIns="91425" spcFirstLastPara="1" rIns="91425" wrap="square" tIns="91425">
            <a:noAutofit/>
          </a:bodyPr>
          <a:lstStyle/>
          <a:p>
            <a:pPr indent="-361950" lvl="0" marL="457200" marR="0" rtl="0" algn="l">
              <a:lnSpc>
                <a:spcPct val="115000"/>
              </a:lnSpc>
              <a:spcBef>
                <a:spcPts val="0"/>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Functions are the building blocks of C and the place where all program activity occurs.</a:t>
            </a:r>
            <a:endParaRPr b="0" i="0" sz="2100" u="none" cap="none" strike="noStrike">
              <a:solidFill>
                <a:schemeClr val="dk1"/>
              </a:solidFill>
              <a:latin typeface="Times New Roman"/>
              <a:ea typeface="Times New Roman"/>
              <a:cs typeface="Times New Roman"/>
              <a:sym typeface="Times New Roman"/>
            </a:endParaRPr>
          </a:p>
          <a:p>
            <a:pPr indent="-361950" lvl="0" marL="457200" marR="0" rtl="0" algn="l">
              <a:lnSpc>
                <a:spcPct val="115000"/>
              </a:lnSpc>
              <a:spcBef>
                <a:spcPts val="0"/>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This chapter examines their features, including function arguments, return values, prototypes, and recursion.</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b="0" i="0" sz="325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b="1" i="0" lang="en-US" sz="2100" u="none" cap="none" strike="noStrike">
                <a:solidFill>
                  <a:schemeClr val="dk1"/>
                </a:solidFill>
                <a:latin typeface="Times New Roman"/>
                <a:ea typeface="Times New Roman"/>
                <a:cs typeface="Times New Roman"/>
                <a:sym typeface="Times New Roman"/>
              </a:rPr>
              <a:t>The General Form of a Function</a:t>
            </a:r>
            <a:endParaRPr b="1" i="0"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b="0" i="0" lang="en-US" sz="2100" u="none" cap="none" strike="noStrike">
                <a:solidFill>
                  <a:schemeClr val="dk1"/>
                </a:solidFill>
                <a:latin typeface="Times New Roman"/>
                <a:ea typeface="Times New Roman"/>
                <a:cs typeface="Times New Roman"/>
                <a:sym typeface="Times New Roman"/>
              </a:rPr>
              <a:t>The general form of a function is</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b="0" i="1" lang="en-US" sz="2100" u="none" cap="none" strike="noStrike">
                <a:solidFill>
                  <a:schemeClr val="dk1"/>
                </a:solidFill>
                <a:latin typeface="Times New Roman"/>
                <a:ea typeface="Times New Roman"/>
                <a:cs typeface="Times New Roman"/>
                <a:sym typeface="Times New Roman"/>
              </a:rPr>
              <a:t>ret-type function-name</a:t>
            </a:r>
            <a:r>
              <a:rPr b="0" i="0" lang="en-US" sz="2100" u="none" cap="none" strike="noStrike">
                <a:solidFill>
                  <a:schemeClr val="dk1"/>
                </a:solidFill>
                <a:latin typeface="Times New Roman"/>
                <a:ea typeface="Times New Roman"/>
                <a:cs typeface="Times New Roman"/>
                <a:sym typeface="Times New Roman"/>
              </a:rPr>
              <a:t>(</a:t>
            </a:r>
            <a:r>
              <a:rPr b="0" i="1" lang="en-US" sz="2100" u="none" cap="none" strike="noStrike">
                <a:solidFill>
                  <a:schemeClr val="dk1"/>
                </a:solidFill>
                <a:latin typeface="Times New Roman"/>
                <a:ea typeface="Times New Roman"/>
                <a:cs typeface="Times New Roman"/>
                <a:sym typeface="Times New Roman"/>
              </a:rPr>
              <a:t>parameter list</a:t>
            </a:r>
            <a:r>
              <a:rPr b="0" i="0" lang="en-US" sz="2100" u="none" cap="none" strike="noStrike">
                <a:solidFill>
                  <a:schemeClr val="dk1"/>
                </a:solidFill>
                <a:latin typeface="Times New Roman"/>
                <a:ea typeface="Times New Roman"/>
                <a:cs typeface="Times New Roman"/>
                <a:sym typeface="Times New Roman"/>
              </a:rPr>
              <a:t>)</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b="0" i="0" lang="en-US" sz="2100" u="none" cap="none" strike="noStrike">
                <a:solidFill>
                  <a:schemeClr val="dk1"/>
                </a:solidFill>
                <a:latin typeface="Times New Roman"/>
                <a:ea typeface="Times New Roman"/>
                <a:cs typeface="Times New Roman"/>
                <a:sym typeface="Times New Roman"/>
              </a:rPr>
              <a:t>{</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b="0" i="1" lang="en-US" sz="2100" u="none" cap="none" strike="noStrike">
                <a:solidFill>
                  <a:schemeClr val="dk1"/>
                </a:solidFill>
                <a:latin typeface="Times New Roman"/>
                <a:ea typeface="Times New Roman"/>
                <a:cs typeface="Times New Roman"/>
                <a:sym typeface="Times New Roman"/>
              </a:rPr>
              <a:t>body of the function</a:t>
            </a:r>
            <a:endParaRPr b="0" i="1"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b="0" i="0" lang="en-US" sz="2100" u="none" cap="none" strike="noStrike">
                <a:solidFill>
                  <a:schemeClr val="dk1"/>
                </a:solidFill>
                <a:latin typeface="Times New Roman"/>
                <a:ea typeface="Times New Roman"/>
                <a:cs typeface="Times New Roman"/>
                <a:sym typeface="Times New Roman"/>
              </a:rPr>
              <a:t>}</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50"/>
              <a:buFont typeface="Arial"/>
              <a:buNone/>
            </a:pPr>
            <a:r>
              <a:t/>
            </a:r>
            <a:endParaRPr b="0" i="0" sz="32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82a10cad02_0_9"/>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77" name="Google Shape;77;g382a10cad02_0_9"/>
          <p:cNvGrpSpPr/>
          <p:nvPr/>
        </p:nvGrpSpPr>
        <p:grpSpPr>
          <a:xfrm>
            <a:off x="0" y="0"/>
            <a:ext cx="12192000" cy="6858000"/>
            <a:chOff x="0" y="0"/>
            <a:chExt cx="12192000" cy="6858000"/>
          </a:xfrm>
        </p:grpSpPr>
        <p:pic>
          <p:nvPicPr>
            <p:cNvPr id="78" name="Google Shape;78;g382a10cad02_0_9"/>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79" name="Google Shape;79;g382a10cad02_0_9"/>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 name="Google Shape;80;g382a10cad02_0_9"/>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1" name="Google Shape;81;g382a10cad02_0_9"/>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82" name="Google Shape;82;g382a10cad02_0_9"/>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3" name="Google Shape;83;g382a10cad02_0_9"/>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84" name="Google Shape;84;g382a10cad02_0_9"/>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85" name="Google Shape;85;g382a10cad02_0_9"/>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 name="Google Shape;86;g382a10cad02_0_9"/>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 name="Google Shape;87;g382a10cad02_0_9"/>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8" name="Google Shape;88;g382a10cad02_0_9"/>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89" name="Google Shape;89;g382a10cad02_0_9"/>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0" name="Google Shape;90;g382a10cad02_0_9"/>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91" name="Google Shape;91;g382a10cad02_0_9"/>
          <p:cNvSpPr txBox="1"/>
          <p:nvPr/>
        </p:nvSpPr>
        <p:spPr>
          <a:xfrm>
            <a:off x="3429000" y="527550"/>
            <a:ext cx="413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p:txBody>
      </p:sp>
      <p:sp>
        <p:nvSpPr>
          <p:cNvPr id="92" name="Google Shape;92;g382a10cad02_0_9"/>
          <p:cNvSpPr txBox="1"/>
          <p:nvPr/>
        </p:nvSpPr>
        <p:spPr>
          <a:xfrm>
            <a:off x="1696250" y="0"/>
            <a:ext cx="10195800" cy="55860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15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The </a:t>
            </a:r>
            <a:r>
              <a:rPr b="0" i="1" lang="en-US" sz="2200" u="none" cap="none" strike="noStrike">
                <a:solidFill>
                  <a:schemeClr val="dk1"/>
                </a:solidFill>
                <a:latin typeface="Times New Roman"/>
                <a:ea typeface="Times New Roman"/>
                <a:cs typeface="Times New Roman"/>
                <a:sym typeface="Times New Roman"/>
              </a:rPr>
              <a:t>ret-type</a:t>
            </a:r>
            <a:r>
              <a:rPr b="0" i="0" lang="en-US" sz="2200" u="none" cap="none" strike="noStrike">
                <a:solidFill>
                  <a:schemeClr val="dk1"/>
                </a:solidFill>
                <a:latin typeface="Times New Roman"/>
                <a:ea typeface="Times New Roman"/>
                <a:cs typeface="Times New Roman"/>
                <a:sym typeface="Times New Roman"/>
              </a:rPr>
              <a:t> specifies the type of data that the function returns. A function may return any type of data except an array.</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The </a:t>
            </a:r>
            <a:r>
              <a:rPr b="0" i="1" lang="en-US" sz="2200" u="none" cap="none" strike="noStrike">
                <a:solidFill>
                  <a:schemeClr val="dk1"/>
                </a:solidFill>
                <a:latin typeface="Times New Roman"/>
                <a:ea typeface="Times New Roman"/>
                <a:cs typeface="Times New Roman"/>
                <a:sym typeface="Times New Roman"/>
              </a:rPr>
              <a:t>parameter list</a:t>
            </a:r>
            <a:r>
              <a:rPr b="0" i="0" lang="en-US" sz="2200" u="none" cap="none" strike="noStrike">
                <a:solidFill>
                  <a:schemeClr val="dk1"/>
                </a:solidFill>
                <a:latin typeface="Times New Roman"/>
                <a:ea typeface="Times New Roman"/>
                <a:cs typeface="Times New Roman"/>
                <a:sym typeface="Times New Roman"/>
              </a:rPr>
              <a:t> is a comma-separated list of variable names and their associated types. The parameters receive the values of the arguments when the function is called.</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A function can be without parameters, in that case the parameter list is empty. An empty parameter list can be explicitly specified as such by placing the keyword </a:t>
            </a:r>
            <a:r>
              <a:rPr b="1" i="0" lang="en-US" sz="2200" u="none" cap="none" strike="noStrike">
                <a:solidFill>
                  <a:schemeClr val="dk1"/>
                </a:solidFill>
                <a:latin typeface="Times New Roman"/>
                <a:ea typeface="Times New Roman"/>
                <a:cs typeface="Times New Roman"/>
                <a:sym typeface="Times New Roman"/>
              </a:rPr>
              <a:t>void </a:t>
            </a:r>
            <a:r>
              <a:rPr b="0" i="0" lang="en-US" sz="2200" u="none" cap="none" strike="noStrike">
                <a:solidFill>
                  <a:schemeClr val="dk1"/>
                </a:solidFill>
                <a:latin typeface="Times New Roman"/>
                <a:ea typeface="Times New Roman"/>
                <a:cs typeface="Times New Roman"/>
                <a:sym typeface="Times New Roman"/>
              </a:rPr>
              <a:t>inside the parentheses.</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In variable declarations, you can declare several variables to be of the same type by using a comma-separated list of variable names. In contrast, all function parameters must be declared individually,each including both the type and name. That is, the parameter declaration list for a function takes this general form:</a:t>
            </a:r>
            <a:endParaRPr b="0" i="0" sz="22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200"/>
              <a:buFont typeface="Arial"/>
              <a:buNone/>
            </a:pPr>
            <a:r>
              <a:t/>
            </a:r>
            <a:endParaRPr b="0" i="0" sz="22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200"/>
              <a:buFont typeface="Arial"/>
              <a:buNone/>
            </a:pPr>
            <a:r>
              <a:rPr b="0" i="1" lang="en-US" sz="2200" u="none" cap="none" strike="noStrike">
                <a:solidFill>
                  <a:schemeClr val="dk1"/>
                </a:solidFill>
                <a:latin typeface="Times New Roman"/>
                <a:ea typeface="Times New Roman"/>
                <a:cs typeface="Times New Roman"/>
                <a:sym typeface="Times New Roman"/>
              </a:rPr>
              <a:t>    f</a:t>
            </a:r>
            <a:r>
              <a:rPr b="0" i="0" lang="en-US" sz="2200" u="none" cap="none" strike="noStrike">
                <a:solidFill>
                  <a:schemeClr val="dk1"/>
                </a:solidFill>
                <a:latin typeface="Times New Roman"/>
                <a:ea typeface="Times New Roman"/>
                <a:cs typeface="Times New Roman"/>
                <a:sym typeface="Times New Roman"/>
              </a:rPr>
              <a:t>(</a:t>
            </a:r>
            <a:r>
              <a:rPr b="0" i="1" lang="en-US" sz="2200" u="none" cap="none" strike="noStrike">
                <a:solidFill>
                  <a:schemeClr val="dk1"/>
                </a:solidFill>
                <a:latin typeface="Times New Roman"/>
                <a:ea typeface="Times New Roman"/>
                <a:cs typeface="Times New Roman"/>
                <a:sym typeface="Times New Roman"/>
              </a:rPr>
              <a:t>type varname1</a:t>
            </a:r>
            <a:r>
              <a:rPr b="0" i="0" lang="en-US" sz="2200" u="none" cap="none" strike="noStrike">
                <a:solidFill>
                  <a:schemeClr val="dk1"/>
                </a:solidFill>
                <a:latin typeface="Times New Roman"/>
                <a:ea typeface="Times New Roman"/>
                <a:cs typeface="Times New Roman"/>
                <a:sym typeface="Times New Roman"/>
              </a:rPr>
              <a:t>,</a:t>
            </a:r>
            <a:r>
              <a:rPr b="0" i="1" lang="en-US" sz="2200" u="none" cap="none" strike="noStrike">
                <a:solidFill>
                  <a:schemeClr val="dk1"/>
                </a:solidFill>
                <a:latin typeface="Times New Roman"/>
                <a:ea typeface="Times New Roman"/>
                <a:cs typeface="Times New Roman"/>
                <a:sym typeface="Times New Roman"/>
              </a:rPr>
              <a:t> type varname2</a:t>
            </a:r>
            <a:r>
              <a:rPr b="0" i="0" lang="en-US" sz="2200" u="none" cap="none" strike="noStrike">
                <a:solidFill>
                  <a:schemeClr val="dk1"/>
                </a:solidFill>
                <a:latin typeface="Times New Roman"/>
                <a:ea typeface="Times New Roman"/>
                <a:cs typeface="Times New Roman"/>
                <a:sym typeface="Times New Roman"/>
              </a:rPr>
              <a:t>, . . . ,</a:t>
            </a:r>
            <a:r>
              <a:rPr b="0" i="1" lang="en-US" sz="2200" u="none" cap="none" strike="noStrike">
                <a:solidFill>
                  <a:schemeClr val="dk1"/>
                </a:solidFill>
                <a:latin typeface="Times New Roman"/>
                <a:ea typeface="Times New Roman"/>
                <a:cs typeface="Times New Roman"/>
                <a:sym typeface="Times New Roman"/>
              </a:rPr>
              <a:t> type varnameN</a:t>
            </a:r>
            <a:r>
              <a:rPr b="0" i="0" lang="en-US" sz="2200" u="none" cap="none" strike="noStrike">
                <a:solidFill>
                  <a:schemeClr val="dk1"/>
                </a:solidFill>
                <a:latin typeface="Times New Roman"/>
                <a:ea typeface="Times New Roman"/>
                <a:cs typeface="Times New Roman"/>
                <a:sym typeface="Times New Roman"/>
              </a:rPr>
              <a:t>)</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82a10cad02_0_95"/>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98" name="Google Shape;98;g382a10cad02_0_95"/>
          <p:cNvGrpSpPr/>
          <p:nvPr/>
        </p:nvGrpSpPr>
        <p:grpSpPr>
          <a:xfrm>
            <a:off x="0" y="14654"/>
            <a:ext cx="12192000" cy="6858000"/>
            <a:chOff x="0" y="0"/>
            <a:chExt cx="12192000" cy="6858000"/>
          </a:xfrm>
        </p:grpSpPr>
        <p:pic>
          <p:nvPicPr>
            <p:cNvPr id="99" name="Google Shape;99;g382a10cad02_0_95"/>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100" name="Google Shape;100;g382a10cad02_0_95"/>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 name="Google Shape;101;g382a10cad02_0_95"/>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2" name="Google Shape;102;g382a10cad02_0_95"/>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103" name="Google Shape;103;g382a10cad02_0_95"/>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4" name="Google Shape;104;g382a10cad02_0_95"/>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105" name="Google Shape;105;g382a10cad02_0_95"/>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106" name="Google Shape;106;g382a10cad02_0_95"/>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 name="Google Shape;107;g382a10cad02_0_95"/>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 name="Google Shape;108;g382a10cad02_0_95"/>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9" name="Google Shape;109;g382a10cad02_0_95"/>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110" name="Google Shape;110;g382a10cad02_0_95"/>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11" name="Google Shape;111;g382a10cad02_0_95"/>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112" name="Google Shape;112;g382a10cad02_0_95"/>
          <p:cNvSpPr txBox="1"/>
          <p:nvPr/>
        </p:nvSpPr>
        <p:spPr>
          <a:xfrm>
            <a:off x="2373925" y="1611925"/>
            <a:ext cx="9715500" cy="50886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15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Each function is a discrete block of code. </a:t>
            </a:r>
            <a:endParaRPr b="0" i="0" sz="2600" u="none" cap="none" strike="noStrike">
              <a:solidFill>
                <a:schemeClr val="dk1"/>
              </a:solidFill>
              <a:latin typeface="Times New Roman"/>
              <a:ea typeface="Times New Roman"/>
              <a:cs typeface="Times New Roman"/>
              <a:sym typeface="Times New Roman"/>
            </a:endParaRPr>
          </a:p>
          <a:p>
            <a:pPr indent="-393700" lvl="0" marL="457200" marR="0" rtl="0" algn="l">
              <a:lnSpc>
                <a:spcPct val="115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Thus, a function defines a block scope. </a:t>
            </a:r>
            <a:endParaRPr b="0" i="0" sz="2600" u="none" cap="none" strike="noStrike">
              <a:solidFill>
                <a:schemeClr val="dk1"/>
              </a:solidFill>
              <a:latin typeface="Times New Roman"/>
              <a:ea typeface="Times New Roman"/>
              <a:cs typeface="Times New Roman"/>
              <a:sym typeface="Times New Roman"/>
            </a:endParaRPr>
          </a:p>
          <a:p>
            <a:pPr indent="-393700" lvl="0" marL="457200" marR="0" rtl="0" algn="l">
              <a:lnSpc>
                <a:spcPct val="115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This means that a function's code is private to that function and cannot be accessed by any statement in any other function except through a call to that function. (For instance, you cannot use </a:t>
            </a:r>
            <a:r>
              <a:rPr b="1" i="0" lang="en-US" sz="2600" u="none" cap="none" strike="noStrike">
                <a:solidFill>
                  <a:schemeClr val="dk1"/>
                </a:solidFill>
                <a:latin typeface="Times New Roman"/>
                <a:ea typeface="Times New Roman"/>
                <a:cs typeface="Times New Roman"/>
                <a:sym typeface="Times New Roman"/>
              </a:rPr>
              <a:t>goto</a:t>
            </a:r>
            <a:r>
              <a:rPr b="0" i="0" lang="en-US" sz="2600" u="none" cap="none" strike="noStrike">
                <a:solidFill>
                  <a:schemeClr val="dk1"/>
                </a:solidFill>
                <a:latin typeface="Times New Roman"/>
                <a:ea typeface="Times New Roman"/>
                <a:cs typeface="Times New Roman"/>
                <a:sym typeface="Times New Roman"/>
              </a:rPr>
              <a:t> to jump into the middle of another function.)</a:t>
            </a:r>
            <a:endParaRPr b="0" i="0" sz="2600" u="none" cap="none" strike="noStrike">
              <a:solidFill>
                <a:schemeClr val="dk1"/>
              </a:solidFill>
              <a:latin typeface="Times New Roman"/>
              <a:ea typeface="Times New Roman"/>
              <a:cs typeface="Times New Roman"/>
              <a:sym typeface="Times New Roman"/>
            </a:endParaRPr>
          </a:p>
          <a:p>
            <a:pPr indent="-393700" lvl="0" marL="457200" marR="0" rtl="0" algn="l">
              <a:lnSpc>
                <a:spcPct val="115000"/>
              </a:lnSpc>
              <a:spcBef>
                <a:spcPts val="0"/>
              </a:spcBef>
              <a:spcAft>
                <a:spcPts val="0"/>
              </a:spcAft>
              <a:buClr>
                <a:schemeClr val="dk1"/>
              </a:buClr>
              <a:buSzPts val="2600"/>
              <a:buFont typeface="Times New Roman"/>
              <a:buChar char="●"/>
            </a:pPr>
            <a:r>
              <a:rPr b="0" i="0" lang="en-US" sz="2600" u="none" cap="none" strike="noStrike">
                <a:solidFill>
                  <a:schemeClr val="dk1"/>
                </a:solidFill>
                <a:latin typeface="Times New Roman"/>
                <a:ea typeface="Times New Roman"/>
                <a:cs typeface="Times New Roman"/>
                <a:sym typeface="Times New Roman"/>
              </a:rPr>
              <a:t>The code that constitutes the body of a function is hidden from the rest of the program, and unless it uses global variables, it can neither affect nor be affected by other parts of the Code.</a:t>
            </a:r>
            <a:endParaRPr b="0" i="0" sz="2600" u="none" cap="none" strike="noStrike">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Clr>
                <a:srgbClr val="000000"/>
              </a:buClr>
              <a:buSzPts val="2600"/>
              <a:buFont typeface="Arial"/>
              <a:buNone/>
            </a:pPr>
            <a:r>
              <a:t/>
            </a:r>
            <a:endParaRPr b="0" i="0" sz="2600" u="none" cap="none" strike="noStrike">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Clr>
                <a:srgbClr val="000000"/>
              </a:buClr>
              <a:buSzPts val="100"/>
              <a:buFont typeface="Arial"/>
              <a:buNone/>
            </a:pPr>
            <a:r>
              <a:t/>
            </a:r>
            <a:endParaRPr b="0" i="0" sz="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700"/>
              <a:buFont typeface="Arial"/>
              <a:buNone/>
            </a:pPr>
            <a:r>
              <a:t/>
            </a:r>
            <a:endParaRPr b="0" i="0" sz="1700" u="none" cap="none" strike="noStrike">
              <a:solidFill>
                <a:schemeClr val="dk1"/>
              </a:solidFill>
              <a:latin typeface="Times New Roman"/>
              <a:ea typeface="Times New Roman"/>
              <a:cs typeface="Times New Roman"/>
              <a:sym typeface="Times New Roman"/>
            </a:endParaRPr>
          </a:p>
        </p:txBody>
      </p:sp>
      <p:sp>
        <p:nvSpPr>
          <p:cNvPr id="113" name="Google Shape;113;g382a10cad02_0_95"/>
          <p:cNvSpPr txBox="1"/>
          <p:nvPr/>
        </p:nvSpPr>
        <p:spPr>
          <a:xfrm>
            <a:off x="2329950" y="571500"/>
            <a:ext cx="9349200" cy="586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n-US" sz="2600" u="none" cap="none" strike="noStrike">
                <a:solidFill>
                  <a:srgbClr val="FF0000"/>
                </a:solidFill>
                <a:latin typeface="Times New Roman"/>
                <a:ea typeface="Times New Roman"/>
                <a:cs typeface="Times New Roman"/>
                <a:sym typeface="Times New Roman"/>
              </a:rPr>
              <a:t>Understanding the Scope of a Function</a:t>
            </a:r>
            <a:endParaRPr b="1" i="0" sz="2600" u="none" cap="none" strike="noStrike">
              <a:solidFill>
                <a:srgbClr val="FF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750"/>
              <a:buFont typeface="Arial"/>
              <a:buNone/>
            </a:pPr>
            <a:r>
              <a:t/>
            </a:r>
            <a:endParaRPr b="0" i="0" sz="37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82a10cad02_0_114"/>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119" name="Google Shape;119;g382a10cad02_0_114"/>
          <p:cNvGrpSpPr/>
          <p:nvPr/>
        </p:nvGrpSpPr>
        <p:grpSpPr>
          <a:xfrm>
            <a:off x="0" y="14654"/>
            <a:ext cx="12192000" cy="6858000"/>
            <a:chOff x="0" y="0"/>
            <a:chExt cx="12192000" cy="6858000"/>
          </a:xfrm>
        </p:grpSpPr>
        <p:pic>
          <p:nvPicPr>
            <p:cNvPr id="120" name="Google Shape;120;g382a10cad02_0_114"/>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121" name="Google Shape;121;g382a10cad02_0_114"/>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 name="Google Shape;122;g382a10cad02_0_114"/>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23" name="Google Shape;123;g382a10cad02_0_114"/>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124" name="Google Shape;124;g382a10cad02_0_114"/>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25" name="Google Shape;125;g382a10cad02_0_114"/>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126" name="Google Shape;126;g382a10cad02_0_114"/>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127" name="Google Shape;127;g382a10cad02_0_114"/>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 name="Google Shape;128;g382a10cad02_0_114"/>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 name="Google Shape;129;g382a10cad02_0_114"/>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30" name="Google Shape;130;g382a10cad02_0_114"/>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131" name="Google Shape;131;g382a10cad02_0_114"/>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32" name="Google Shape;132;g382a10cad02_0_114"/>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133" name="Google Shape;133;g382a10cad02_0_114"/>
          <p:cNvSpPr txBox="1"/>
          <p:nvPr/>
        </p:nvSpPr>
        <p:spPr>
          <a:xfrm>
            <a:off x="1758450" y="1113700"/>
            <a:ext cx="8997600" cy="45129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15000"/>
              </a:lnSpc>
              <a:spcBef>
                <a:spcPts val="0"/>
              </a:spcBef>
              <a:spcAft>
                <a:spcPts val="0"/>
              </a:spcAft>
              <a:buClr>
                <a:schemeClr val="dk1"/>
              </a:buClr>
              <a:buSzPts val="1900"/>
              <a:buFont typeface="Times New Roman"/>
              <a:buChar char="●"/>
            </a:pPr>
            <a:r>
              <a:rPr b="0" i="0" lang="en-US" sz="1900" u="none" cap="none" strike="noStrike">
                <a:solidFill>
                  <a:schemeClr val="dk1"/>
                </a:solidFill>
                <a:latin typeface="Times New Roman"/>
                <a:ea typeface="Times New Roman"/>
                <a:cs typeface="Times New Roman"/>
                <a:sym typeface="Times New Roman"/>
              </a:rPr>
              <a:t>Variables that are defined within a function are local variables. A local variable comes into existence when the function is entered and is destroyed upon exit. </a:t>
            </a:r>
            <a:endParaRPr b="0" i="0" sz="1900" u="none" cap="none" strike="noStrike">
              <a:solidFill>
                <a:schemeClr val="dk1"/>
              </a:solidFill>
              <a:latin typeface="Times New Roman"/>
              <a:ea typeface="Times New Roman"/>
              <a:cs typeface="Times New Roman"/>
              <a:sym typeface="Times New Roman"/>
            </a:endParaRPr>
          </a:p>
          <a:p>
            <a:pPr indent="-349250" lvl="0" marL="457200" marR="0" rtl="0" algn="l">
              <a:lnSpc>
                <a:spcPct val="115000"/>
              </a:lnSpc>
              <a:spcBef>
                <a:spcPts val="0"/>
              </a:spcBef>
              <a:spcAft>
                <a:spcPts val="0"/>
              </a:spcAft>
              <a:buClr>
                <a:schemeClr val="dk1"/>
              </a:buClr>
              <a:buSzPts val="1900"/>
              <a:buFont typeface="Times New Roman"/>
              <a:buChar char="●"/>
            </a:pPr>
            <a:r>
              <a:rPr b="0" i="0" lang="en-US" sz="1900" u="none" cap="none" strike="noStrike">
                <a:solidFill>
                  <a:schemeClr val="dk1"/>
                </a:solidFill>
                <a:latin typeface="Times New Roman"/>
                <a:ea typeface="Times New Roman"/>
                <a:cs typeface="Times New Roman"/>
                <a:sym typeface="Times New Roman"/>
              </a:rPr>
              <a:t>Thus, a local variable cannot hold its value between function calls.</a:t>
            </a:r>
            <a:endParaRPr b="0" i="0" sz="1900" u="none" cap="none" strike="noStrike">
              <a:solidFill>
                <a:schemeClr val="dk1"/>
              </a:solidFill>
              <a:latin typeface="Times New Roman"/>
              <a:ea typeface="Times New Roman"/>
              <a:cs typeface="Times New Roman"/>
              <a:sym typeface="Times New Roman"/>
            </a:endParaRPr>
          </a:p>
          <a:p>
            <a:pPr indent="-349250" lvl="0" marL="457200" marR="0" rtl="0" algn="l">
              <a:lnSpc>
                <a:spcPct val="115000"/>
              </a:lnSpc>
              <a:spcBef>
                <a:spcPts val="0"/>
              </a:spcBef>
              <a:spcAft>
                <a:spcPts val="0"/>
              </a:spcAft>
              <a:buClr>
                <a:schemeClr val="dk1"/>
              </a:buClr>
              <a:buSzPts val="1900"/>
              <a:buFont typeface="Times New Roman"/>
              <a:buChar char="●"/>
            </a:pPr>
            <a:r>
              <a:rPr b="0" i="0" lang="en-US" sz="1900" u="none" cap="none" strike="noStrike">
                <a:solidFill>
                  <a:schemeClr val="dk1"/>
                </a:solidFill>
                <a:latin typeface="Times New Roman"/>
                <a:ea typeface="Times New Roman"/>
                <a:cs typeface="Times New Roman"/>
                <a:sym typeface="Times New Roman"/>
              </a:rPr>
              <a:t>The only exception to this rule is when the variable is declared with the </a:t>
            </a:r>
            <a:r>
              <a:rPr b="1" i="0" lang="en-US" sz="1900" u="none" cap="none" strike="noStrike">
                <a:solidFill>
                  <a:schemeClr val="dk1"/>
                </a:solidFill>
                <a:latin typeface="Times New Roman"/>
                <a:ea typeface="Times New Roman"/>
                <a:cs typeface="Times New Roman"/>
                <a:sym typeface="Times New Roman"/>
              </a:rPr>
              <a:t>static</a:t>
            </a:r>
            <a:r>
              <a:rPr b="0" i="0" lang="en-US" sz="1900" u="none" cap="none" strike="noStrike">
                <a:solidFill>
                  <a:schemeClr val="dk1"/>
                </a:solidFill>
                <a:latin typeface="Times New Roman"/>
                <a:ea typeface="Times New Roman"/>
                <a:cs typeface="Times New Roman"/>
                <a:sym typeface="Times New Roman"/>
              </a:rPr>
              <a:t> storage class specifier.</a:t>
            </a:r>
            <a:endParaRPr b="0" i="0" sz="1900" u="none" cap="none" strike="noStrike">
              <a:solidFill>
                <a:schemeClr val="dk1"/>
              </a:solidFill>
              <a:latin typeface="Times New Roman"/>
              <a:ea typeface="Times New Roman"/>
              <a:cs typeface="Times New Roman"/>
              <a:sym typeface="Times New Roman"/>
            </a:endParaRPr>
          </a:p>
          <a:p>
            <a:pPr indent="-349250" lvl="0" marL="457200" marR="0" rtl="0" algn="l">
              <a:lnSpc>
                <a:spcPct val="115000"/>
              </a:lnSpc>
              <a:spcBef>
                <a:spcPts val="0"/>
              </a:spcBef>
              <a:spcAft>
                <a:spcPts val="0"/>
              </a:spcAft>
              <a:buClr>
                <a:schemeClr val="dk1"/>
              </a:buClr>
              <a:buSzPts val="1900"/>
              <a:buFont typeface="Times New Roman"/>
              <a:buChar char="●"/>
            </a:pPr>
            <a:r>
              <a:rPr b="0" i="0" lang="en-US" sz="1900" u="none" cap="none" strike="noStrike">
                <a:solidFill>
                  <a:schemeClr val="dk1"/>
                </a:solidFill>
                <a:latin typeface="Times New Roman"/>
                <a:ea typeface="Times New Roman"/>
                <a:cs typeface="Times New Roman"/>
                <a:sym typeface="Times New Roman"/>
              </a:rPr>
              <a:t>This causes the compiler to treat the variable as if it were a global</a:t>
            </a:r>
            <a:endParaRPr b="0" i="0" sz="1900" u="none" cap="none" strike="noStrike">
              <a:solidFill>
                <a:schemeClr val="dk1"/>
              </a:solidFill>
              <a:latin typeface="Times New Roman"/>
              <a:ea typeface="Times New Roman"/>
              <a:cs typeface="Times New Roman"/>
              <a:sym typeface="Times New Roman"/>
            </a:endParaRPr>
          </a:p>
          <a:p>
            <a:pPr indent="-349250" lvl="0" marL="457200" marR="0" rtl="0" algn="l">
              <a:lnSpc>
                <a:spcPct val="115000"/>
              </a:lnSpc>
              <a:spcBef>
                <a:spcPts val="0"/>
              </a:spcBef>
              <a:spcAft>
                <a:spcPts val="0"/>
              </a:spcAft>
              <a:buClr>
                <a:schemeClr val="dk1"/>
              </a:buClr>
              <a:buSzPts val="1900"/>
              <a:buFont typeface="Times New Roman"/>
              <a:buChar char="●"/>
            </a:pPr>
            <a:r>
              <a:rPr b="0" i="0" lang="en-US" sz="1900" u="none" cap="none" strike="noStrike">
                <a:solidFill>
                  <a:schemeClr val="dk1"/>
                </a:solidFill>
                <a:latin typeface="Times New Roman"/>
                <a:ea typeface="Times New Roman"/>
                <a:cs typeface="Times New Roman"/>
                <a:sym typeface="Times New Roman"/>
              </a:rPr>
              <a:t>variable for storage purposes, but limit its scope to the function.</a:t>
            </a:r>
            <a:endParaRPr b="0" i="0" sz="1900" u="none" cap="none" strike="noStrike">
              <a:solidFill>
                <a:schemeClr val="dk1"/>
              </a:solidFill>
              <a:latin typeface="Times New Roman"/>
              <a:ea typeface="Times New Roman"/>
              <a:cs typeface="Times New Roman"/>
              <a:sym typeface="Times New Roman"/>
            </a:endParaRPr>
          </a:p>
          <a:p>
            <a:pPr indent="-349250" lvl="0" marL="457200" marR="0" rtl="0" algn="l">
              <a:lnSpc>
                <a:spcPct val="115000"/>
              </a:lnSpc>
              <a:spcBef>
                <a:spcPts val="0"/>
              </a:spcBef>
              <a:spcAft>
                <a:spcPts val="0"/>
              </a:spcAft>
              <a:buClr>
                <a:schemeClr val="dk1"/>
              </a:buClr>
              <a:buSzPts val="1900"/>
              <a:buFont typeface="Times New Roman"/>
              <a:buChar char="●"/>
            </a:pPr>
            <a:r>
              <a:rPr b="0" i="0" lang="en-US" sz="1900" u="none" cap="none" strike="noStrike">
                <a:solidFill>
                  <a:schemeClr val="dk1"/>
                </a:solidFill>
                <a:latin typeface="Times New Roman"/>
                <a:ea typeface="Times New Roman"/>
                <a:cs typeface="Times New Roman"/>
                <a:sym typeface="Times New Roman"/>
              </a:rPr>
              <a:t>The formal parameters to a function also fall within the function's scope. This means that a parameter is known throughout the entire function.</a:t>
            </a:r>
            <a:endParaRPr b="0" i="0" sz="1900" u="none" cap="none" strike="noStrike">
              <a:solidFill>
                <a:schemeClr val="dk1"/>
              </a:solidFill>
              <a:latin typeface="Times New Roman"/>
              <a:ea typeface="Times New Roman"/>
              <a:cs typeface="Times New Roman"/>
              <a:sym typeface="Times New Roman"/>
            </a:endParaRPr>
          </a:p>
          <a:p>
            <a:pPr indent="-349250" lvl="0" marL="457200" marR="0" rtl="0" algn="l">
              <a:lnSpc>
                <a:spcPct val="115000"/>
              </a:lnSpc>
              <a:spcBef>
                <a:spcPts val="0"/>
              </a:spcBef>
              <a:spcAft>
                <a:spcPts val="0"/>
              </a:spcAft>
              <a:buClr>
                <a:schemeClr val="dk1"/>
              </a:buClr>
              <a:buSzPts val="1900"/>
              <a:buFont typeface="Times New Roman"/>
              <a:buChar char="●"/>
            </a:pPr>
            <a:r>
              <a:rPr b="0" i="0" lang="en-US" sz="1900" u="none" cap="none" strike="noStrike">
                <a:solidFill>
                  <a:schemeClr val="dk1"/>
                </a:solidFill>
                <a:latin typeface="Times New Roman"/>
                <a:ea typeface="Times New Roman"/>
                <a:cs typeface="Times New Roman"/>
                <a:sym typeface="Times New Roman"/>
              </a:rPr>
              <a:t>A parameter comes into existence when the function is called and is destroyed when the function is exited.</a:t>
            </a:r>
            <a:endParaRPr b="0" i="0" sz="1900" u="none" cap="none" strike="noStrike">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Clr>
                <a:srgbClr val="000000"/>
              </a:buClr>
              <a:buSzPts val="1900"/>
              <a:buFont typeface="Arial"/>
              <a:buNone/>
            </a:pPr>
            <a:r>
              <a:t/>
            </a:r>
            <a:endParaRPr b="0" i="0" sz="19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900"/>
              <a:buFont typeface="Arial"/>
              <a:buNone/>
            </a:pPr>
            <a:r>
              <a:t/>
            </a:r>
            <a:endParaRPr b="0" i="0" sz="1900" u="none" cap="none" strike="noStrike">
              <a:solidFill>
                <a:schemeClr val="dk1"/>
              </a:solidFill>
              <a:latin typeface="Times New Roman"/>
              <a:ea typeface="Times New Roman"/>
              <a:cs typeface="Times New Roman"/>
              <a:sym typeface="Times New Roman"/>
            </a:endParaRPr>
          </a:p>
        </p:txBody>
      </p:sp>
      <p:sp>
        <p:nvSpPr>
          <p:cNvPr id="134" name="Google Shape;134;g382a10cad02_0_114"/>
          <p:cNvSpPr txBox="1"/>
          <p:nvPr/>
        </p:nvSpPr>
        <p:spPr>
          <a:xfrm>
            <a:off x="1787775" y="234450"/>
            <a:ext cx="9085500" cy="527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n-US" sz="2600" u="none" cap="none" strike="noStrike">
                <a:solidFill>
                  <a:srgbClr val="FF0000"/>
                </a:solidFill>
                <a:latin typeface="Times New Roman"/>
                <a:ea typeface="Times New Roman"/>
                <a:cs typeface="Times New Roman"/>
                <a:sym typeface="Times New Roman"/>
              </a:rPr>
              <a:t>Understanding the Scope of a Function</a:t>
            </a:r>
            <a:endParaRPr b="1" i="0" sz="2600" u="none" cap="none" strike="noStrike">
              <a:solidFill>
                <a:srgbClr val="FF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82a10cad02_0_139"/>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140" name="Google Shape;140;g382a10cad02_0_139"/>
          <p:cNvGrpSpPr/>
          <p:nvPr/>
        </p:nvGrpSpPr>
        <p:grpSpPr>
          <a:xfrm>
            <a:off x="0" y="14654"/>
            <a:ext cx="12192000" cy="6858000"/>
            <a:chOff x="0" y="0"/>
            <a:chExt cx="12192000" cy="6858000"/>
          </a:xfrm>
        </p:grpSpPr>
        <p:pic>
          <p:nvPicPr>
            <p:cNvPr id="141" name="Google Shape;141;g382a10cad02_0_139"/>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142" name="Google Shape;142;g382a10cad02_0_139"/>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 name="Google Shape;143;g382a10cad02_0_139"/>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44" name="Google Shape;144;g382a10cad02_0_139"/>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145" name="Google Shape;145;g382a10cad02_0_139"/>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46" name="Google Shape;146;g382a10cad02_0_139"/>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147" name="Google Shape;147;g382a10cad02_0_139"/>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148" name="Google Shape;148;g382a10cad02_0_139"/>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 name="Google Shape;149;g382a10cad02_0_139"/>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0" name="Google Shape;150;g382a10cad02_0_139"/>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51" name="Google Shape;151;g382a10cad02_0_139"/>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152" name="Google Shape;152;g382a10cad02_0_139"/>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53" name="Google Shape;153;g382a10cad02_0_139"/>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154" name="Google Shape;154;g382a10cad02_0_139"/>
          <p:cNvSpPr txBox="1"/>
          <p:nvPr/>
        </p:nvSpPr>
        <p:spPr>
          <a:xfrm>
            <a:off x="2447200" y="263775"/>
            <a:ext cx="3519000" cy="1011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n-US" sz="2800" u="none" cap="none" strike="noStrike">
                <a:solidFill>
                  <a:srgbClr val="FF0000"/>
                </a:solidFill>
                <a:latin typeface="Times New Roman"/>
                <a:ea typeface="Times New Roman"/>
                <a:cs typeface="Times New Roman"/>
                <a:sym typeface="Times New Roman"/>
              </a:rPr>
              <a:t>Function Arguments</a:t>
            </a:r>
            <a:endParaRPr b="1" i="0" sz="2800" u="none" cap="none" strike="noStrike">
              <a:solidFill>
                <a:srgbClr val="FF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
        <p:nvSpPr>
          <p:cNvPr id="155" name="Google Shape;155;g382a10cad02_0_139"/>
          <p:cNvSpPr txBox="1"/>
          <p:nvPr/>
        </p:nvSpPr>
        <p:spPr>
          <a:xfrm>
            <a:off x="1699850" y="1318850"/>
            <a:ext cx="10169700" cy="5421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US" sz="2100" u="none" cap="none" strike="noStrike">
                <a:solidFill>
                  <a:schemeClr val="dk1"/>
                </a:solidFill>
                <a:latin typeface="Times New Roman"/>
                <a:ea typeface="Times New Roman"/>
                <a:cs typeface="Times New Roman"/>
                <a:sym typeface="Times New Roman"/>
              </a:rPr>
              <a:t>If a function is to accept arguments, it must declare the parameters that will receive the values of the arguments.</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rPr b="0" i="0" lang="en-US" sz="2100" u="none" cap="none" strike="noStrike">
                <a:solidFill>
                  <a:schemeClr val="dk1"/>
                </a:solidFill>
                <a:latin typeface="Times New Roman"/>
                <a:ea typeface="Times New Roman"/>
                <a:cs typeface="Times New Roman"/>
                <a:sym typeface="Times New Roman"/>
              </a:rPr>
              <a:t>As shown in the following function, the parameter declarations occur after the function</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100"/>
              <a:buFont typeface="Arial"/>
              <a:buNone/>
            </a:pPr>
            <a:r>
              <a:rPr b="0" i="0" lang="en-US" sz="2100" u="none" cap="none" strike="noStrike">
                <a:solidFill>
                  <a:schemeClr val="dk1"/>
                </a:solidFill>
                <a:latin typeface="Times New Roman"/>
                <a:ea typeface="Times New Roman"/>
                <a:cs typeface="Times New Roman"/>
                <a:sym typeface="Times New Roman"/>
              </a:rPr>
              <a:t>name.The function </a:t>
            </a:r>
            <a:r>
              <a:rPr b="1" i="0" lang="en-US" sz="2100" u="none" cap="none" strike="noStrike">
                <a:solidFill>
                  <a:schemeClr val="dk1"/>
                </a:solidFill>
                <a:latin typeface="Times New Roman"/>
                <a:ea typeface="Times New Roman"/>
                <a:cs typeface="Times New Roman"/>
                <a:sym typeface="Times New Roman"/>
              </a:rPr>
              <a:t>is_in( )</a:t>
            </a:r>
            <a:r>
              <a:rPr b="0" i="0" lang="en-US" sz="2100" u="none" cap="none" strike="noStrike">
                <a:solidFill>
                  <a:schemeClr val="dk1"/>
                </a:solidFill>
                <a:latin typeface="Times New Roman"/>
                <a:ea typeface="Times New Roman"/>
                <a:cs typeface="Times New Roman"/>
                <a:sym typeface="Times New Roman"/>
              </a:rPr>
              <a:t> has two parameters: </a:t>
            </a:r>
            <a:r>
              <a:rPr b="1" i="0" lang="en-US" sz="2100" u="none" cap="none" strike="noStrike">
                <a:solidFill>
                  <a:schemeClr val="dk1"/>
                </a:solidFill>
                <a:latin typeface="Times New Roman"/>
                <a:ea typeface="Times New Roman"/>
                <a:cs typeface="Times New Roman"/>
                <a:sym typeface="Times New Roman"/>
              </a:rPr>
              <a:t>s</a:t>
            </a:r>
            <a:r>
              <a:rPr b="0" i="0" lang="en-US" sz="2100" u="none" cap="none" strike="noStrike">
                <a:solidFill>
                  <a:schemeClr val="dk1"/>
                </a:solidFill>
                <a:latin typeface="Times New Roman"/>
                <a:ea typeface="Times New Roman"/>
                <a:cs typeface="Times New Roman"/>
                <a:sym typeface="Times New Roman"/>
              </a:rPr>
              <a:t> and </a:t>
            </a:r>
            <a:r>
              <a:rPr b="1" i="0" lang="en-US" sz="2100" u="none" cap="none" strike="noStrike">
                <a:solidFill>
                  <a:schemeClr val="dk1"/>
                </a:solidFill>
                <a:latin typeface="Times New Roman"/>
                <a:ea typeface="Times New Roman"/>
                <a:cs typeface="Times New Roman"/>
                <a:sym typeface="Times New Roman"/>
              </a:rPr>
              <a:t>c</a:t>
            </a:r>
            <a:r>
              <a:rPr b="0" i="0" lang="en-US" sz="2100" u="none" cap="none" strike="noStrike">
                <a:solidFill>
                  <a:schemeClr val="dk1"/>
                </a:solidFill>
                <a:latin typeface="Times New Roman"/>
                <a:ea typeface="Times New Roman"/>
                <a:cs typeface="Times New Roman"/>
                <a:sym typeface="Times New Roman"/>
              </a:rPr>
              <a:t>. This function returns 1 if the character </a:t>
            </a:r>
            <a:r>
              <a:rPr b="1" i="0" lang="en-US" sz="2100" u="none" cap="none" strike="noStrike">
                <a:solidFill>
                  <a:schemeClr val="dk1"/>
                </a:solidFill>
                <a:latin typeface="Times New Roman"/>
                <a:ea typeface="Times New Roman"/>
                <a:cs typeface="Times New Roman"/>
                <a:sym typeface="Times New Roman"/>
              </a:rPr>
              <a:t>c</a:t>
            </a:r>
            <a:r>
              <a:rPr b="0" i="0" lang="en-US" sz="2100" u="none" cap="none" strike="noStrike">
                <a:solidFill>
                  <a:schemeClr val="dk1"/>
                </a:solidFill>
                <a:latin typeface="Times New Roman"/>
                <a:ea typeface="Times New Roman"/>
                <a:cs typeface="Times New Roman"/>
                <a:sym typeface="Times New Roman"/>
              </a:rPr>
              <a:t> is part of the string </a:t>
            </a:r>
            <a:r>
              <a:rPr b="1" i="0" lang="en-US" sz="2100" u="none" cap="none" strike="noStrike">
                <a:solidFill>
                  <a:schemeClr val="dk1"/>
                </a:solidFill>
                <a:latin typeface="Times New Roman"/>
                <a:ea typeface="Times New Roman"/>
                <a:cs typeface="Times New Roman"/>
                <a:sym typeface="Times New Roman"/>
              </a:rPr>
              <a:t>s</a:t>
            </a:r>
            <a:r>
              <a:rPr b="0" i="0" lang="en-US" sz="2100" u="none" cap="none" strike="noStrike">
                <a:solidFill>
                  <a:schemeClr val="dk1"/>
                </a:solidFill>
                <a:latin typeface="Times New Roman"/>
                <a:ea typeface="Times New Roman"/>
                <a:cs typeface="Times New Roman"/>
                <a:sym typeface="Times New Roman"/>
              </a:rPr>
              <a:t>; otherwise, it returns 0.</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pic>
        <p:nvPicPr>
          <p:cNvPr id="156" name="Google Shape;156;g382a10cad02_0_139"/>
          <p:cNvPicPr preferRelativeResize="0"/>
          <p:nvPr/>
        </p:nvPicPr>
        <p:blipFill rotWithShape="1">
          <a:blip r:embed="rId9">
            <a:alphaModFix/>
          </a:blip>
          <a:srcRect b="0" l="0" r="0" t="0"/>
          <a:stretch/>
        </p:blipFill>
        <p:spPr>
          <a:xfrm>
            <a:off x="1650825" y="3663450"/>
            <a:ext cx="9427475" cy="2271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82a10cad02_0_159"/>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162" name="Google Shape;162;g382a10cad02_0_159"/>
          <p:cNvGrpSpPr/>
          <p:nvPr/>
        </p:nvGrpSpPr>
        <p:grpSpPr>
          <a:xfrm>
            <a:off x="0" y="14654"/>
            <a:ext cx="12192000" cy="6858000"/>
            <a:chOff x="0" y="0"/>
            <a:chExt cx="12192000" cy="6858000"/>
          </a:xfrm>
        </p:grpSpPr>
        <p:pic>
          <p:nvPicPr>
            <p:cNvPr id="163" name="Google Shape;163;g382a10cad02_0_159"/>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164" name="Google Shape;164;g382a10cad02_0_159"/>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5" name="Google Shape;165;g382a10cad02_0_159"/>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66" name="Google Shape;166;g382a10cad02_0_159"/>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167" name="Google Shape;167;g382a10cad02_0_159"/>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68" name="Google Shape;168;g382a10cad02_0_159"/>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169" name="Google Shape;169;g382a10cad02_0_159"/>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170" name="Google Shape;170;g382a10cad02_0_159"/>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 name="Google Shape;171;g382a10cad02_0_159"/>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 name="Google Shape;172;g382a10cad02_0_159"/>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73" name="Google Shape;173;g382a10cad02_0_159"/>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174" name="Google Shape;174;g382a10cad02_0_159"/>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75" name="Google Shape;175;g382a10cad02_0_159"/>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176" name="Google Shape;176;g382a10cad02_0_159"/>
          <p:cNvSpPr txBox="1"/>
          <p:nvPr/>
        </p:nvSpPr>
        <p:spPr>
          <a:xfrm>
            <a:off x="1567950" y="1230925"/>
            <a:ext cx="10433700" cy="29307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15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In a computer language there are two ways that arguments can be passed to a subroutine. </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The first is </a:t>
            </a:r>
            <a:r>
              <a:rPr b="0" i="1" lang="en-US" sz="2200" u="none" cap="none" strike="noStrike">
                <a:solidFill>
                  <a:schemeClr val="dk1"/>
                </a:solidFill>
                <a:latin typeface="Times New Roman"/>
                <a:ea typeface="Times New Roman"/>
                <a:cs typeface="Times New Roman"/>
                <a:sym typeface="Times New Roman"/>
              </a:rPr>
              <a:t>call by value</a:t>
            </a:r>
            <a:r>
              <a:rPr b="0" i="0" lang="en-US" sz="2200" u="none" cap="none" strike="noStrike">
                <a:solidFill>
                  <a:schemeClr val="dk1"/>
                </a:solidFill>
                <a:latin typeface="Times New Roman"/>
                <a:ea typeface="Times New Roman"/>
                <a:cs typeface="Times New Roman"/>
                <a:sym typeface="Times New Roman"/>
              </a:rPr>
              <a:t>. </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This method copies the </a:t>
            </a:r>
            <a:r>
              <a:rPr b="0" i="1" lang="en-US" sz="2200" u="none" cap="none" strike="noStrike">
                <a:solidFill>
                  <a:schemeClr val="dk1"/>
                </a:solidFill>
                <a:latin typeface="Times New Roman"/>
                <a:ea typeface="Times New Roman"/>
                <a:cs typeface="Times New Roman"/>
                <a:sym typeface="Times New Roman"/>
              </a:rPr>
              <a:t>value of</a:t>
            </a:r>
            <a:r>
              <a:rPr b="0" i="0" lang="en-US" sz="2200" u="none" cap="none" strike="noStrike">
                <a:solidFill>
                  <a:schemeClr val="dk1"/>
                </a:solidFill>
                <a:latin typeface="Times New Roman"/>
                <a:ea typeface="Times New Roman"/>
                <a:cs typeface="Times New Roman"/>
                <a:sym typeface="Times New Roman"/>
              </a:rPr>
              <a:t> an argument into the formal parameter of the subroutine. </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In this case, changes made to the parameter have no effect on the argument.</a:t>
            </a:r>
            <a:endParaRPr b="0" i="0" sz="22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900"/>
              <a:buFont typeface="Arial"/>
              <a:buNone/>
            </a:pPr>
            <a:r>
              <a:t/>
            </a:r>
            <a:endParaRPr b="0" i="0" sz="1900" u="none" cap="none" strike="noStrike">
              <a:solidFill>
                <a:schemeClr val="dk1"/>
              </a:solidFill>
              <a:latin typeface="Times New Roman"/>
              <a:ea typeface="Times New Roman"/>
              <a:cs typeface="Times New Roman"/>
              <a:sym typeface="Times New Roman"/>
            </a:endParaRPr>
          </a:p>
          <a:p>
            <a:pPr indent="-361950" lvl="0" marL="457200" marR="0" rtl="0" algn="l">
              <a:lnSpc>
                <a:spcPct val="115000"/>
              </a:lnSpc>
              <a:spcBef>
                <a:spcPts val="0"/>
              </a:spcBef>
              <a:spcAft>
                <a:spcPts val="0"/>
              </a:spcAft>
              <a:buClr>
                <a:schemeClr val="dk1"/>
              </a:buClr>
              <a:buSzPts val="2100"/>
              <a:buFont typeface="Times New Roman"/>
              <a:buChar char="●"/>
            </a:pPr>
            <a:r>
              <a:rPr b="0" i="1" lang="en-US" sz="2100" u="none" cap="none" strike="noStrike">
                <a:solidFill>
                  <a:schemeClr val="dk1"/>
                </a:solidFill>
                <a:latin typeface="Times New Roman"/>
                <a:ea typeface="Times New Roman"/>
                <a:cs typeface="Times New Roman"/>
                <a:sym typeface="Times New Roman"/>
              </a:rPr>
              <a:t>Call by reference</a:t>
            </a:r>
            <a:r>
              <a:rPr b="0" i="0" lang="en-US" sz="2100" u="none" cap="none" strike="noStrike">
                <a:solidFill>
                  <a:schemeClr val="dk1"/>
                </a:solidFill>
                <a:latin typeface="Times New Roman"/>
                <a:ea typeface="Times New Roman"/>
                <a:cs typeface="Times New Roman"/>
                <a:sym typeface="Times New Roman"/>
              </a:rPr>
              <a:t> is the second way of passing arguments to a subroutine. In this method, the </a:t>
            </a:r>
            <a:r>
              <a:rPr b="0" i="1" lang="en-US" sz="2100" u="none" cap="none" strike="noStrike">
                <a:solidFill>
                  <a:schemeClr val="dk1"/>
                </a:solidFill>
                <a:latin typeface="Times New Roman"/>
                <a:ea typeface="Times New Roman"/>
                <a:cs typeface="Times New Roman"/>
                <a:sym typeface="Times New Roman"/>
              </a:rPr>
              <a:t>address</a:t>
            </a:r>
            <a:r>
              <a:rPr b="0" i="0" lang="en-US" sz="2100" u="none" cap="none" strike="noStrike">
                <a:solidFill>
                  <a:schemeClr val="dk1"/>
                </a:solidFill>
                <a:latin typeface="Times New Roman"/>
                <a:ea typeface="Times New Roman"/>
                <a:cs typeface="Times New Roman"/>
                <a:sym typeface="Times New Roman"/>
              </a:rPr>
              <a:t> of an argument is copied into the parameter. Inside the subroutine, the address is used to access the actual argument used in the call. This means that changes made to the parameter affect the argument.</a:t>
            </a:r>
            <a:endParaRPr b="0" i="0" sz="2100" u="none" cap="none" strike="noStrike">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100" u="none" cap="none" strike="noStrike">
              <a:solidFill>
                <a:schemeClr val="dk1"/>
              </a:solidFill>
              <a:latin typeface="Times New Roman"/>
              <a:ea typeface="Times New Roman"/>
              <a:cs typeface="Times New Roman"/>
              <a:sym typeface="Times New Roman"/>
            </a:endParaRPr>
          </a:p>
        </p:txBody>
      </p:sp>
      <p:sp>
        <p:nvSpPr>
          <p:cNvPr id="177" name="Google Shape;177;g382a10cad02_0_159"/>
          <p:cNvSpPr txBox="1"/>
          <p:nvPr/>
        </p:nvSpPr>
        <p:spPr>
          <a:xfrm>
            <a:off x="1605075" y="255350"/>
            <a:ext cx="8627100" cy="63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50"/>
              <a:buFont typeface="Arial"/>
              <a:buNone/>
            </a:pPr>
            <a:r>
              <a:rPr b="1" i="0" lang="en-US" sz="2650" u="none" cap="none" strike="noStrike">
                <a:solidFill>
                  <a:srgbClr val="FF0000"/>
                </a:solidFill>
                <a:latin typeface="Times New Roman"/>
                <a:ea typeface="Times New Roman"/>
                <a:cs typeface="Times New Roman"/>
                <a:sym typeface="Times New Roman"/>
              </a:rPr>
              <a:t>Call by Value,Call by Reference</a:t>
            </a:r>
            <a:endParaRPr b="1" i="0" sz="2650" u="none" cap="none" strike="noStrike">
              <a:solidFill>
                <a:srgbClr val="FF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82a10cad02_0_179"/>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183" name="Google Shape;183;g382a10cad02_0_179"/>
          <p:cNvGrpSpPr/>
          <p:nvPr/>
        </p:nvGrpSpPr>
        <p:grpSpPr>
          <a:xfrm>
            <a:off x="0" y="14654"/>
            <a:ext cx="12192000" cy="6858000"/>
            <a:chOff x="0" y="0"/>
            <a:chExt cx="12192000" cy="6858000"/>
          </a:xfrm>
        </p:grpSpPr>
        <p:pic>
          <p:nvPicPr>
            <p:cNvPr id="184" name="Google Shape;184;g382a10cad02_0_179"/>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185" name="Google Shape;185;g382a10cad02_0_179"/>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 name="Google Shape;186;g382a10cad02_0_179"/>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87" name="Google Shape;187;g382a10cad02_0_179"/>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188" name="Google Shape;188;g382a10cad02_0_179"/>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89" name="Google Shape;189;g382a10cad02_0_179"/>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190" name="Google Shape;190;g382a10cad02_0_179"/>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191" name="Google Shape;191;g382a10cad02_0_179"/>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2" name="Google Shape;192;g382a10cad02_0_179"/>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 name="Google Shape;193;g382a10cad02_0_179"/>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94" name="Google Shape;194;g382a10cad02_0_179"/>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195" name="Google Shape;195;g382a10cad02_0_179"/>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96" name="Google Shape;196;g382a10cad02_0_179"/>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pic>
        <p:nvPicPr>
          <p:cNvPr id="197" name="Google Shape;197;g382a10cad02_0_179"/>
          <p:cNvPicPr preferRelativeResize="0"/>
          <p:nvPr/>
        </p:nvPicPr>
        <p:blipFill rotWithShape="1">
          <a:blip r:embed="rId9">
            <a:alphaModFix/>
          </a:blip>
          <a:srcRect b="0" l="0" r="0" t="0"/>
          <a:stretch/>
        </p:blipFill>
        <p:spPr>
          <a:xfrm>
            <a:off x="2484350" y="0"/>
            <a:ext cx="7223299" cy="4249625"/>
          </a:xfrm>
          <a:prstGeom prst="rect">
            <a:avLst/>
          </a:prstGeom>
          <a:noFill/>
          <a:ln>
            <a:noFill/>
          </a:ln>
        </p:spPr>
      </p:pic>
      <p:sp>
        <p:nvSpPr>
          <p:cNvPr id="198" name="Google Shape;198;g382a10cad02_0_179"/>
          <p:cNvSpPr txBox="1"/>
          <p:nvPr/>
        </p:nvSpPr>
        <p:spPr>
          <a:xfrm>
            <a:off x="1553300" y="4264275"/>
            <a:ext cx="9906000" cy="225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300"/>
              <a:buFont typeface="Arial"/>
              <a:buNone/>
            </a:pPr>
            <a:r>
              <a:rPr b="0" i="0" lang="en-US" sz="2300" u="none" cap="none" strike="noStrike">
                <a:solidFill>
                  <a:schemeClr val="dk1"/>
                </a:solidFill>
                <a:latin typeface="Times New Roman"/>
                <a:ea typeface="Times New Roman"/>
                <a:cs typeface="Times New Roman"/>
                <a:sym typeface="Times New Roman"/>
              </a:rPr>
              <a:t>In this example, the value of the argument to </a:t>
            </a:r>
            <a:r>
              <a:rPr b="1" i="0" lang="en-US" sz="2300" u="none" cap="none" strike="noStrike">
                <a:solidFill>
                  <a:schemeClr val="dk1"/>
                </a:solidFill>
                <a:latin typeface="Times New Roman"/>
                <a:ea typeface="Times New Roman"/>
                <a:cs typeface="Times New Roman"/>
                <a:sym typeface="Times New Roman"/>
              </a:rPr>
              <a:t>sqr( )</a:t>
            </a:r>
            <a:r>
              <a:rPr b="0" i="0" lang="en-US" sz="2300" u="none" cap="none" strike="noStrike">
                <a:solidFill>
                  <a:schemeClr val="dk1"/>
                </a:solidFill>
                <a:latin typeface="Times New Roman"/>
                <a:ea typeface="Times New Roman"/>
                <a:cs typeface="Times New Roman"/>
                <a:sym typeface="Times New Roman"/>
              </a:rPr>
              <a:t>, 10, is copied into the parameter </a:t>
            </a:r>
            <a:r>
              <a:rPr b="1" i="0" lang="en-US" sz="2300" u="none" cap="none" strike="noStrike">
                <a:solidFill>
                  <a:schemeClr val="dk1"/>
                </a:solidFill>
                <a:latin typeface="Times New Roman"/>
                <a:ea typeface="Times New Roman"/>
                <a:cs typeface="Times New Roman"/>
                <a:sym typeface="Times New Roman"/>
              </a:rPr>
              <a:t>x</a:t>
            </a:r>
            <a:r>
              <a:rPr b="0" i="0" lang="en-US" sz="2300" u="none" cap="none" strike="noStrike">
                <a:solidFill>
                  <a:schemeClr val="dk1"/>
                </a:solidFill>
                <a:latin typeface="Times New Roman"/>
                <a:ea typeface="Times New Roman"/>
                <a:cs typeface="Times New Roman"/>
                <a:sym typeface="Times New Roman"/>
              </a:rPr>
              <a:t>. When the assignment </a:t>
            </a:r>
            <a:r>
              <a:rPr b="1" i="0" lang="en-US" sz="2300" u="none" cap="none" strike="noStrike">
                <a:solidFill>
                  <a:schemeClr val="dk1"/>
                </a:solidFill>
                <a:latin typeface="Times New Roman"/>
                <a:ea typeface="Times New Roman"/>
                <a:cs typeface="Times New Roman"/>
                <a:sym typeface="Times New Roman"/>
              </a:rPr>
              <a:t>x = x*x</a:t>
            </a:r>
            <a:r>
              <a:rPr b="0" i="0" lang="en-US" sz="2300" u="none" cap="none" strike="noStrike">
                <a:solidFill>
                  <a:schemeClr val="dk1"/>
                </a:solidFill>
                <a:latin typeface="Times New Roman"/>
                <a:ea typeface="Times New Roman"/>
                <a:cs typeface="Times New Roman"/>
                <a:sym typeface="Times New Roman"/>
              </a:rPr>
              <a:t> takes place, only the local variable </a:t>
            </a:r>
            <a:r>
              <a:rPr b="1" i="0" lang="en-US" sz="2300" u="none" cap="none" strike="noStrike">
                <a:solidFill>
                  <a:schemeClr val="dk1"/>
                </a:solidFill>
                <a:latin typeface="Times New Roman"/>
                <a:ea typeface="Times New Roman"/>
                <a:cs typeface="Times New Roman"/>
                <a:sym typeface="Times New Roman"/>
              </a:rPr>
              <a:t>x</a:t>
            </a:r>
            <a:r>
              <a:rPr b="0" i="0" lang="en-US" sz="2300" u="none" cap="none" strike="noStrike">
                <a:solidFill>
                  <a:schemeClr val="dk1"/>
                </a:solidFill>
                <a:latin typeface="Times New Roman"/>
                <a:ea typeface="Times New Roman"/>
                <a:cs typeface="Times New Roman"/>
                <a:sym typeface="Times New Roman"/>
              </a:rPr>
              <a:t> is modified. The variable </a:t>
            </a:r>
            <a:r>
              <a:rPr b="1" i="0" lang="en-US" sz="2300" u="none" cap="none" strike="noStrike">
                <a:solidFill>
                  <a:schemeClr val="dk1"/>
                </a:solidFill>
                <a:latin typeface="Times New Roman"/>
                <a:ea typeface="Times New Roman"/>
                <a:cs typeface="Times New Roman"/>
                <a:sym typeface="Times New Roman"/>
              </a:rPr>
              <a:t>t</a:t>
            </a:r>
            <a:r>
              <a:rPr b="0" i="0" lang="en-US" sz="2300" u="none" cap="none" strike="noStrike">
                <a:solidFill>
                  <a:schemeClr val="dk1"/>
                </a:solidFill>
                <a:latin typeface="Times New Roman"/>
                <a:ea typeface="Times New Roman"/>
                <a:cs typeface="Times New Roman"/>
                <a:sym typeface="Times New Roman"/>
              </a:rPr>
              <a:t>, used to call </a:t>
            </a:r>
            <a:r>
              <a:rPr b="1" i="0" lang="en-US" sz="2300" u="none" cap="none" strike="noStrike">
                <a:solidFill>
                  <a:schemeClr val="dk1"/>
                </a:solidFill>
                <a:latin typeface="Times New Roman"/>
                <a:ea typeface="Times New Roman"/>
                <a:cs typeface="Times New Roman"/>
                <a:sym typeface="Times New Roman"/>
              </a:rPr>
              <a:t>sqr( )</a:t>
            </a:r>
            <a:r>
              <a:rPr b="0" i="0" lang="en-US" sz="2300" u="none" cap="none" strike="noStrike">
                <a:solidFill>
                  <a:schemeClr val="dk1"/>
                </a:solidFill>
                <a:latin typeface="Times New Roman"/>
                <a:ea typeface="Times New Roman"/>
                <a:cs typeface="Times New Roman"/>
                <a:sym typeface="Times New Roman"/>
              </a:rPr>
              <a:t>, still has the value 10. Hence, the output is </a:t>
            </a:r>
            <a:r>
              <a:rPr b="1" i="0" lang="en-US" sz="2300" u="none" cap="none" strike="noStrike">
                <a:solidFill>
                  <a:schemeClr val="dk1"/>
                </a:solidFill>
                <a:latin typeface="Times New Roman"/>
                <a:ea typeface="Times New Roman"/>
                <a:cs typeface="Times New Roman"/>
                <a:sym typeface="Times New Roman"/>
              </a:rPr>
              <a:t>100 10</a:t>
            </a:r>
            <a:r>
              <a:rPr b="0" i="0" lang="en-US" sz="2300" u="none" cap="none" strike="noStrike">
                <a:solidFill>
                  <a:schemeClr val="dk1"/>
                </a:solidFill>
                <a:latin typeface="Times New Roman"/>
                <a:ea typeface="Times New Roman"/>
                <a:cs typeface="Times New Roman"/>
                <a:sym typeface="Times New Roman"/>
              </a:rPr>
              <a:t>.</a:t>
            </a:r>
            <a:endParaRPr b="0" i="0" sz="23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300"/>
              <a:buFont typeface="Arial"/>
              <a:buNone/>
            </a:pPr>
            <a:r>
              <a:t/>
            </a:r>
            <a:endParaRPr b="0" i="0" sz="23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chemeClr val="dk1"/>
              </a:buClr>
              <a:buSzPts val="1100"/>
              <a:buFont typeface="Arial"/>
              <a:buNone/>
            </a:pPr>
            <a:r>
              <a:t/>
            </a:r>
            <a:endParaRPr b="0" i="0" sz="23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450"/>
              <a:buFont typeface="Arial"/>
              <a:buNone/>
            </a:pPr>
            <a:r>
              <a:t/>
            </a:r>
            <a:endParaRPr b="0" i="0" sz="34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82a10cad02_0_199"/>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204" name="Google Shape;204;g382a10cad02_0_199"/>
          <p:cNvGrpSpPr/>
          <p:nvPr/>
        </p:nvGrpSpPr>
        <p:grpSpPr>
          <a:xfrm>
            <a:off x="0" y="14654"/>
            <a:ext cx="12192000" cy="6858000"/>
            <a:chOff x="0" y="0"/>
            <a:chExt cx="12192000" cy="6858000"/>
          </a:xfrm>
        </p:grpSpPr>
        <p:pic>
          <p:nvPicPr>
            <p:cNvPr id="205" name="Google Shape;205;g382a10cad02_0_199"/>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206" name="Google Shape;206;g382a10cad02_0_199"/>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7" name="Google Shape;207;g382a10cad02_0_199"/>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08" name="Google Shape;208;g382a10cad02_0_199"/>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209" name="Google Shape;209;g382a10cad02_0_199"/>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10" name="Google Shape;210;g382a10cad02_0_199"/>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211" name="Google Shape;211;g382a10cad02_0_199"/>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212" name="Google Shape;212;g382a10cad02_0_199"/>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3" name="Google Shape;213;g382a10cad02_0_199"/>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4" name="Google Shape;214;g382a10cad02_0_199"/>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15" name="Google Shape;215;g382a10cad02_0_199"/>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216" name="Google Shape;216;g382a10cad02_0_199"/>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17" name="Google Shape;217;g382a10cad02_0_199"/>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218" name="Google Shape;218;g382a10cad02_0_199"/>
          <p:cNvSpPr txBox="1"/>
          <p:nvPr/>
        </p:nvSpPr>
        <p:spPr>
          <a:xfrm>
            <a:off x="1817075" y="381000"/>
            <a:ext cx="9056100" cy="835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1" lang="en-US" sz="2200" u="none" cap="none" strike="noStrike">
                <a:solidFill>
                  <a:srgbClr val="FF0000"/>
                </a:solidFill>
                <a:latin typeface="Times New Roman"/>
                <a:ea typeface="Times New Roman"/>
                <a:cs typeface="Times New Roman"/>
                <a:sym typeface="Times New Roman"/>
              </a:rPr>
              <a:t>Creating a Call by Reference</a:t>
            </a:r>
            <a:endParaRPr b="1" i="1" sz="2200" u="none" cap="none" strike="noStrike">
              <a:solidFill>
                <a:srgbClr val="FF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
        <p:nvSpPr>
          <p:cNvPr id="219" name="Google Shape;219;g382a10cad02_0_199"/>
          <p:cNvSpPr txBox="1"/>
          <p:nvPr/>
        </p:nvSpPr>
        <p:spPr>
          <a:xfrm>
            <a:off x="2636275" y="1128350"/>
            <a:ext cx="10448100" cy="5421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20" name="Google Shape;220;g382a10cad02_0_199"/>
          <p:cNvSpPr txBox="1"/>
          <p:nvPr/>
        </p:nvSpPr>
        <p:spPr>
          <a:xfrm>
            <a:off x="1696250" y="4596325"/>
            <a:ext cx="9411600" cy="195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
        <p:nvSpPr>
          <p:cNvPr id="221" name="Google Shape;221;g382a10cad02_0_199"/>
          <p:cNvSpPr txBox="1"/>
          <p:nvPr/>
        </p:nvSpPr>
        <p:spPr>
          <a:xfrm>
            <a:off x="1842175" y="820625"/>
            <a:ext cx="9224100" cy="495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Even though C uses call by value for passing parameters, you can create a call by reference by passing a pointer to an argument, instead of passing the argument itself.</a:t>
            </a:r>
            <a:endParaRPr b="0" i="0" sz="2100" u="none" cap="none" strike="noStrike">
              <a:solidFill>
                <a:schemeClr val="dk1"/>
              </a:solidFill>
              <a:latin typeface="Times New Roman"/>
              <a:ea typeface="Times New Roman"/>
              <a:cs typeface="Times New Roman"/>
              <a:sym typeface="Times New Roman"/>
            </a:endParaRPr>
          </a:p>
          <a:p>
            <a:pPr indent="0" lvl="0" marL="9144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Since the address of the argument is passed to the function, code within the function can change the value of the argument outside the function. </a:t>
            </a:r>
            <a:endParaRPr b="0" i="0" sz="2100" u="none" cap="none" strike="noStrike">
              <a:solidFill>
                <a:schemeClr val="dk1"/>
              </a:solidFill>
              <a:latin typeface="Times New Roman"/>
              <a:ea typeface="Times New Roman"/>
              <a:cs typeface="Times New Roman"/>
              <a:sym typeface="Times New Roman"/>
            </a:endParaRPr>
          </a:p>
          <a:p>
            <a:pPr indent="0" lvl="0" marL="9144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Pointers are passed to functions just like any other argument.</a:t>
            </a:r>
            <a:endParaRPr b="0" i="0" sz="2100" u="none" cap="none" strike="noStrike">
              <a:solidFill>
                <a:schemeClr val="dk1"/>
              </a:solidFill>
              <a:latin typeface="Times New Roman"/>
              <a:ea typeface="Times New Roman"/>
              <a:cs typeface="Times New Roman"/>
              <a:sym typeface="Times New Roman"/>
            </a:endParaRPr>
          </a:p>
          <a:p>
            <a:pPr indent="0" lvl="0" marL="9144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Of course, you need to declare the parameters as pointer types. </a:t>
            </a:r>
            <a:endParaRPr b="0" i="0" sz="2100" u="none" cap="none" strike="noStrike">
              <a:solidFill>
                <a:schemeClr val="dk1"/>
              </a:solidFill>
              <a:latin typeface="Times New Roman"/>
              <a:ea typeface="Times New Roman"/>
              <a:cs typeface="Times New Roman"/>
              <a:sym typeface="Times New Roman"/>
            </a:endParaRPr>
          </a:p>
          <a:p>
            <a:pPr indent="0" lvl="0" marL="9144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b="0" i="0" lang="en-US" sz="2100" u="none" cap="none" strike="noStrike">
                <a:solidFill>
                  <a:schemeClr val="dk1"/>
                </a:solidFill>
                <a:latin typeface="Times New Roman"/>
                <a:ea typeface="Times New Roman"/>
                <a:cs typeface="Times New Roman"/>
                <a:sym typeface="Times New Roman"/>
              </a:rPr>
              <a:t>For example, the function swap( ).</a:t>
            </a:r>
            <a:endParaRPr b="0" i="0" sz="2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83052a1459_0_1"/>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227" name="Google Shape;227;g383052a1459_0_1"/>
          <p:cNvGrpSpPr/>
          <p:nvPr/>
        </p:nvGrpSpPr>
        <p:grpSpPr>
          <a:xfrm>
            <a:off x="0" y="14654"/>
            <a:ext cx="12192000" cy="6858000"/>
            <a:chOff x="0" y="0"/>
            <a:chExt cx="12192000" cy="6858000"/>
          </a:xfrm>
        </p:grpSpPr>
        <p:pic>
          <p:nvPicPr>
            <p:cNvPr id="228" name="Google Shape;228;g383052a1459_0_1"/>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229" name="Google Shape;229;g383052a1459_0_1"/>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 name="Google Shape;230;g383052a1459_0_1"/>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31" name="Google Shape;231;g383052a1459_0_1"/>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232" name="Google Shape;232;g383052a1459_0_1"/>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33" name="Google Shape;233;g383052a1459_0_1"/>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234" name="Google Shape;234;g383052a1459_0_1"/>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235" name="Google Shape;235;g383052a1459_0_1"/>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6" name="Google Shape;236;g383052a1459_0_1"/>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 name="Google Shape;237;g383052a1459_0_1"/>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38" name="Google Shape;238;g383052a1459_0_1"/>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239" name="Google Shape;239;g383052a1459_0_1"/>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40" name="Google Shape;240;g383052a1459_0_1"/>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pic>
        <p:nvPicPr>
          <p:cNvPr id="241" name="Google Shape;241;g383052a1459_0_1"/>
          <p:cNvPicPr preferRelativeResize="0"/>
          <p:nvPr/>
        </p:nvPicPr>
        <p:blipFill rotWithShape="1">
          <a:blip r:embed="rId9">
            <a:alphaModFix/>
          </a:blip>
          <a:srcRect b="0" l="0" r="0" t="0"/>
          <a:stretch/>
        </p:blipFill>
        <p:spPr>
          <a:xfrm>
            <a:off x="2188725" y="200625"/>
            <a:ext cx="8517775" cy="3356050"/>
          </a:xfrm>
          <a:prstGeom prst="rect">
            <a:avLst/>
          </a:prstGeom>
          <a:noFill/>
          <a:ln>
            <a:noFill/>
          </a:ln>
        </p:spPr>
      </p:pic>
      <p:sp>
        <p:nvSpPr>
          <p:cNvPr id="242" name="Google Shape;242;g383052a1459_0_1"/>
          <p:cNvSpPr txBox="1"/>
          <p:nvPr/>
        </p:nvSpPr>
        <p:spPr>
          <a:xfrm>
            <a:off x="1532100" y="3757300"/>
            <a:ext cx="10659900" cy="300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50"/>
              <a:buFont typeface="Arial"/>
              <a:buNone/>
            </a:pPr>
            <a:r>
              <a:rPr b="0" i="0" lang="en-US" sz="2650" u="none" cap="none" strike="noStrike">
                <a:solidFill>
                  <a:schemeClr val="dk1"/>
                </a:solidFill>
                <a:latin typeface="Times New Roman"/>
                <a:ea typeface="Times New Roman"/>
                <a:cs typeface="Times New Roman"/>
                <a:sym typeface="Times New Roman"/>
              </a:rPr>
              <a:t>The swap( ) function is able to exchange the values of the two variables pointed to by x and y because their addresses (not their values) are passed.</a:t>
            </a:r>
            <a:endParaRPr b="0" i="0" sz="265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650"/>
              <a:buFont typeface="Arial"/>
              <a:buNone/>
            </a:pPr>
            <a:r>
              <a:t/>
            </a:r>
            <a:endParaRPr b="0" i="0" sz="265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650"/>
              <a:buFont typeface="Arial"/>
              <a:buNone/>
            </a:pPr>
            <a:r>
              <a:rPr b="0" i="0" lang="en-US" sz="2650" u="none" cap="none" strike="noStrike">
                <a:solidFill>
                  <a:schemeClr val="dk1"/>
                </a:solidFill>
                <a:latin typeface="Times New Roman"/>
                <a:ea typeface="Times New Roman"/>
                <a:cs typeface="Times New Roman"/>
                <a:sym typeface="Times New Roman"/>
              </a:rPr>
              <a:t> Within the function, the contents of the variables are accessed using standard pointer operations, and their values are swappe</a:t>
            </a:r>
            <a:r>
              <a:rPr b="0" i="0" lang="en-US" sz="2050" u="none" cap="none" strike="noStrike">
                <a:solidFill>
                  <a:schemeClr val="dk1"/>
                </a:solidFill>
                <a:latin typeface="Times New Roman"/>
                <a:ea typeface="Times New Roman"/>
                <a:cs typeface="Times New Roman"/>
                <a:sym typeface="Times New Roman"/>
              </a:rPr>
              <a:t>d.</a:t>
            </a:r>
            <a:endParaRPr b="0" i="0" sz="20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83071ae8d3_0_6"/>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248" name="Google Shape;248;g383071ae8d3_0_6"/>
          <p:cNvGrpSpPr/>
          <p:nvPr/>
        </p:nvGrpSpPr>
        <p:grpSpPr>
          <a:xfrm>
            <a:off x="0" y="87604"/>
            <a:ext cx="12192000" cy="6858000"/>
            <a:chOff x="0" y="0"/>
            <a:chExt cx="12192000" cy="6858000"/>
          </a:xfrm>
        </p:grpSpPr>
        <p:pic>
          <p:nvPicPr>
            <p:cNvPr id="249" name="Google Shape;249;g383071ae8d3_0_6"/>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250" name="Google Shape;250;g383071ae8d3_0_6"/>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1" name="Google Shape;251;g383071ae8d3_0_6"/>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52" name="Google Shape;252;g383071ae8d3_0_6"/>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253" name="Google Shape;253;g383071ae8d3_0_6"/>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54" name="Google Shape;254;g383071ae8d3_0_6"/>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255" name="Google Shape;255;g383071ae8d3_0_6"/>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256" name="Google Shape;256;g383071ae8d3_0_6"/>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 name="Google Shape;257;g383071ae8d3_0_6"/>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 name="Google Shape;258;g383071ae8d3_0_6"/>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59" name="Google Shape;259;g383071ae8d3_0_6"/>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260" name="Google Shape;260;g383071ae8d3_0_6"/>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61" name="Google Shape;261;g383071ae8d3_0_6"/>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262" name="Google Shape;262;g383071ae8d3_0_6"/>
          <p:cNvSpPr txBox="1"/>
          <p:nvPr/>
        </p:nvSpPr>
        <p:spPr>
          <a:xfrm>
            <a:off x="1623300" y="255350"/>
            <a:ext cx="9976800" cy="111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rPr b="1" i="0" lang="en-US" sz="2050" u="none" cap="none" strike="noStrike">
                <a:solidFill>
                  <a:schemeClr val="dk1"/>
                </a:solidFill>
                <a:latin typeface="Times New Roman"/>
                <a:ea typeface="Times New Roman"/>
                <a:cs typeface="Times New Roman"/>
                <a:sym typeface="Times New Roman"/>
              </a:rPr>
              <a:t>Remember that swap( ) (or any other function that uses pointer parameters) must be called with the addresses of the arguments. The following program shows the correct way to call swap( )</a:t>
            </a:r>
            <a:endParaRPr b="1" i="0" sz="2050" u="none" cap="none" strike="noStrike">
              <a:solidFill>
                <a:schemeClr val="dk1"/>
              </a:solidFill>
              <a:latin typeface="Times New Roman"/>
              <a:ea typeface="Times New Roman"/>
              <a:cs typeface="Times New Roman"/>
              <a:sym typeface="Times New Roman"/>
            </a:endParaRPr>
          </a:p>
        </p:txBody>
      </p:sp>
      <p:sp>
        <p:nvSpPr>
          <p:cNvPr id="263" name="Google Shape;263;g383071ae8d3_0_6"/>
          <p:cNvSpPr txBox="1"/>
          <p:nvPr/>
        </p:nvSpPr>
        <p:spPr>
          <a:xfrm>
            <a:off x="1513875" y="1605064"/>
            <a:ext cx="10678200" cy="527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
        <p:nvSpPr>
          <p:cNvPr id="264" name="Google Shape;264;g383071ae8d3_0_6"/>
          <p:cNvSpPr txBox="1"/>
          <p:nvPr/>
        </p:nvSpPr>
        <p:spPr>
          <a:xfrm>
            <a:off x="1641550" y="5015825"/>
            <a:ext cx="8809500" cy="18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pic>
        <p:nvPicPr>
          <p:cNvPr id="265" name="Google Shape;265;g383071ae8d3_0_6"/>
          <p:cNvPicPr preferRelativeResize="0"/>
          <p:nvPr/>
        </p:nvPicPr>
        <p:blipFill>
          <a:blip r:embed="rId9">
            <a:alphaModFix/>
          </a:blip>
          <a:stretch>
            <a:fillRect/>
          </a:stretch>
        </p:blipFill>
        <p:spPr>
          <a:xfrm>
            <a:off x="1823925" y="1747850"/>
            <a:ext cx="7569350" cy="5110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7a158a6f9e_0_1"/>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271" name="Google Shape;271;g37a158a6f9e_0_1"/>
          <p:cNvGrpSpPr/>
          <p:nvPr/>
        </p:nvGrpSpPr>
        <p:grpSpPr>
          <a:xfrm>
            <a:off x="0" y="87604"/>
            <a:ext cx="12192000" cy="6858000"/>
            <a:chOff x="0" y="0"/>
            <a:chExt cx="12192000" cy="6858000"/>
          </a:xfrm>
        </p:grpSpPr>
        <p:pic>
          <p:nvPicPr>
            <p:cNvPr id="272" name="Google Shape;272;g37a158a6f9e_0_1"/>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273" name="Google Shape;273;g37a158a6f9e_0_1"/>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4" name="Google Shape;274;g37a158a6f9e_0_1"/>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75" name="Google Shape;275;g37a158a6f9e_0_1"/>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276" name="Google Shape;276;g37a158a6f9e_0_1"/>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77" name="Google Shape;277;g37a158a6f9e_0_1"/>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278" name="Google Shape;278;g37a158a6f9e_0_1"/>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279" name="Google Shape;279;g37a158a6f9e_0_1"/>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0" name="Google Shape;280;g37a158a6f9e_0_1"/>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1" name="Google Shape;281;g37a158a6f9e_0_1"/>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82" name="Google Shape;282;g37a158a6f9e_0_1"/>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283" name="Google Shape;283;g37a158a6f9e_0_1"/>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84" name="Google Shape;284;g37a158a6f9e_0_1"/>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285" name="Google Shape;285;g37a158a6f9e_0_1"/>
          <p:cNvSpPr txBox="1"/>
          <p:nvPr/>
        </p:nvSpPr>
        <p:spPr>
          <a:xfrm>
            <a:off x="1623300" y="255350"/>
            <a:ext cx="9976800" cy="111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rPr b="1" i="0" lang="en-US" sz="2050" u="none" cap="none" strike="noStrike">
                <a:solidFill>
                  <a:schemeClr val="dk1"/>
                </a:solidFill>
                <a:latin typeface="Times New Roman"/>
                <a:ea typeface="Times New Roman"/>
                <a:cs typeface="Times New Roman"/>
                <a:sym typeface="Times New Roman"/>
              </a:rPr>
              <a:t>Remember that swap( ) (or any other function that uses pointer parameters) must be called with the addresses of the arguments. The following program shows the correct way to call swap( )</a:t>
            </a:r>
            <a:endParaRPr b="1" i="0" sz="2050" u="none" cap="none" strike="noStrike">
              <a:solidFill>
                <a:schemeClr val="dk1"/>
              </a:solidFill>
              <a:latin typeface="Times New Roman"/>
              <a:ea typeface="Times New Roman"/>
              <a:cs typeface="Times New Roman"/>
              <a:sym typeface="Times New Roman"/>
            </a:endParaRPr>
          </a:p>
        </p:txBody>
      </p:sp>
      <p:sp>
        <p:nvSpPr>
          <p:cNvPr id="286" name="Google Shape;286;g37a158a6f9e_0_1"/>
          <p:cNvSpPr txBox="1"/>
          <p:nvPr/>
        </p:nvSpPr>
        <p:spPr>
          <a:xfrm>
            <a:off x="1513875" y="1605064"/>
            <a:ext cx="10678200" cy="527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
        <p:nvSpPr>
          <p:cNvPr id="287" name="Google Shape;287;g37a158a6f9e_0_1"/>
          <p:cNvSpPr txBox="1"/>
          <p:nvPr/>
        </p:nvSpPr>
        <p:spPr>
          <a:xfrm>
            <a:off x="1641550" y="5015825"/>
            <a:ext cx="10122900" cy="184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rPr lang="en-US" sz="2050">
                <a:solidFill>
                  <a:schemeClr val="dk1"/>
                </a:solidFill>
                <a:latin typeface="Times New Roman"/>
                <a:ea typeface="Times New Roman"/>
                <a:cs typeface="Times New Roman"/>
                <a:sym typeface="Times New Roman"/>
              </a:rPr>
              <a:t> In the program, the variable i is assigned the value 10, and j is assigned the value 20. Then swap( ) is called with the addresses of i and j. (The unary operator &amp; is used to produce the address of the variables.) Therefore, the addresses of i and j, not their values, are passed into the function swap( ).</a:t>
            </a:r>
            <a:endParaRPr b="0" i="0" sz="2050" u="none" cap="none" strike="noStrike">
              <a:solidFill>
                <a:schemeClr val="dk1"/>
              </a:solidFill>
              <a:latin typeface="Times New Roman"/>
              <a:ea typeface="Times New Roman"/>
              <a:cs typeface="Times New Roman"/>
              <a:sym typeface="Times New Roman"/>
            </a:endParaRPr>
          </a:p>
        </p:txBody>
      </p:sp>
      <p:pic>
        <p:nvPicPr>
          <p:cNvPr id="288" name="Google Shape;288;g37a158a6f9e_0_1"/>
          <p:cNvPicPr preferRelativeResize="0"/>
          <p:nvPr/>
        </p:nvPicPr>
        <p:blipFill>
          <a:blip r:embed="rId9">
            <a:alphaModFix/>
          </a:blip>
          <a:stretch>
            <a:fillRect/>
          </a:stretch>
        </p:blipFill>
        <p:spPr>
          <a:xfrm>
            <a:off x="1956925" y="1368050"/>
            <a:ext cx="8494125" cy="3203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82a10cad02_0_219"/>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294" name="Google Shape;294;g382a10cad02_0_219"/>
          <p:cNvGrpSpPr/>
          <p:nvPr/>
        </p:nvGrpSpPr>
        <p:grpSpPr>
          <a:xfrm>
            <a:off x="0" y="14654"/>
            <a:ext cx="12192000" cy="6858000"/>
            <a:chOff x="0" y="0"/>
            <a:chExt cx="12192000" cy="6858000"/>
          </a:xfrm>
        </p:grpSpPr>
        <p:pic>
          <p:nvPicPr>
            <p:cNvPr id="295" name="Google Shape;295;g382a10cad02_0_219"/>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296" name="Google Shape;296;g382a10cad02_0_219"/>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7" name="Google Shape;297;g382a10cad02_0_219"/>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98" name="Google Shape;298;g382a10cad02_0_219"/>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299" name="Google Shape;299;g382a10cad02_0_219"/>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00" name="Google Shape;300;g382a10cad02_0_219"/>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301" name="Google Shape;301;g382a10cad02_0_219"/>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302" name="Google Shape;302;g382a10cad02_0_219"/>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3" name="Google Shape;303;g382a10cad02_0_219"/>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4" name="Google Shape;304;g382a10cad02_0_219"/>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05" name="Google Shape;305;g382a10cad02_0_219"/>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306" name="Google Shape;306;g382a10cad02_0_219"/>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07" name="Google Shape;307;g382a10cad02_0_219"/>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308" name="Google Shape;308;g382a10cad02_0_219"/>
          <p:cNvSpPr txBox="1"/>
          <p:nvPr/>
        </p:nvSpPr>
        <p:spPr>
          <a:xfrm>
            <a:off x="1513875" y="237100"/>
            <a:ext cx="9283800" cy="62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2750" u="none" cap="none" strike="noStrike">
                <a:solidFill>
                  <a:srgbClr val="FF0000"/>
                </a:solidFill>
                <a:latin typeface="Times New Roman"/>
                <a:ea typeface="Times New Roman"/>
                <a:cs typeface="Times New Roman"/>
                <a:sym typeface="Times New Roman"/>
              </a:rPr>
              <a:t>Calling Functions with Arrays</a:t>
            </a:r>
            <a:endParaRPr b="1" i="0" sz="2750" u="none" cap="none" strike="noStrike">
              <a:solidFill>
                <a:srgbClr val="FF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
        <p:nvSpPr>
          <p:cNvPr id="309" name="Google Shape;309;g382a10cad02_0_219"/>
          <p:cNvSpPr txBox="1"/>
          <p:nvPr/>
        </p:nvSpPr>
        <p:spPr>
          <a:xfrm>
            <a:off x="1568575" y="857250"/>
            <a:ext cx="10305300" cy="5818500"/>
          </a:xfrm>
          <a:prstGeom prst="rect">
            <a:avLst/>
          </a:prstGeom>
          <a:noFill/>
          <a:ln>
            <a:noFill/>
          </a:ln>
        </p:spPr>
        <p:txBody>
          <a:bodyPr anchorCtr="0" anchor="t" bIns="91425" lIns="91425" spcFirstLastPara="1" rIns="91425" wrap="square" tIns="91425">
            <a:noAutofit/>
          </a:bodyPr>
          <a:lstStyle/>
          <a:p>
            <a:pPr indent="-358775" lvl="0" marL="457200" marR="0" rtl="0" algn="l">
              <a:lnSpc>
                <a:spcPct val="100000"/>
              </a:lnSpc>
              <a:spcBef>
                <a:spcPts val="0"/>
              </a:spcBef>
              <a:spcAft>
                <a:spcPts val="0"/>
              </a:spcAft>
              <a:buClr>
                <a:schemeClr val="dk1"/>
              </a:buClr>
              <a:buSzPts val="2050"/>
              <a:buFont typeface="Times New Roman"/>
              <a:buChar char="●"/>
            </a:pPr>
            <a:r>
              <a:rPr b="0" i="0" lang="en-US" sz="2050" u="none" cap="none" strike="noStrike">
                <a:solidFill>
                  <a:schemeClr val="dk1"/>
                </a:solidFill>
                <a:latin typeface="Times New Roman"/>
                <a:ea typeface="Times New Roman"/>
                <a:cs typeface="Times New Roman"/>
                <a:sym typeface="Times New Roman"/>
              </a:rPr>
              <a:t> </a:t>
            </a:r>
            <a:r>
              <a:rPr i="0" lang="en-US" sz="2050" u="none" cap="none" strike="noStrike">
                <a:solidFill>
                  <a:schemeClr val="dk1"/>
                </a:solidFill>
                <a:latin typeface="Times New Roman"/>
                <a:ea typeface="Times New Roman"/>
                <a:cs typeface="Times New Roman"/>
                <a:sym typeface="Times New Roman"/>
              </a:rPr>
              <a:t>When an array is used as a function argument, its address is passed to a function.</a:t>
            </a:r>
            <a:endParaRPr i="0" sz="205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50"/>
              <a:buFont typeface="Arial"/>
              <a:buNone/>
            </a:pPr>
            <a:r>
              <a:t/>
            </a:r>
            <a:endParaRPr i="0" sz="2050" u="none" cap="none" strike="noStrike">
              <a:solidFill>
                <a:schemeClr val="dk1"/>
              </a:solidFill>
              <a:latin typeface="Times New Roman"/>
              <a:ea typeface="Times New Roman"/>
              <a:cs typeface="Times New Roman"/>
              <a:sym typeface="Times New Roman"/>
            </a:endParaRPr>
          </a:p>
          <a:p>
            <a:pPr indent="-358775" lvl="0" marL="457200" marR="0" rtl="0" algn="l">
              <a:lnSpc>
                <a:spcPct val="100000"/>
              </a:lnSpc>
              <a:spcBef>
                <a:spcPts val="0"/>
              </a:spcBef>
              <a:spcAft>
                <a:spcPts val="0"/>
              </a:spcAft>
              <a:buClr>
                <a:schemeClr val="dk1"/>
              </a:buClr>
              <a:buSzPts val="2050"/>
              <a:buFont typeface="Times New Roman"/>
              <a:buChar char="●"/>
            </a:pPr>
            <a:r>
              <a:rPr i="0" lang="en-US" sz="2050" u="none" cap="none" strike="noStrike">
                <a:solidFill>
                  <a:schemeClr val="dk1"/>
                </a:solidFill>
                <a:latin typeface="Times New Roman"/>
                <a:ea typeface="Times New Roman"/>
                <a:cs typeface="Times New Roman"/>
                <a:sym typeface="Times New Roman"/>
              </a:rPr>
              <a:t> This is an exception to the call-by-value parameter passing convention.</a:t>
            </a:r>
            <a:endParaRPr i="0" sz="205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50"/>
              <a:buFont typeface="Arial"/>
              <a:buNone/>
            </a:pPr>
            <a:r>
              <a:t/>
            </a:r>
            <a:endParaRPr i="0" sz="2050" u="none" cap="none" strike="noStrike">
              <a:solidFill>
                <a:schemeClr val="dk1"/>
              </a:solidFill>
              <a:latin typeface="Times New Roman"/>
              <a:ea typeface="Times New Roman"/>
              <a:cs typeface="Times New Roman"/>
              <a:sym typeface="Times New Roman"/>
            </a:endParaRPr>
          </a:p>
          <a:p>
            <a:pPr indent="-358775" lvl="0" marL="457200" marR="0" rtl="0" algn="l">
              <a:lnSpc>
                <a:spcPct val="100000"/>
              </a:lnSpc>
              <a:spcBef>
                <a:spcPts val="0"/>
              </a:spcBef>
              <a:spcAft>
                <a:spcPts val="0"/>
              </a:spcAft>
              <a:buClr>
                <a:schemeClr val="dk1"/>
              </a:buClr>
              <a:buSzPts val="2050"/>
              <a:buFont typeface="Times New Roman"/>
              <a:buChar char="●"/>
            </a:pPr>
            <a:r>
              <a:rPr i="0" lang="en-US" sz="2050" u="none" cap="none" strike="noStrike">
                <a:solidFill>
                  <a:schemeClr val="dk1"/>
                </a:solidFill>
                <a:latin typeface="Times New Roman"/>
                <a:ea typeface="Times New Roman"/>
                <a:cs typeface="Times New Roman"/>
                <a:sym typeface="Times New Roman"/>
              </a:rPr>
              <a:t> In this case, the code inside the function is operating on, and potentially altering, the actual                                                             contents of the array used to call the function.</a:t>
            </a:r>
            <a:endParaRPr i="0" sz="2050" u="none" cap="none" strike="noStrike">
              <a:solidFill>
                <a:schemeClr val="dk1"/>
              </a:solidFill>
              <a:latin typeface="Times New Roman"/>
              <a:ea typeface="Times New Roman"/>
              <a:cs typeface="Times New Roman"/>
              <a:sym typeface="Times New Roman"/>
            </a:endParaRPr>
          </a:p>
          <a:p>
            <a:pPr indent="-358775" lvl="0" marL="457200" marR="0" rtl="0" algn="l">
              <a:lnSpc>
                <a:spcPct val="100000"/>
              </a:lnSpc>
              <a:spcBef>
                <a:spcPts val="0"/>
              </a:spcBef>
              <a:spcAft>
                <a:spcPts val="0"/>
              </a:spcAft>
              <a:buClr>
                <a:schemeClr val="dk1"/>
              </a:buClr>
              <a:buSzPts val="2050"/>
              <a:buFont typeface="Times New Roman"/>
              <a:buChar char="●"/>
            </a:pPr>
            <a:r>
              <a:t/>
            </a:r>
            <a:endParaRPr i="0" sz="205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50"/>
              <a:buFont typeface="Arial"/>
              <a:buNone/>
            </a:pPr>
            <a:r>
              <a:t/>
            </a:r>
            <a:endParaRPr i="0" sz="2050" u="none" cap="none" strike="noStrike">
              <a:solidFill>
                <a:schemeClr val="dk1"/>
              </a:solidFill>
              <a:latin typeface="Times New Roman"/>
              <a:ea typeface="Times New Roman"/>
              <a:cs typeface="Times New Roman"/>
              <a:sym typeface="Times New Roman"/>
            </a:endParaRPr>
          </a:p>
          <a:p>
            <a:pPr indent="-358775" lvl="0" marL="457200" marR="0" rtl="0" algn="l">
              <a:lnSpc>
                <a:spcPct val="100000"/>
              </a:lnSpc>
              <a:spcBef>
                <a:spcPts val="0"/>
              </a:spcBef>
              <a:spcAft>
                <a:spcPts val="0"/>
              </a:spcAft>
              <a:buClr>
                <a:schemeClr val="dk1"/>
              </a:buClr>
              <a:buSzPts val="2050"/>
              <a:buFont typeface="Times New Roman"/>
              <a:buChar char="●"/>
            </a:pPr>
            <a:r>
              <a:rPr i="0" lang="en-US" sz="2050" u="none" cap="none" strike="noStrike">
                <a:solidFill>
                  <a:schemeClr val="dk1"/>
                </a:solidFill>
                <a:latin typeface="Times New Roman"/>
                <a:ea typeface="Times New Roman"/>
                <a:cs typeface="Times New Roman"/>
                <a:sym typeface="Times New Roman"/>
              </a:rPr>
              <a:t> For example, consider the function print_upper( ), which prints its string argument in uppercase</a:t>
            </a:r>
            <a:endParaRPr i="0" sz="2050" u="none" cap="none" strike="noStrike">
              <a:solidFill>
                <a:schemeClr val="dk1"/>
              </a:solidFill>
              <a:latin typeface="Times New Roman"/>
              <a:ea typeface="Times New Roman"/>
              <a:cs typeface="Times New Roman"/>
              <a:sym typeface="Times New Roman"/>
            </a:endParaRPr>
          </a:p>
          <a:p>
            <a:pPr indent="-358775" lvl="0" marL="457200" marR="0" rtl="0" algn="l">
              <a:lnSpc>
                <a:spcPct val="100000"/>
              </a:lnSpc>
              <a:spcBef>
                <a:spcPts val="0"/>
              </a:spcBef>
              <a:spcAft>
                <a:spcPts val="0"/>
              </a:spcAft>
              <a:buClr>
                <a:schemeClr val="dk1"/>
              </a:buClr>
              <a:buSzPts val="2050"/>
              <a:buFont typeface="Times New Roman"/>
              <a:buChar char="●"/>
            </a:pPr>
            <a:r>
              <a:t/>
            </a:r>
            <a:endParaRPr i="0" sz="2050" u="none" cap="none" strike="noStrike">
              <a:solidFill>
                <a:schemeClr val="dk1"/>
              </a:solidFill>
              <a:latin typeface="Times New Roman"/>
              <a:ea typeface="Times New Roman"/>
              <a:cs typeface="Times New Roman"/>
              <a:sym typeface="Times New Roman"/>
            </a:endParaRPr>
          </a:p>
        </p:txBody>
      </p:sp>
      <p:sp>
        <p:nvSpPr>
          <p:cNvPr id="310" name="Google Shape;310;g382a10cad02_0_219"/>
          <p:cNvSpPr txBox="1"/>
          <p:nvPr/>
        </p:nvSpPr>
        <p:spPr>
          <a:xfrm>
            <a:off x="1878650" y="2845350"/>
            <a:ext cx="9502800" cy="355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Arial"/>
                <a:ea typeface="Arial"/>
                <a:cs typeface="Arial"/>
                <a:sym typeface="Arial"/>
              </a:rPr>
              <a:t>   when we pass </a:t>
            </a:r>
            <a:r>
              <a:rPr b="1" i="0" lang="en-US" sz="2000" u="none" cap="none" strike="noStrike">
                <a:solidFill>
                  <a:schemeClr val="dk1"/>
                </a:solidFill>
                <a:latin typeface="Arial"/>
                <a:ea typeface="Arial"/>
                <a:cs typeface="Arial"/>
                <a:sym typeface="Arial"/>
              </a:rPr>
              <a:t>variables</a:t>
            </a:r>
            <a:r>
              <a:rPr b="0" i="0" lang="en-US" sz="2000" u="none" cap="none" strike="noStrike">
                <a:solidFill>
                  <a:schemeClr val="dk1"/>
                </a:solidFill>
                <a:latin typeface="Arial"/>
                <a:ea typeface="Arial"/>
                <a:cs typeface="Arial"/>
                <a:sym typeface="Arial"/>
              </a:rPr>
              <a:t> to a function in C, </a:t>
            </a:r>
            <a:r>
              <a:rPr b="1" i="0" lang="en-US" sz="2000" u="none" cap="none" strike="noStrike">
                <a:solidFill>
                  <a:schemeClr val="dk1"/>
                </a:solidFill>
                <a:latin typeface="Arial"/>
                <a:ea typeface="Arial"/>
                <a:cs typeface="Arial"/>
                <a:sym typeface="Arial"/>
              </a:rPr>
              <a:t>values</a:t>
            </a:r>
            <a:r>
              <a:rPr b="0" i="0" lang="en-US" sz="2000" u="none" cap="none" strike="noStrike">
                <a:solidFill>
                  <a:schemeClr val="dk1"/>
                </a:solidFill>
                <a:latin typeface="Arial"/>
                <a:ea typeface="Arial"/>
                <a:cs typeface="Arial"/>
                <a:sym typeface="Arial"/>
              </a:rPr>
              <a:t> are copied (Call by Value).</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lang="en-US" sz="2000">
                <a:solidFill>
                  <a:schemeClr val="dk1"/>
                </a:solidFill>
              </a:rPr>
              <a:t>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lang="en-US" sz="2000">
                <a:solidFill>
                  <a:schemeClr val="dk1"/>
                </a:solidFill>
              </a:rPr>
              <a:t>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 </a:t>
            </a:r>
            <a:r>
              <a:rPr i="0" lang="en-US" sz="2000" u="none" cap="none" strike="noStrike">
                <a:solidFill>
                  <a:schemeClr val="dk1"/>
                </a:solidFill>
                <a:latin typeface="Times New Roman"/>
                <a:ea typeface="Times New Roman"/>
                <a:cs typeface="Times New Roman"/>
                <a:sym typeface="Times New Roman"/>
              </a:rPr>
              <a:t> But with </a:t>
            </a:r>
            <a:r>
              <a:rPr b="1" i="0" lang="en-US" sz="2000" u="none" cap="none" strike="noStrike">
                <a:solidFill>
                  <a:schemeClr val="dk1"/>
                </a:solidFill>
                <a:latin typeface="Times New Roman"/>
                <a:ea typeface="Times New Roman"/>
                <a:cs typeface="Times New Roman"/>
                <a:sym typeface="Times New Roman"/>
              </a:rPr>
              <a:t>arrays</a:t>
            </a:r>
            <a:r>
              <a:rPr i="0" lang="en-US" sz="2000" u="none" cap="none" strike="noStrike">
                <a:solidFill>
                  <a:schemeClr val="dk1"/>
                </a:solidFill>
                <a:latin typeface="Times New Roman"/>
                <a:ea typeface="Times New Roman"/>
                <a:cs typeface="Times New Roman"/>
                <a:sym typeface="Times New Roman"/>
              </a:rPr>
              <a:t>, the </a:t>
            </a:r>
            <a:r>
              <a:rPr b="1" i="0" lang="en-US" sz="2000" u="none" cap="none" strike="noStrike">
                <a:solidFill>
                  <a:schemeClr val="dk1"/>
                </a:solidFill>
                <a:latin typeface="Times New Roman"/>
                <a:ea typeface="Times New Roman"/>
                <a:cs typeface="Times New Roman"/>
                <a:sym typeface="Times New Roman"/>
              </a:rPr>
              <a:t>address</a:t>
            </a:r>
            <a:r>
              <a:rPr i="0" lang="en-US" sz="2000" u="none" cap="none" strike="noStrike">
                <a:solidFill>
                  <a:schemeClr val="dk1"/>
                </a:solidFill>
                <a:latin typeface="Times New Roman"/>
                <a:ea typeface="Times New Roman"/>
                <a:cs typeface="Times New Roman"/>
                <a:sym typeface="Times New Roman"/>
              </a:rPr>
              <a:t> of the first element is passed → so the function can</a:t>
            </a:r>
            <a:endParaRPr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i="0" lang="en-US" sz="2000" u="none" cap="none" strike="noStrike">
                <a:solidFill>
                  <a:schemeClr val="dk1"/>
                </a:solidFill>
                <a:latin typeface="Times New Roman"/>
                <a:ea typeface="Times New Roman"/>
                <a:cs typeface="Times New Roman"/>
                <a:sym typeface="Times New Roman"/>
              </a:rPr>
              <a:t>  directly work on the original array.</a:t>
            </a:r>
            <a:br>
              <a:rPr i="0" lang="en-US" sz="2000" u="none" cap="none" strike="noStrike">
                <a:solidFill>
                  <a:schemeClr val="dk1"/>
                </a:solidFill>
                <a:latin typeface="Times New Roman"/>
                <a:ea typeface="Times New Roman"/>
                <a:cs typeface="Times New Roman"/>
                <a:sym typeface="Times New Roman"/>
              </a:rPr>
            </a:br>
            <a:r>
              <a:rPr i="0" lang="en-US" sz="2000" u="none" cap="none" strike="noStrike">
                <a:solidFill>
                  <a:schemeClr val="dk1"/>
                </a:solidFill>
                <a:latin typeface="Times New Roman"/>
                <a:ea typeface="Times New Roman"/>
                <a:cs typeface="Times New Roman"/>
                <a:sym typeface="Times New Roman"/>
              </a:rPr>
              <a:t> </a:t>
            </a:r>
            <a:endParaRPr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950"/>
              <a:buFont typeface="Arial"/>
              <a:buNone/>
            </a:pPr>
            <a:r>
              <a:t/>
            </a:r>
            <a:endParaRPr b="0" i="0" sz="29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83071ae8d3_0_26"/>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316" name="Google Shape;316;g383071ae8d3_0_26"/>
          <p:cNvGrpSpPr/>
          <p:nvPr/>
        </p:nvGrpSpPr>
        <p:grpSpPr>
          <a:xfrm>
            <a:off x="0" y="14654"/>
            <a:ext cx="12192000" cy="6858000"/>
            <a:chOff x="0" y="0"/>
            <a:chExt cx="12192000" cy="6858000"/>
          </a:xfrm>
        </p:grpSpPr>
        <p:pic>
          <p:nvPicPr>
            <p:cNvPr id="317" name="Google Shape;317;g383071ae8d3_0_26"/>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318" name="Google Shape;318;g383071ae8d3_0_26"/>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 name="Google Shape;319;g383071ae8d3_0_26"/>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20" name="Google Shape;320;g383071ae8d3_0_26"/>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321" name="Google Shape;321;g383071ae8d3_0_26"/>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22" name="Google Shape;322;g383071ae8d3_0_26"/>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323" name="Google Shape;323;g383071ae8d3_0_26"/>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324" name="Google Shape;324;g383071ae8d3_0_26"/>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 name="Google Shape;325;g383071ae8d3_0_26"/>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 name="Google Shape;326;g383071ae8d3_0_26"/>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27" name="Google Shape;327;g383071ae8d3_0_26"/>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328" name="Google Shape;328;g383071ae8d3_0_26"/>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29" name="Google Shape;329;g383071ae8d3_0_26"/>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330" name="Google Shape;330;g383071ae8d3_0_26"/>
          <p:cNvSpPr txBox="1"/>
          <p:nvPr/>
        </p:nvSpPr>
        <p:spPr>
          <a:xfrm>
            <a:off x="1641550" y="0"/>
            <a:ext cx="10195800" cy="3357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2100"/>
              <a:buFont typeface="Arial"/>
              <a:buNone/>
            </a:pPr>
            <a:r>
              <a:rPr b="1" i="0" lang="en-US" sz="2100" u="none" cap="none" strike="noStrike">
                <a:solidFill>
                  <a:srgbClr val="FF0000"/>
                </a:solidFill>
                <a:latin typeface="Arial"/>
                <a:ea typeface="Arial"/>
                <a:cs typeface="Arial"/>
                <a:sym typeface="Arial"/>
              </a:rPr>
              <a:t>What happens when we pass an array to a function?</a:t>
            </a:r>
            <a:endParaRPr b="1" i="0" sz="2100" u="none" cap="none" strike="noStrike">
              <a:solidFill>
                <a:srgbClr val="FF0000"/>
              </a:solidFill>
              <a:latin typeface="Arial"/>
              <a:ea typeface="Arial"/>
              <a:cs typeface="Arial"/>
              <a:sym typeface="Arial"/>
            </a:endParaRPr>
          </a:p>
          <a:p>
            <a:pPr indent="-349250" lvl="0" marL="457200" marR="0" rtl="0" algn="l">
              <a:lnSpc>
                <a:spcPct val="115000"/>
              </a:lnSpc>
              <a:spcBef>
                <a:spcPts val="120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Normally, when we pass variables (</a:t>
            </a:r>
            <a:r>
              <a:rPr b="0" i="0" lang="en-US" sz="1900" u="none" cap="none" strike="noStrike">
                <a:solidFill>
                  <a:schemeClr val="dk1"/>
                </a:solidFill>
                <a:highlight>
                  <a:srgbClr val="FFFF00"/>
                </a:highlight>
                <a:latin typeface="Arial"/>
                <a:ea typeface="Arial"/>
                <a:cs typeface="Arial"/>
                <a:sym typeface="Arial"/>
              </a:rPr>
              <a:t>like </a:t>
            </a:r>
            <a:r>
              <a:rPr b="0" i="0" lang="en-US" sz="1900" u="none" cap="none" strike="noStrike">
                <a:solidFill>
                  <a:srgbClr val="188038"/>
                </a:solidFill>
                <a:highlight>
                  <a:srgbClr val="FFFF00"/>
                </a:highlight>
                <a:latin typeface="Roboto Mono"/>
                <a:ea typeface="Roboto Mono"/>
                <a:cs typeface="Roboto Mono"/>
                <a:sym typeface="Roboto Mono"/>
              </a:rPr>
              <a:t>int x</a:t>
            </a:r>
            <a:r>
              <a:rPr b="0" i="0" lang="en-US" sz="1900" u="none" cap="none" strike="noStrike">
                <a:solidFill>
                  <a:schemeClr val="dk1"/>
                </a:solidFill>
                <a:highlight>
                  <a:srgbClr val="FFFF00"/>
                </a:highlight>
                <a:latin typeface="Arial"/>
                <a:ea typeface="Arial"/>
                <a:cs typeface="Arial"/>
                <a:sym typeface="Arial"/>
              </a:rPr>
              <a:t>),</a:t>
            </a:r>
            <a:r>
              <a:rPr b="0" i="0" lang="en-US" sz="1900" u="none" cap="none" strike="noStrike">
                <a:solidFill>
                  <a:schemeClr val="dk1"/>
                </a:solidFill>
                <a:latin typeface="Arial"/>
                <a:ea typeface="Arial"/>
                <a:cs typeface="Arial"/>
                <a:sym typeface="Arial"/>
              </a:rPr>
              <a:t> only a </a:t>
            </a:r>
            <a:r>
              <a:rPr b="1" i="0" lang="en-US" sz="1900" u="none" cap="none" strike="noStrike">
                <a:solidFill>
                  <a:schemeClr val="dk1"/>
                </a:solidFill>
                <a:latin typeface="Arial"/>
                <a:ea typeface="Arial"/>
                <a:cs typeface="Arial"/>
                <a:sym typeface="Arial"/>
              </a:rPr>
              <a:t>copy of the value</a:t>
            </a:r>
            <a:r>
              <a:rPr b="0" i="0" lang="en-US" sz="1900" u="none" cap="none" strike="noStrike">
                <a:solidFill>
                  <a:schemeClr val="dk1"/>
                </a:solidFill>
                <a:latin typeface="Arial"/>
                <a:ea typeface="Arial"/>
                <a:cs typeface="Arial"/>
                <a:sym typeface="Arial"/>
              </a:rPr>
              <a:t> is passed (call by value).</a:t>
            </a:r>
            <a:br>
              <a:rPr b="0" i="0" lang="en-US" sz="1900" u="none" cap="none" strike="noStrike">
                <a:solidFill>
                  <a:schemeClr val="dk1"/>
                </a:solidFill>
                <a:latin typeface="Arial"/>
                <a:ea typeface="Arial"/>
                <a:cs typeface="Arial"/>
                <a:sym typeface="Arial"/>
              </a:rPr>
            </a:b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But with arrays, </a:t>
            </a:r>
            <a:r>
              <a:rPr b="1" i="0" lang="en-US" sz="1900" u="none" cap="none" strike="noStrike">
                <a:solidFill>
                  <a:schemeClr val="dk1"/>
                </a:solidFill>
                <a:latin typeface="Arial"/>
                <a:ea typeface="Arial"/>
                <a:cs typeface="Arial"/>
                <a:sym typeface="Arial"/>
              </a:rPr>
              <a:t>the base address (location in memory) is passed</a:t>
            </a:r>
            <a:r>
              <a:rPr b="0" i="0" lang="en-US" sz="1900" u="none" cap="none" strike="noStrike">
                <a:solidFill>
                  <a:schemeClr val="dk1"/>
                </a:solidFill>
                <a:latin typeface="Arial"/>
                <a:ea typeface="Arial"/>
                <a:cs typeface="Arial"/>
                <a:sym typeface="Arial"/>
              </a:rPr>
              <a:t> to the function.</a:t>
            </a:r>
            <a:br>
              <a:rPr b="0" i="0" lang="en-US" sz="1900" u="none" cap="none" strike="noStrike">
                <a:solidFill>
                  <a:schemeClr val="dk1"/>
                </a:solidFill>
                <a:latin typeface="Arial"/>
                <a:ea typeface="Arial"/>
                <a:cs typeface="Arial"/>
                <a:sym typeface="Arial"/>
              </a:rPr>
            </a:b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This means the function can </a:t>
            </a:r>
            <a:r>
              <a:rPr b="1" i="0" lang="en-US" sz="1900" u="none" cap="none" strike="noStrike">
                <a:solidFill>
                  <a:schemeClr val="dk1"/>
                </a:solidFill>
                <a:latin typeface="Arial"/>
                <a:ea typeface="Arial"/>
                <a:cs typeface="Arial"/>
                <a:sym typeface="Arial"/>
              </a:rPr>
              <a:t>access the original array elements directly</a:t>
            </a:r>
            <a:r>
              <a:rPr b="0" i="0" lang="en-US" sz="1900" u="none" cap="none" strike="noStrike">
                <a:solidFill>
                  <a:schemeClr val="dk1"/>
                </a:solidFill>
                <a:latin typeface="Arial"/>
                <a:ea typeface="Arial"/>
                <a:cs typeface="Arial"/>
                <a:sym typeface="Arial"/>
              </a:rPr>
              <a:t>.</a:t>
            </a:r>
            <a:br>
              <a:rPr b="0" i="0" lang="en-US" sz="1900" u="none" cap="none" strike="noStrike">
                <a:solidFill>
                  <a:schemeClr val="dk1"/>
                </a:solidFill>
                <a:latin typeface="Arial"/>
                <a:ea typeface="Arial"/>
                <a:cs typeface="Arial"/>
                <a:sym typeface="Arial"/>
              </a:rPr>
            </a:b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So, any changes made inside the function will </a:t>
            </a:r>
            <a:r>
              <a:rPr b="1" i="0" lang="en-US" sz="1900" u="none" cap="none" strike="noStrike">
                <a:solidFill>
                  <a:schemeClr val="dk1"/>
                </a:solidFill>
                <a:latin typeface="Arial"/>
                <a:ea typeface="Arial"/>
                <a:cs typeface="Arial"/>
                <a:sym typeface="Arial"/>
              </a:rPr>
              <a:t>change the actual array in main()</a:t>
            </a:r>
            <a:r>
              <a:rPr b="0" i="0" lang="en-US" sz="1900" u="none" cap="none" strike="noStrike">
                <a:solidFill>
                  <a:schemeClr val="dk1"/>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7a158a6f9e_0_25"/>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336" name="Google Shape;336;g37a158a6f9e_0_25"/>
          <p:cNvGrpSpPr/>
          <p:nvPr/>
        </p:nvGrpSpPr>
        <p:grpSpPr>
          <a:xfrm>
            <a:off x="0" y="14654"/>
            <a:ext cx="12192000" cy="6858000"/>
            <a:chOff x="0" y="0"/>
            <a:chExt cx="12192000" cy="6858000"/>
          </a:xfrm>
        </p:grpSpPr>
        <p:pic>
          <p:nvPicPr>
            <p:cNvPr id="337" name="Google Shape;337;g37a158a6f9e_0_25"/>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338" name="Google Shape;338;g37a158a6f9e_0_25"/>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9" name="Google Shape;339;g37a158a6f9e_0_25"/>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40" name="Google Shape;340;g37a158a6f9e_0_25"/>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341" name="Google Shape;341;g37a158a6f9e_0_25"/>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42" name="Google Shape;342;g37a158a6f9e_0_25"/>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343" name="Google Shape;343;g37a158a6f9e_0_25"/>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344" name="Google Shape;344;g37a158a6f9e_0_25"/>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5" name="Google Shape;345;g37a158a6f9e_0_25"/>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6" name="Google Shape;346;g37a158a6f9e_0_25"/>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47" name="Google Shape;347;g37a158a6f9e_0_25"/>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348" name="Google Shape;348;g37a158a6f9e_0_25"/>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49" name="Google Shape;349;g37a158a6f9e_0_25"/>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350" name="Google Shape;350;g37a158a6f9e_0_25"/>
          <p:cNvSpPr txBox="1"/>
          <p:nvPr/>
        </p:nvSpPr>
        <p:spPr>
          <a:xfrm>
            <a:off x="1513875" y="237100"/>
            <a:ext cx="9283800" cy="62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2750" u="none" cap="none" strike="noStrike">
                <a:solidFill>
                  <a:srgbClr val="FF0000"/>
                </a:solidFill>
                <a:latin typeface="Times New Roman"/>
                <a:ea typeface="Times New Roman"/>
                <a:cs typeface="Times New Roman"/>
                <a:sym typeface="Times New Roman"/>
              </a:rPr>
              <a:t>Calling Functions with Arrays</a:t>
            </a:r>
            <a:endParaRPr b="1" i="0" sz="2750" u="none" cap="none" strike="noStrike">
              <a:solidFill>
                <a:srgbClr val="FF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
        <p:nvSpPr>
          <p:cNvPr id="351" name="Google Shape;351;g37a158a6f9e_0_25"/>
          <p:cNvSpPr txBox="1"/>
          <p:nvPr/>
        </p:nvSpPr>
        <p:spPr>
          <a:xfrm>
            <a:off x="1568575" y="857250"/>
            <a:ext cx="10305300" cy="5818500"/>
          </a:xfrm>
          <a:prstGeom prst="rect">
            <a:avLst/>
          </a:prstGeom>
          <a:noFill/>
          <a:ln>
            <a:noFill/>
          </a:ln>
        </p:spPr>
        <p:txBody>
          <a:bodyPr anchorCtr="0" anchor="t" bIns="91425" lIns="91425" spcFirstLastPara="1" rIns="91425" wrap="square" tIns="91425">
            <a:noAutofit/>
          </a:bodyPr>
          <a:lstStyle/>
          <a:p>
            <a:pPr indent="-358775" lvl="0" marL="457200" marR="0" rtl="0" algn="l">
              <a:lnSpc>
                <a:spcPct val="100000"/>
              </a:lnSpc>
              <a:spcBef>
                <a:spcPts val="0"/>
              </a:spcBef>
              <a:spcAft>
                <a:spcPts val="0"/>
              </a:spcAft>
              <a:buClr>
                <a:schemeClr val="dk1"/>
              </a:buClr>
              <a:buSzPts val="2050"/>
              <a:buFont typeface="Times New Roman"/>
              <a:buChar char="●"/>
            </a:pPr>
            <a:r>
              <a:rPr b="0" i="0" lang="en-US" sz="2050" u="none" cap="none" strike="noStrike">
                <a:solidFill>
                  <a:schemeClr val="dk1"/>
                </a:solidFill>
                <a:latin typeface="Times New Roman"/>
                <a:ea typeface="Times New Roman"/>
                <a:cs typeface="Times New Roman"/>
                <a:sym typeface="Times New Roman"/>
              </a:rPr>
              <a:t> </a:t>
            </a:r>
            <a:r>
              <a:rPr i="0" lang="en-US" sz="2050" u="none" cap="none" strike="noStrike">
                <a:solidFill>
                  <a:schemeClr val="dk1"/>
                </a:solidFill>
                <a:latin typeface="Times New Roman"/>
                <a:ea typeface="Times New Roman"/>
                <a:cs typeface="Times New Roman"/>
                <a:sym typeface="Times New Roman"/>
              </a:rPr>
              <a:t>When an array is used as a function argument, its address is passed to a function.</a:t>
            </a:r>
            <a:endParaRPr i="0" sz="205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50"/>
              <a:buFont typeface="Arial"/>
              <a:buNone/>
            </a:pPr>
            <a:r>
              <a:t/>
            </a:r>
            <a:endParaRPr i="0" sz="2050" u="none" cap="none" strike="noStrike">
              <a:solidFill>
                <a:schemeClr val="dk1"/>
              </a:solidFill>
              <a:latin typeface="Times New Roman"/>
              <a:ea typeface="Times New Roman"/>
              <a:cs typeface="Times New Roman"/>
              <a:sym typeface="Times New Roman"/>
            </a:endParaRPr>
          </a:p>
          <a:p>
            <a:pPr indent="-358775" lvl="0" marL="457200" marR="0" rtl="0" algn="l">
              <a:lnSpc>
                <a:spcPct val="100000"/>
              </a:lnSpc>
              <a:spcBef>
                <a:spcPts val="0"/>
              </a:spcBef>
              <a:spcAft>
                <a:spcPts val="0"/>
              </a:spcAft>
              <a:buClr>
                <a:schemeClr val="dk1"/>
              </a:buClr>
              <a:buSzPts val="2050"/>
              <a:buFont typeface="Times New Roman"/>
              <a:buChar char="●"/>
            </a:pPr>
            <a:r>
              <a:rPr i="0" lang="en-US" sz="2050" u="none" cap="none" strike="noStrike">
                <a:solidFill>
                  <a:schemeClr val="dk1"/>
                </a:solidFill>
                <a:latin typeface="Times New Roman"/>
                <a:ea typeface="Times New Roman"/>
                <a:cs typeface="Times New Roman"/>
                <a:sym typeface="Times New Roman"/>
              </a:rPr>
              <a:t> This is an exception to the call-by-value parameter passing convention.</a:t>
            </a:r>
            <a:endParaRPr i="0" sz="205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50"/>
              <a:buFont typeface="Arial"/>
              <a:buNone/>
            </a:pPr>
            <a:r>
              <a:t/>
            </a:r>
            <a:endParaRPr i="0" sz="2050" u="none" cap="none" strike="noStrike">
              <a:solidFill>
                <a:schemeClr val="dk1"/>
              </a:solidFill>
              <a:latin typeface="Times New Roman"/>
              <a:ea typeface="Times New Roman"/>
              <a:cs typeface="Times New Roman"/>
              <a:sym typeface="Times New Roman"/>
            </a:endParaRPr>
          </a:p>
          <a:p>
            <a:pPr indent="-358775" lvl="0" marL="457200" marR="0" rtl="0" algn="l">
              <a:lnSpc>
                <a:spcPct val="100000"/>
              </a:lnSpc>
              <a:spcBef>
                <a:spcPts val="0"/>
              </a:spcBef>
              <a:spcAft>
                <a:spcPts val="0"/>
              </a:spcAft>
              <a:buClr>
                <a:schemeClr val="dk1"/>
              </a:buClr>
              <a:buSzPts val="2050"/>
              <a:buFont typeface="Times New Roman"/>
              <a:buChar char="●"/>
            </a:pPr>
            <a:r>
              <a:rPr i="0" lang="en-US" sz="2050" u="none" cap="none" strike="noStrike">
                <a:solidFill>
                  <a:schemeClr val="dk1"/>
                </a:solidFill>
                <a:latin typeface="Times New Roman"/>
                <a:ea typeface="Times New Roman"/>
                <a:cs typeface="Times New Roman"/>
                <a:sym typeface="Times New Roman"/>
              </a:rPr>
              <a:t> In this case, the code inside the function is operating on, and potentially altering, the actual                                                             contents of the array used to call the function.</a:t>
            </a:r>
            <a:endParaRPr i="0" sz="2050" u="none" cap="none" strike="noStrike">
              <a:solidFill>
                <a:schemeClr val="dk1"/>
              </a:solidFill>
              <a:latin typeface="Times New Roman"/>
              <a:ea typeface="Times New Roman"/>
              <a:cs typeface="Times New Roman"/>
              <a:sym typeface="Times New Roman"/>
            </a:endParaRPr>
          </a:p>
          <a:p>
            <a:pPr indent="-358775" lvl="0" marL="457200" marR="0" rtl="0" algn="l">
              <a:lnSpc>
                <a:spcPct val="100000"/>
              </a:lnSpc>
              <a:spcBef>
                <a:spcPts val="0"/>
              </a:spcBef>
              <a:spcAft>
                <a:spcPts val="0"/>
              </a:spcAft>
              <a:buClr>
                <a:schemeClr val="dk1"/>
              </a:buClr>
              <a:buSzPts val="2050"/>
              <a:buFont typeface="Times New Roman"/>
              <a:buChar char="●"/>
            </a:pPr>
            <a:r>
              <a:t/>
            </a:r>
            <a:endParaRPr i="0" sz="205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50"/>
              <a:buFont typeface="Arial"/>
              <a:buNone/>
            </a:pPr>
            <a:r>
              <a:t/>
            </a:r>
            <a:endParaRPr i="0" sz="2050" u="none" cap="none" strike="noStrike">
              <a:solidFill>
                <a:schemeClr val="dk1"/>
              </a:solidFill>
              <a:latin typeface="Times New Roman"/>
              <a:ea typeface="Times New Roman"/>
              <a:cs typeface="Times New Roman"/>
              <a:sym typeface="Times New Roman"/>
            </a:endParaRPr>
          </a:p>
          <a:p>
            <a:pPr indent="-358775" lvl="0" marL="457200" marR="0" rtl="0" algn="l">
              <a:lnSpc>
                <a:spcPct val="100000"/>
              </a:lnSpc>
              <a:spcBef>
                <a:spcPts val="0"/>
              </a:spcBef>
              <a:spcAft>
                <a:spcPts val="0"/>
              </a:spcAft>
              <a:buClr>
                <a:schemeClr val="dk1"/>
              </a:buClr>
              <a:buSzPts val="2050"/>
              <a:buFont typeface="Times New Roman"/>
              <a:buChar char="●"/>
            </a:pPr>
            <a:r>
              <a:rPr i="0" lang="en-US" sz="2050" u="none" cap="none" strike="noStrike">
                <a:solidFill>
                  <a:schemeClr val="dk1"/>
                </a:solidFill>
                <a:latin typeface="Times New Roman"/>
                <a:ea typeface="Times New Roman"/>
                <a:cs typeface="Times New Roman"/>
                <a:sym typeface="Times New Roman"/>
              </a:rPr>
              <a:t> For example, consider the function print_upper( ), which prints its string argument in uppercase</a:t>
            </a:r>
            <a:endParaRPr i="0" sz="2050" u="none" cap="none" strike="noStrike">
              <a:solidFill>
                <a:schemeClr val="dk1"/>
              </a:solidFill>
              <a:latin typeface="Times New Roman"/>
              <a:ea typeface="Times New Roman"/>
              <a:cs typeface="Times New Roman"/>
              <a:sym typeface="Times New Roman"/>
            </a:endParaRPr>
          </a:p>
          <a:p>
            <a:pPr indent="-358775" lvl="0" marL="457200" marR="0" rtl="0" algn="l">
              <a:lnSpc>
                <a:spcPct val="100000"/>
              </a:lnSpc>
              <a:spcBef>
                <a:spcPts val="0"/>
              </a:spcBef>
              <a:spcAft>
                <a:spcPts val="0"/>
              </a:spcAft>
              <a:buClr>
                <a:schemeClr val="dk1"/>
              </a:buClr>
              <a:buSzPts val="2050"/>
              <a:buFont typeface="Times New Roman"/>
              <a:buChar char="●"/>
            </a:pPr>
            <a:r>
              <a:t/>
            </a:r>
            <a:endParaRPr i="0" sz="2050" u="none" cap="none" strike="noStrike">
              <a:solidFill>
                <a:schemeClr val="dk1"/>
              </a:solidFill>
              <a:latin typeface="Times New Roman"/>
              <a:ea typeface="Times New Roman"/>
              <a:cs typeface="Times New Roman"/>
              <a:sym typeface="Times New Roman"/>
            </a:endParaRPr>
          </a:p>
        </p:txBody>
      </p:sp>
      <p:sp>
        <p:nvSpPr>
          <p:cNvPr id="352" name="Google Shape;352;g37a158a6f9e_0_25"/>
          <p:cNvSpPr txBox="1"/>
          <p:nvPr/>
        </p:nvSpPr>
        <p:spPr>
          <a:xfrm>
            <a:off x="1878650" y="2845350"/>
            <a:ext cx="9502800" cy="355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US" sz="2000" u="none" cap="none" strike="noStrike">
                <a:solidFill>
                  <a:schemeClr val="dk1"/>
                </a:solidFill>
                <a:latin typeface="Arial"/>
                <a:ea typeface="Arial"/>
                <a:cs typeface="Arial"/>
                <a:sym typeface="Arial"/>
              </a:rPr>
              <a:t>   when we pass </a:t>
            </a:r>
            <a:r>
              <a:rPr b="1" i="0" lang="en-US" sz="2000" u="none" cap="none" strike="noStrike">
                <a:solidFill>
                  <a:schemeClr val="dk1"/>
                </a:solidFill>
                <a:latin typeface="Arial"/>
                <a:ea typeface="Arial"/>
                <a:cs typeface="Arial"/>
                <a:sym typeface="Arial"/>
              </a:rPr>
              <a:t>variables</a:t>
            </a:r>
            <a:r>
              <a:rPr b="0" i="0" lang="en-US" sz="2000" u="none" cap="none" strike="noStrike">
                <a:solidFill>
                  <a:schemeClr val="dk1"/>
                </a:solidFill>
                <a:latin typeface="Arial"/>
                <a:ea typeface="Arial"/>
                <a:cs typeface="Arial"/>
                <a:sym typeface="Arial"/>
              </a:rPr>
              <a:t> to a function in C, </a:t>
            </a:r>
            <a:r>
              <a:rPr b="1" i="0" lang="en-US" sz="2000" u="none" cap="none" strike="noStrike">
                <a:solidFill>
                  <a:schemeClr val="dk1"/>
                </a:solidFill>
                <a:latin typeface="Arial"/>
                <a:ea typeface="Arial"/>
                <a:cs typeface="Arial"/>
                <a:sym typeface="Arial"/>
              </a:rPr>
              <a:t>values</a:t>
            </a:r>
            <a:r>
              <a:rPr b="0" i="0" lang="en-US" sz="2000" u="none" cap="none" strike="noStrike">
                <a:solidFill>
                  <a:schemeClr val="dk1"/>
                </a:solidFill>
                <a:latin typeface="Arial"/>
                <a:ea typeface="Arial"/>
                <a:cs typeface="Arial"/>
                <a:sym typeface="Arial"/>
              </a:rPr>
              <a:t> are copied (Call by Value).</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lang="en-US" sz="2000">
                <a:solidFill>
                  <a:schemeClr val="dk1"/>
                </a:solidFill>
              </a:rPr>
              <a:t>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lang="en-US" sz="2000">
                <a:solidFill>
                  <a:schemeClr val="dk1"/>
                </a:solidFill>
              </a:rPr>
              <a:t>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 </a:t>
            </a:r>
            <a:r>
              <a:rPr i="0" lang="en-US" sz="2000" u="none" cap="none" strike="noStrike">
                <a:solidFill>
                  <a:schemeClr val="dk1"/>
                </a:solidFill>
                <a:latin typeface="Times New Roman"/>
                <a:ea typeface="Times New Roman"/>
                <a:cs typeface="Times New Roman"/>
                <a:sym typeface="Times New Roman"/>
              </a:rPr>
              <a:t> But with </a:t>
            </a:r>
            <a:r>
              <a:rPr b="1" i="0" lang="en-US" sz="2000" u="none" cap="none" strike="noStrike">
                <a:solidFill>
                  <a:schemeClr val="dk1"/>
                </a:solidFill>
                <a:latin typeface="Times New Roman"/>
                <a:ea typeface="Times New Roman"/>
                <a:cs typeface="Times New Roman"/>
                <a:sym typeface="Times New Roman"/>
              </a:rPr>
              <a:t>arrays</a:t>
            </a:r>
            <a:r>
              <a:rPr i="0" lang="en-US" sz="2000" u="none" cap="none" strike="noStrike">
                <a:solidFill>
                  <a:schemeClr val="dk1"/>
                </a:solidFill>
                <a:latin typeface="Times New Roman"/>
                <a:ea typeface="Times New Roman"/>
                <a:cs typeface="Times New Roman"/>
                <a:sym typeface="Times New Roman"/>
              </a:rPr>
              <a:t>, the </a:t>
            </a:r>
            <a:r>
              <a:rPr b="1" i="0" lang="en-US" sz="2000" u="none" cap="none" strike="noStrike">
                <a:solidFill>
                  <a:schemeClr val="dk1"/>
                </a:solidFill>
                <a:latin typeface="Times New Roman"/>
                <a:ea typeface="Times New Roman"/>
                <a:cs typeface="Times New Roman"/>
                <a:sym typeface="Times New Roman"/>
              </a:rPr>
              <a:t>address</a:t>
            </a:r>
            <a:r>
              <a:rPr i="0" lang="en-US" sz="2000" u="none" cap="none" strike="noStrike">
                <a:solidFill>
                  <a:schemeClr val="dk1"/>
                </a:solidFill>
                <a:latin typeface="Times New Roman"/>
                <a:ea typeface="Times New Roman"/>
                <a:cs typeface="Times New Roman"/>
                <a:sym typeface="Times New Roman"/>
              </a:rPr>
              <a:t> of the first element is passed → so the function can</a:t>
            </a:r>
            <a:endParaRPr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i="0" lang="en-US" sz="2000" u="none" cap="none" strike="noStrike">
                <a:solidFill>
                  <a:schemeClr val="dk1"/>
                </a:solidFill>
                <a:latin typeface="Times New Roman"/>
                <a:ea typeface="Times New Roman"/>
                <a:cs typeface="Times New Roman"/>
                <a:sym typeface="Times New Roman"/>
              </a:rPr>
              <a:t>  directly work on the original array.</a:t>
            </a:r>
            <a:br>
              <a:rPr i="0" lang="en-US" sz="2000" u="none" cap="none" strike="noStrike">
                <a:solidFill>
                  <a:schemeClr val="dk1"/>
                </a:solidFill>
                <a:latin typeface="Times New Roman"/>
                <a:ea typeface="Times New Roman"/>
                <a:cs typeface="Times New Roman"/>
                <a:sym typeface="Times New Roman"/>
              </a:rPr>
            </a:br>
            <a:r>
              <a:rPr i="0" lang="en-US" sz="2000" u="none" cap="none" strike="noStrike">
                <a:solidFill>
                  <a:schemeClr val="dk1"/>
                </a:solidFill>
                <a:latin typeface="Times New Roman"/>
                <a:ea typeface="Times New Roman"/>
                <a:cs typeface="Times New Roman"/>
                <a:sym typeface="Times New Roman"/>
              </a:rPr>
              <a:t> </a:t>
            </a:r>
            <a:endParaRPr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950"/>
              <a:buFont typeface="Arial"/>
              <a:buNone/>
            </a:pPr>
            <a:r>
              <a:t/>
            </a:r>
            <a:endParaRPr b="0" i="0" sz="29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g37a158a6f9e_0_46"/>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358" name="Google Shape;358;g37a158a6f9e_0_46"/>
          <p:cNvGrpSpPr/>
          <p:nvPr/>
        </p:nvGrpSpPr>
        <p:grpSpPr>
          <a:xfrm>
            <a:off x="0" y="14654"/>
            <a:ext cx="12192000" cy="6858000"/>
            <a:chOff x="0" y="0"/>
            <a:chExt cx="12192000" cy="6858000"/>
          </a:xfrm>
        </p:grpSpPr>
        <p:pic>
          <p:nvPicPr>
            <p:cNvPr id="359" name="Google Shape;359;g37a158a6f9e_0_46"/>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360" name="Google Shape;360;g37a158a6f9e_0_46"/>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1" name="Google Shape;361;g37a158a6f9e_0_46"/>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62" name="Google Shape;362;g37a158a6f9e_0_46"/>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363" name="Google Shape;363;g37a158a6f9e_0_46"/>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64" name="Google Shape;364;g37a158a6f9e_0_46"/>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365" name="Google Shape;365;g37a158a6f9e_0_46"/>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366" name="Google Shape;366;g37a158a6f9e_0_46"/>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7" name="Google Shape;367;g37a158a6f9e_0_46"/>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8" name="Google Shape;368;g37a158a6f9e_0_46"/>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69" name="Google Shape;369;g37a158a6f9e_0_46"/>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370" name="Google Shape;370;g37a158a6f9e_0_46"/>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71" name="Google Shape;371;g37a158a6f9e_0_46"/>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372" name="Google Shape;372;g37a158a6f9e_0_46"/>
          <p:cNvSpPr txBox="1"/>
          <p:nvPr/>
        </p:nvSpPr>
        <p:spPr>
          <a:xfrm>
            <a:off x="1459150" y="218875"/>
            <a:ext cx="10451100" cy="102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50">
                <a:solidFill>
                  <a:schemeClr val="dk1"/>
                </a:solidFill>
                <a:latin typeface="Times New Roman"/>
                <a:ea typeface="Times New Roman"/>
                <a:cs typeface="Times New Roman"/>
                <a:sym typeface="Times New Roman"/>
              </a:rPr>
              <a:t> The standard library function gets( ) is a classic example of passing arrays into functions. Although the gets( ) in your standard library is more sophisticated, the following simpler version, called xgets ( ), will give you an idea of how it works.</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50">
              <a:solidFill>
                <a:schemeClr val="dk1"/>
              </a:solidFill>
              <a:latin typeface="Times New Roman"/>
              <a:ea typeface="Times New Roman"/>
              <a:cs typeface="Times New Roman"/>
              <a:sym typeface="Times New Roman"/>
            </a:endParaRPr>
          </a:p>
        </p:txBody>
      </p:sp>
      <p:sp>
        <p:nvSpPr>
          <p:cNvPr id="373" name="Google Shape;373;g37a158a6f9e_0_46"/>
          <p:cNvSpPr txBox="1"/>
          <p:nvPr/>
        </p:nvSpPr>
        <p:spPr>
          <a:xfrm>
            <a:off x="1550350" y="1550350"/>
            <a:ext cx="10414800" cy="51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50">
                <a:solidFill>
                  <a:schemeClr val="dk1"/>
                </a:solidFill>
                <a:latin typeface="Times New Roman"/>
                <a:ea typeface="Times New Roman"/>
                <a:cs typeface="Times New Roman"/>
                <a:sym typeface="Times New Roman"/>
              </a:rPr>
              <a:t> </a:t>
            </a:r>
            <a:endParaRPr sz="2050">
              <a:solidFill>
                <a:schemeClr val="dk1"/>
              </a:solidFill>
              <a:latin typeface="Times New Roman"/>
              <a:ea typeface="Times New Roman"/>
              <a:cs typeface="Times New Roman"/>
              <a:sym typeface="Times New Roman"/>
            </a:endParaRPr>
          </a:p>
        </p:txBody>
      </p:sp>
      <p:pic>
        <p:nvPicPr>
          <p:cNvPr id="374" name="Google Shape;374;g37a158a6f9e_0_46"/>
          <p:cNvPicPr preferRelativeResize="0"/>
          <p:nvPr/>
        </p:nvPicPr>
        <p:blipFill>
          <a:blip r:embed="rId9">
            <a:alphaModFix/>
          </a:blip>
          <a:stretch>
            <a:fillRect/>
          </a:stretch>
        </p:blipFill>
        <p:spPr>
          <a:xfrm>
            <a:off x="1349725" y="1294875"/>
            <a:ext cx="5544750" cy="5709050"/>
          </a:xfrm>
          <a:prstGeom prst="rect">
            <a:avLst/>
          </a:prstGeom>
          <a:noFill/>
          <a:ln>
            <a:noFill/>
          </a:ln>
        </p:spPr>
      </p:pic>
      <p:pic>
        <p:nvPicPr>
          <p:cNvPr id="375" name="Google Shape;375;g37a158a6f9e_0_46"/>
          <p:cNvPicPr preferRelativeResize="0"/>
          <p:nvPr/>
        </p:nvPicPr>
        <p:blipFill>
          <a:blip r:embed="rId10">
            <a:alphaModFix/>
          </a:blip>
          <a:stretch>
            <a:fillRect/>
          </a:stretch>
        </p:blipFill>
        <p:spPr>
          <a:xfrm>
            <a:off x="6894475" y="1550350"/>
            <a:ext cx="5070675" cy="3155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7a158a6f9e_0_66"/>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381" name="Google Shape;381;g37a158a6f9e_0_66"/>
          <p:cNvGrpSpPr/>
          <p:nvPr/>
        </p:nvGrpSpPr>
        <p:grpSpPr>
          <a:xfrm>
            <a:off x="0" y="14654"/>
            <a:ext cx="12192000" cy="6858000"/>
            <a:chOff x="0" y="0"/>
            <a:chExt cx="12192000" cy="6858000"/>
          </a:xfrm>
        </p:grpSpPr>
        <p:pic>
          <p:nvPicPr>
            <p:cNvPr id="382" name="Google Shape;382;g37a158a6f9e_0_66"/>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383" name="Google Shape;383;g37a158a6f9e_0_66"/>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4" name="Google Shape;384;g37a158a6f9e_0_66"/>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85" name="Google Shape;385;g37a158a6f9e_0_66"/>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386" name="Google Shape;386;g37a158a6f9e_0_66"/>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87" name="Google Shape;387;g37a158a6f9e_0_66"/>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388" name="Google Shape;388;g37a158a6f9e_0_66"/>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389" name="Google Shape;389;g37a158a6f9e_0_66"/>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0" name="Google Shape;390;g37a158a6f9e_0_66"/>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1" name="Google Shape;391;g37a158a6f9e_0_66"/>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92" name="Google Shape;392;g37a158a6f9e_0_66"/>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393" name="Google Shape;393;g37a158a6f9e_0_66"/>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94" name="Google Shape;394;g37a158a6f9e_0_66"/>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395" name="Google Shape;395;g37a158a6f9e_0_66"/>
          <p:cNvSpPr txBox="1"/>
          <p:nvPr/>
        </p:nvSpPr>
        <p:spPr>
          <a:xfrm>
            <a:off x="1586825" y="200625"/>
            <a:ext cx="9758100" cy="6207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US" sz="1900">
                <a:solidFill>
                  <a:srgbClr val="FF0000"/>
                </a:solidFill>
                <a:latin typeface="Times New Roman"/>
                <a:ea typeface="Times New Roman"/>
                <a:cs typeface="Times New Roman"/>
                <a:sym typeface="Times New Roman"/>
              </a:rPr>
              <a:t>The xgets( ) function must be called with a char * pointer.</a:t>
            </a:r>
            <a:endParaRPr b="1" sz="1900">
              <a:solidFill>
                <a:srgbClr val="FF0000"/>
              </a:solidFill>
              <a:latin typeface="Times New Roman"/>
              <a:ea typeface="Times New Roman"/>
              <a:cs typeface="Times New Roman"/>
              <a:sym typeface="Times New Roman"/>
            </a:endParaRPr>
          </a:p>
          <a:p>
            <a:pPr indent="0" lvl="0" marL="457200" rtl="0" algn="just">
              <a:spcBef>
                <a:spcPts val="0"/>
              </a:spcBef>
              <a:spcAft>
                <a:spcPts val="0"/>
              </a:spcAft>
              <a:buNone/>
            </a:pPr>
            <a:r>
              <a:t/>
            </a:r>
            <a:endParaRPr b="1" sz="1900">
              <a:solidFill>
                <a:srgbClr val="FF0000"/>
              </a:solidFill>
              <a:latin typeface="Times New Roman"/>
              <a:ea typeface="Times New Roman"/>
              <a:cs typeface="Times New Roman"/>
              <a:sym typeface="Times New Roman"/>
            </a:endParaRPr>
          </a:p>
          <a:p>
            <a:pPr indent="-349250" lvl="0" marL="457200" rtl="0" algn="just">
              <a:spcBef>
                <a:spcPts val="0"/>
              </a:spcBef>
              <a:spcAft>
                <a:spcPts val="0"/>
              </a:spcAft>
              <a:buSzPts val="1900"/>
              <a:buFont typeface="Times New Roman"/>
              <a:buChar char="●"/>
            </a:pPr>
            <a:r>
              <a:rPr lang="en-US" sz="1900">
                <a:latin typeface="Times New Roman"/>
                <a:ea typeface="Times New Roman"/>
                <a:cs typeface="Times New Roman"/>
                <a:sym typeface="Times New Roman"/>
              </a:rPr>
              <a:t>This, of course, can be the name of a character array, which by definition is a char * pointer. </a:t>
            </a:r>
            <a:endParaRPr sz="1900">
              <a:latin typeface="Times New Roman"/>
              <a:ea typeface="Times New Roman"/>
              <a:cs typeface="Times New Roman"/>
              <a:sym typeface="Times New Roman"/>
            </a:endParaRPr>
          </a:p>
          <a:p>
            <a:pPr indent="0" lvl="0" marL="457200" rtl="0" algn="just">
              <a:spcBef>
                <a:spcPts val="0"/>
              </a:spcBef>
              <a:spcAft>
                <a:spcPts val="0"/>
              </a:spcAft>
              <a:buNone/>
            </a:pPr>
            <a:r>
              <a:t/>
            </a:r>
            <a:endParaRPr sz="1900">
              <a:latin typeface="Times New Roman"/>
              <a:ea typeface="Times New Roman"/>
              <a:cs typeface="Times New Roman"/>
              <a:sym typeface="Times New Roman"/>
            </a:endParaRPr>
          </a:p>
          <a:p>
            <a:pPr indent="-349250" lvl="0" marL="457200" rtl="0" algn="just">
              <a:spcBef>
                <a:spcPts val="0"/>
              </a:spcBef>
              <a:spcAft>
                <a:spcPts val="0"/>
              </a:spcAft>
              <a:buSzPts val="1900"/>
              <a:buFont typeface="Times New Roman"/>
              <a:buChar char="●"/>
            </a:pPr>
            <a:r>
              <a:rPr lang="en-US" sz="1900">
                <a:latin typeface="Times New Roman"/>
                <a:ea typeface="Times New Roman"/>
                <a:cs typeface="Times New Roman"/>
                <a:sym typeface="Times New Roman"/>
              </a:rPr>
              <a:t>Upon entry, xgets( ) establishes a for loop from 0 to 80.</a:t>
            </a:r>
            <a:endParaRPr sz="1900">
              <a:latin typeface="Times New Roman"/>
              <a:ea typeface="Times New Roman"/>
              <a:cs typeface="Times New Roman"/>
              <a:sym typeface="Times New Roman"/>
            </a:endParaRPr>
          </a:p>
          <a:p>
            <a:pPr indent="0" lvl="0" marL="457200" rtl="0" algn="just">
              <a:spcBef>
                <a:spcPts val="0"/>
              </a:spcBef>
              <a:spcAft>
                <a:spcPts val="0"/>
              </a:spcAft>
              <a:buNone/>
            </a:pPr>
            <a:r>
              <a:t/>
            </a:r>
            <a:endParaRPr sz="1900">
              <a:latin typeface="Times New Roman"/>
              <a:ea typeface="Times New Roman"/>
              <a:cs typeface="Times New Roman"/>
              <a:sym typeface="Times New Roman"/>
            </a:endParaRPr>
          </a:p>
          <a:p>
            <a:pPr indent="-349250" lvl="0" marL="457200" rtl="0" algn="just">
              <a:spcBef>
                <a:spcPts val="0"/>
              </a:spcBef>
              <a:spcAft>
                <a:spcPts val="0"/>
              </a:spcAft>
              <a:buSzPts val="1900"/>
              <a:buFont typeface="Times New Roman"/>
              <a:buChar char="●"/>
            </a:pPr>
            <a:r>
              <a:rPr lang="en-US" sz="1900">
                <a:latin typeface="Times New Roman"/>
                <a:ea typeface="Times New Roman"/>
                <a:cs typeface="Times New Roman"/>
                <a:sym typeface="Times New Roman"/>
              </a:rPr>
              <a:t>This prevents larger strings from being entered at the keyboard. If more than 80 characters are entered, the function returns.</a:t>
            </a:r>
            <a:endParaRPr sz="1900">
              <a:latin typeface="Times New Roman"/>
              <a:ea typeface="Times New Roman"/>
              <a:cs typeface="Times New Roman"/>
              <a:sym typeface="Times New Roman"/>
            </a:endParaRPr>
          </a:p>
          <a:p>
            <a:pPr indent="0" lvl="0" marL="457200" rtl="0" algn="just">
              <a:spcBef>
                <a:spcPts val="0"/>
              </a:spcBef>
              <a:spcAft>
                <a:spcPts val="0"/>
              </a:spcAft>
              <a:buNone/>
            </a:pPr>
            <a:r>
              <a:t/>
            </a:r>
            <a:endParaRPr sz="900">
              <a:latin typeface="Times New Roman"/>
              <a:ea typeface="Times New Roman"/>
              <a:cs typeface="Times New Roman"/>
              <a:sym typeface="Times New Roman"/>
            </a:endParaRPr>
          </a:p>
          <a:p>
            <a:pPr indent="-349250" lvl="0" marL="457200" rtl="0" algn="just">
              <a:spcBef>
                <a:spcPts val="0"/>
              </a:spcBef>
              <a:spcAft>
                <a:spcPts val="0"/>
              </a:spcAft>
              <a:buSzPts val="1900"/>
              <a:buFont typeface="Times New Roman"/>
              <a:buChar char="●"/>
            </a:pPr>
            <a:r>
              <a:rPr lang="en-US" sz="1900">
                <a:latin typeface="Times New Roman"/>
                <a:ea typeface="Times New Roman"/>
                <a:cs typeface="Times New Roman"/>
                <a:sym typeface="Times New Roman"/>
              </a:rPr>
              <a:t>The real gets( ) function does not have this restriction.Because C has no built-in bounds checking, you should make sure that any array used to call xgets ( ) can accept at least 80 characters.</a:t>
            </a:r>
            <a:endParaRPr sz="1900">
              <a:latin typeface="Times New Roman"/>
              <a:ea typeface="Times New Roman"/>
              <a:cs typeface="Times New Roman"/>
              <a:sym typeface="Times New Roman"/>
            </a:endParaRPr>
          </a:p>
          <a:p>
            <a:pPr indent="0" lvl="0" marL="457200" rtl="0" algn="just">
              <a:spcBef>
                <a:spcPts val="0"/>
              </a:spcBef>
              <a:spcAft>
                <a:spcPts val="0"/>
              </a:spcAft>
              <a:buNone/>
            </a:pPr>
            <a:r>
              <a:t/>
            </a:r>
            <a:endParaRPr sz="1900">
              <a:latin typeface="Times New Roman"/>
              <a:ea typeface="Times New Roman"/>
              <a:cs typeface="Times New Roman"/>
              <a:sym typeface="Times New Roman"/>
            </a:endParaRPr>
          </a:p>
          <a:p>
            <a:pPr indent="-349250" lvl="0" marL="457200" rtl="0" algn="just">
              <a:spcBef>
                <a:spcPts val="0"/>
              </a:spcBef>
              <a:spcAft>
                <a:spcPts val="0"/>
              </a:spcAft>
              <a:buSzPts val="1900"/>
              <a:buFont typeface="Times New Roman"/>
              <a:buChar char="●"/>
            </a:pPr>
            <a:r>
              <a:rPr lang="en-US" sz="1900">
                <a:latin typeface="Times New Roman"/>
                <a:ea typeface="Times New Roman"/>
                <a:cs typeface="Times New Roman"/>
                <a:sym typeface="Times New Roman"/>
              </a:rPr>
              <a:t> As you type characters on the keyboard, they are placed in the string. </a:t>
            </a:r>
            <a:endParaRPr sz="1900">
              <a:latin typeface="Times New Roman"/>
              <a:ea typeface="Times New Roman"/>
              <a:cs typeface="Times New Roman"/>
              <a:sym typeface="Times New Roman"/>
            </a:endParaRPr>
          </a:p>
          <a:p>
            <a:pPr indent="-349250" lvl="0" marL="457200" rtl="0" algn="just">
              <a:spcBef>
                <a:spcPts val="0"/>
              </a:spcBef>
              <a:spcAft>
                <a:spcPts val="0"/>
              </a:spcAft>
              <a:buSzPts val="1900"/>
              <a:buFont typeface="Times New Roman"/>
              <a:buChar char="●"/>
            </a:pPr>
            <a:r>
              <a:rPr lang="en-US" sz="1900">
                <a:latin typeface="Times New Roman"/>
                <a:ea typeface="Times New Roman"/>
                <a:cs typeface="Times New Roman"/>
                <a:sym typeface="Times New Roman"/>
              </a:rPr>
              <a:t>If you type a backspace, the counter t is reduced by 1, effectively removing the previous character from the array</a:t>
            </a:r>
            <a:endParaRPr sz="1900">
              <a:latin typeface="Times New Roman"/>
              <a:ea typeface="Times New Roman"/>
              <a:cs typeface="Times New Roman"/>
              <a:sym typeface="Times New Roman"/>
            </a:endParaRPr>
          </a:p>
          <a:p>
            <a:pPr indent="0" lvl="0" marL="457200" rtl="0" algn="just">
              <a:spcBef>
                <a:spcPts val="0"/>
              </a:spcBef>
              <a:spcAft>
                <a:spcPts val="0"/>
              </a:spcAft>
              <a:buNone/>
            </a:pPr>
            <a:r>
              <a:rPr lang="en-US" sz="1900">
                <a:latin typeface="Times New Roman"/>
                <a:ea typeface="Times New Roman"/>
                <a:cs typeface="Times New Roman"/>
                <a:sym typeface="Times New Roman"/>
              </a:rPr>
              <a:t>. </a:t>
            </a:r>
            <a:endParaRPr sz="1900">
              <a:latin typeface="Times New Roman"/>
              <a:ea typeface="Times New Roman"/>
              <a:cs typeface="Times New Roman"/>
              <a:sym typeface="Times New Roman"/>
            </a:endParaRPr>
          </a:p>
          <a:p>
            <a:pPr indent="0" lvl="0" marL="457200" rtl="0" algn="just">
              <a:spcBef>
                <a:spcPts val="0"/>
              </a:spcBef>
              <a:spcAft>
                <a:spcPts val="0"/>
              </a:spcAft>
              <a:buNone/>
            </a:pPr>
            <a:r>
              <a:t/>
            </a:r>
            <a:endParaRPr sz="200">
              <a:latin typeface="Times New Roman"/>
              <a:ea typeface="Times New Roman"/>
              <a:cs typeface="Times New Roman"/>
              <a:sym typeface="Times New Roman"/>
            </a:endParaRPr>
          </a:p>
          <a:p>
            <a:pPr indent="-349250" lvl="0" marL="457200" rtl="0" algn="just">
              <a:spcBef>
                <a:spcPts val="0"/>
              </a:spcBef>
              <a:spcAft>
                <a:spcPts val="0"/>
              </a:spcAft>
              <a:buSzPts val="1900"/>
              <a:buFont typeface="Times New Roman"/>
              <a:buChar char="●"/>
            </a:pPr>
            <a:r>
              <a:rPr lang="en-US" sz="1900">
                <a:latin typeface="Times New Roman"/>
                <a:ea typeface="Times New Roman"/>
                <a:cs typeface="Times New Roman"/>
                <a:sym typeface="Times New Roman"/>
              </a:rPr>
              <a:t>When you press ENTER, a null is placed at the end of the string, signaling its termination</a:t>
            </a:r>
            <a:r>
              <a:rPr lang="en-US" sz="1900">
                <a:latin typeface="Times New Roman"/>
                <a:ea typeface="Times New Roman"/>
                <a:cs typeface="Times New Roman"/>
                <a:sym typeface="Times New Roman"/>
              </a:rPr>
              <a:t>.</a:t>
            </a:r>
            <a:endParaRPr sz="1900">
              <a:latin typeface="Times New Roman"/>
              <a:ea typeface="Times New Roman"/>
              <a:cs typeface="Times New Roman"/>
              <a:sym typeface="Times New Roman"/>
            </a:endParaRPr>
          </a:p>
          <a:p>
            <a:pPr indent="0" lvl="0" marL="457200" rtl="0" algn="just">
              <a:spcBef>
                <a:spcPts val="0"/>
              </a:spcBef>
              <a:spcAft>
                <a:spcPts val="0"/>
              </a:spcAft>
              <a:buNone/>
            </a:pPr>
            <a:r>
              <a:t/>
            </a:r>
            <a:endParaRPr sz="1900">
              <a:latin typeface="Times New Roman"/>
              <a:ea typeface="Times New Roman"/>
              <a:cs typeface="Times New Roman"/>
              <a:sym typeface="Times New Roman"/>
            </a:endParaRPr>
          </a:p>
          <a:p>
            <a:pPr indent="-349250" lvl="0" marL="457200" rtl="0" algn="just">
              <a:spcBef>
                <a:spcPts val="0"/>
              </a:spcBef>
              <a:spcAft>
                <a:spcPts val="0"/>
              </a:spcAft>
              <a:buSzPts val="1900"/>
              <a:buFont typeface="Times New Roman"/>
              <a:buChar char="●"/>
            </a:pPr>
            <a:r>
              <a:rPr lang="en-US" sz="1900">
                <a:latin typeface="Times New Roman"/>
                <a:ea typeface="Times New Roman"/>
                <a:cs typeface="Times New Roman"/>
                <a:sym typeface="Times New Roman"/>
              </a:rPr>
              <a:t>Because the array used to call xgets( ) is modified, upon return it contains the characters that you type.</a:t>
            </a:r>
            <a:endParaRPr sz="19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383071ae8d3_0_495"/>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401" name="Google Shape;401;g383071ae8d3_0_495"/>
          <p:cNvGrpSpPr/>
          <p:nvPr/>
        </p:nvGrpSpPr>
        <p:grpSpPr>
          <a:xfrm>
            <a:off x="0" y="-56400"/>
            <a:ext cx="12519965" cy="6858000"/>
            <a:chOff x="0" y="0"/>
            <a:chExt cx="12192000" cy="6858000"/>
          </a:xfrm>
        </p:grpSpPr>
        <p:pic>
          <p:nvPicPr>
            <p:cNvPr id="402" name="Google Shape;402;g383071ae8d3_0_495"/>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403" name="Google Shape;403;g383071ae8d3_0_495"/>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 name="Google Shape;404;g383071ae8d3_0_495"/>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05" name="Google Shape;405;g383071ae8d3_0_495"/>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406" name="Google Shape;406;g383071ae8d3_0_495"/>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07" name="Google Shape;407;g383071ae8d3_0_495"/>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408" name="Google Shape;408;g383071ae8d3_0_495"/>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409" name="Google Shape;409;g383071ae8d3_0_495"/>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0" name="Google Shape;410;g383071ae8d3_0_495"/>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1" name="Google Shape;411;g383071ae8d3_0_495"/>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12" name="Google Shape;412;g383071ae8d3_0_495"/>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413" name="Google Shape;413;g383071ae8d3_0_495"/>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14" name="Google Shape;414;g383071ae8d3_0_495"/>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415" name="Google Shape;415;g383071ae8d3_0_495"/>
          <p:cNvSpPr txBox="1"/>
          <p:nvPr/>
        </p:nvSpPr>
        <p:spPr>
          <a:xfrm>
            <a:off x="1842175" y="310075"/>
            <a:ext cx="7642200" cy="10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50"/>
              <a:buFont typeface="Arial"/>
              <a:buNone/>
            </a:pPr>
            <a:r>
              <a:t/>
            </a:r>
            <a:endParaRPr b="1" i="0" sz="2750" u="none" cap="none" strike="noStrike">
              <a:solidFill>
                <a:schemeClr val="dk1"/>
              </a:solidFill>
              <a:latin typeface="Times New Roman"/>
              <a:ea typeface="Times New Roman"/>
              <a:cs typeface="Times New Roman"/>
              <a:sym typeface="Times New Roman"/>
            </a:endParaRPr>
          </a:p>
        </p:txBody>
      </p:sp>
      <p:sp>
        <p:nvSpPr>
          <p:cNvPr id="416" name="Google Shape;416;g383071ae8d3_0_495"/>
          <p:cNvSpPr txBox="1"/>
          <p:nvPr/>
        </p:nvSpPr>
        <p:spPr>
          <a:xfrm>
            <a:off x="1678850" y="0"/>
            <a:ext cx="9387300" cy="67452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a:p>
            <a:pPr indent="0" lvl="0" marL="9144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Times New Roman"/>
              <a:ea typeface="Times New Roman"/>
              <a:cs typeface="Times New Roman"/>
              <a:sym typeface="Times New Roman"/>
            </a:endParaRPr>
          </a:p>
        </p:txBody>
      </p:sp>
      <p:sp>
        <p:nvSpPr>
          <p:cNvPr id="417" name="Google Shape;417;g383071ae8d3_0_495"/>
          <p:cNvSpPr txBox="1"/>
          <p:nvPr/>
        </p:nvSpPr>
        <p:spPr>
          <a:xfrm>
            <a:off x="1951600" y="0"/>
            <a:ext cx="6785100" cy="10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50"/>
              <a:buFont typeface="Arial"/>
              <a:buNone/>
            </a:pPr>
            <a:r>
              <a:rPr b="1" i="0" lang="en-US" sz="2450" u="none" cap="none" strike="noStrike">
                <a:solidFill>
                  <a:srgbClr val="FF0000"/>
                </a:solidFill>
                <a:latin typeface="Times New Roman"/>
                <a:ea typeface="Times New Roman"/>
                <a:cs typeface="Times New Roman"/>
                <a:sym typeface="Times New Roman"/>
              </a:rPr>
              <a:t>Command Line Arguments in C</a:t>
            </a:r>
            <a:endParaRPr b="1" i="0" sz="2450" u="none" cap="none" strike="noStrike">
              <a:solidFill>
                <a:srgbClr val="FF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50"/>
              <a:buFont typeface="Arial"/>
              <a:buNone/>
            </a:pPr>
            <a:r>
              <a:t/>
            </a:r>
            <a:endParaRPr b="1" i="0" sz="2450" u="none" cap="none" strike="noStrike">
              <a:solidFill>
                <a:srgbClr val="FF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50"/>
              <a:buFont typeface="Arial"/>
              <a:buNone/>
            </a:pPr>
            <a:r>
              <a:rPr b="1" i="0" lang="en-US" sz="2450" u="none" cap="none" strike="noStrike">
                <a:solidFill>
                  <a:srgbClr val="FF0000"/>
                </a:solidFill>
                <a:latin typeface="Times New Roman"/>
                <a:ea typeface="Times New Roman"/>
                <a:cs typeface="Times New Roman"/>
                <a:sym typeface="Times New Roman"/>
              </a:rPr>
              <a:t>argc and argv— Arguments to main</a:t>
            </a:r>
            <a:endParaRPr b="1" i="0" sz="2450" u="none" cap="none" strike="noStrike">
              <a:solidFill>
                <a:srgbClr val="FF0000"/>
              </a:solidFill>
              <a:latin typeface="Times New Roman"/>
              <a:ea typeface="Times New Roman"/>
              <a:cs typeface="Times New Roman"/>
              <a:sym typeface="Times New Roman"/>
            </a:endParaRPr>
          </a:p>
        </p:txBody>
      </p:sp>
      <p:sp>
        <p:nvSpPr>
          <p:cNvPr id="418" name="Google Shape;418;g383071ae8d3_0_495"/>
          <p:cNvSpPr txBox="1"/>
          <p:nvPr/>
        </p:nvSpPr>
        <p:spPr>
          <a:xfrm>
            <a:off x="1678850" y="1729500"/>
            <a:ext cx="10513200" cy="501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Roboto Mono"/>
                <a:ea typeface="Roboto Mono"/>
                <a:cs typeface="Roboto Mono"/>
                <a:sym typeface="Roboto Mono"/>
              </a:rPr>
              <a:t>main()</a:t>
            </a:r>
            <a:r>
              <a:rPr b="0" i="0" lang="en-US" sz="2300" u="none" cap="none" strike="noStrike">
                <a:solidFill>
                  <a:schemeClr val="dk1"/>
                </a:solidFill>
                <a:latin typeface="Arial"/>
                <a:ea typeface="Arial"/>
                <a:cs typeface="Arial"/>
                <a:sym typeface="Arial"/>
              </a:rPr>
              <a:t> can take two special parameters:</a:t>
            </a:r>
            <a:endParaRPr b="0" i="0" sz="2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rPr lang="en-US" sz="2300">
                <a:solidFill>
                  <a:schemeClr val="dk1"/>
                </a:solidFill>
              </a:rPr>
              <a:t>i</a:t>
            </a:r>
            <a:r>
              <a:rPr b="1" i="0" lang="en-US" sz="2300" u="none" cap="none" strike="noStrike">
                <a:solidFill>
                  <a:schemeClr val="dk1"/>
                </a:solidFill>
                <a:latin typeface="Arial"/>
                <a:ea typeface="Arial"/>
                <a:cs typeface="Arial"/>
                <a:sym typeface="Arial"/>
              </a:rPr>
              <a:t>nt main(int argc, char *argv[])</a:t>
            </a:r>
            <a:endParaRPr b="1" i="0" sz="2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t/>
            </a:r>
            <a:endParaRPr b="1" i="0" sz="2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2000" u="none" cap="none" strike="noStrike">
                <a:solidFill>
                  <a:schemeClr val="dk1"/>
                </a:solidFill>
                <a:latin typeface="Roboto Mono"/>
                <a:ea typeface="Roboto Mono"/>
                <a:cs typeface="Roboto Mono"/>
                <a:sym typeface="Roboto Mono"/>
              </a:rPr>
              <a:t>argc</a:t>
            </a:r>
            <a:r>
              <a:rPr b="1" i="0" lang="en-US" sz="2000" u="none" cap="none" strike="noStrike">
                <a:solidFill>
                  <a:schemeClr val="dk1"/>
                </a:solidFill>
                <a:latin typeface="Arial"/>
                <a:ea typeface="Arial"/>
                <a:cs typeface="Arial"/>
                <a:sym typeface="Arial"/>
              </a:rPr>
              <a:t> → Argument Count</a:t>
            </a:r>
            <a:endParaRPr b="1" i="0" sz="2000" u="none" cap="none" strike="noStrike">
              <a:solidFill>
                <a:schemeClr val="dk1"/>
              </a:solidFill>
              <a:latin typeface="Arial"/>
              <a:ea typeface="Arial"/>
              <a:cs typeface="Arial"/>
              <a:sym typeface="Arial"/>
            </a:endParaRPr>
          </a:p>
          <a:p>
            <a:pPr indent="-355600" lvl="0" marL="457200" marR="0" rtl="0" algn="l">
              <a:lnSpc>
                <a:spcPct val="115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Number of arguments passed (including program name).</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US" sz="2000" u="none" cap="none" strike="noStrike">
                <a:solidFill>
                  <a:schemeClr val="dk1"/>
                </a:solidFill>
                <a:latin typeface="Roboto Mono"/>
                <a:ea typeface="Roboto Mono"/>
                <a:cs typeface="Roboto Mono"/>
                <a:sym typeface="Roboto Mono"/>
              </a:rPr>
              <a:t>argv</a:t>
            </a:r>
            <a:r>
              <a:rPr b="1" i="0" lang="en-US" sz="2000" u="none" cap="none" strike="noStrike">
                <a:solidFill>
                  <a:schemeClr val="dk1"/>
                </a:solidFill>
                <a:latin typeface="Arial"/>
                <a:ea typeface="Arial"/>
                <a:cs typeface="Arial"/>
                <a:sym typeface="Arial"/>
              </a:rPr>
              <a:t> → Argument Vector</a:t>
            </a:r>
            <a:endParaRPr b="1" i="0" sz="2000" u="none" cap="none" strike="noStrike">
              <a:solidFill>
                <a:schemeClr val="dk1"/>
              </a:solidFill>
              <a:latin typeface="Arial"/>
              <a:ea typeface="Arial"/>
              <a:cs typeface="Arial"/>
              <a:sym typeface="Arial"/>
            </a:endParaRPr>
          </a:p>
          <a:p>
            <a:pPr indent="-355600" lvl="0" marL="457200" marR="0" rtl="0" algn="l">
              <a:lnSpc>
                <a:spcPct val="115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Array of strings storing the actual arguments.</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US" sz="2000" u="none" cap="none" strike="noStrike">
                <a:solidFill>
                  <a:schemeClr val="dk1"/>
                </a:solidFill>
                <a:latin typeface="Arial"/>
                <a:ea typeface="Arial"/>
                <a:cs typeface="Arial"/>
                <a:sym typeface="Arial"/>
              </a:rPr>
              <a:t>Helps programs take </a:t>
            </a:r>
            <a:r>
              <a:rPr b="1" i="0" lang="en-US" sz="2000" u="none" cap="none" strike="noStrike">
                <a:solidFill>
                  <a:schemeClr val="dk1"/>
                </a:solidFill>
                <a:latin typeface="Arial"/>
                <a:ea typeface="Arial"/>
                <a:cs typeface="Arial"/>
                <a:sym typeface="Arial"/>
              </a:rPr>
              <a:t>input directly from the command line</a:t>
            </a:r>
            <a:r>
              <a:rPr b="0" i="0" lang="en-US" sz="2000" u="none" cap="none" strike="noStrike">
                <a:solidFill>
                  <a:schemeClr val="dk1"/>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383071ae8d3_0_62"/>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424" name="Google Shape;424;g383071ae8d3_0_62"/>
          <p:cNvGrpSpPr/>
          <p:nvPr/>
        </p:nvGrpSpPr>
        <p:grpSpPr>
          <a:xfrm>
            <a:off x="0" y="14654"/>
            <a:ext cx="12192000" cy="6858000"/>
            <a:chOff x="0" y="0"/>
            <a:chExt cx="12192000" cy="6858000"/>
          </a:xfrm>
        </p:grpSpPr>
        <p:pic>
          <p:nvPicPr>
            <p:cNvPr id="425" name="Google Shape;425;g383071ae8d3_0_62"/>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426" name="Google Shape;426;g383071ae8d3_0_62"/>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7" name="Google Shape;427;g383071ae8d3_0_62"/>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28" name="Google Shape;428;g383071ae8d3_0_62"/>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429" name="Google Shape;429;g383071ae8d3_0_62"/>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30" name="Google Shape;430;g383071ae8d3_0_62"/>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431" name="Google Shape;431;g383071ae8d3_0_62"/>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432" name="Google Shape;432;g383071ae8d3_0_62"/>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3" name="Google Shape;433;g383071ae8d3_0_62"/>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4" name="Google Shape;434;g383071ae8d3_0_62"/>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35" name="Google Shape;435;g383071ae8d3_0_62"/>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436" name="Google Shape;436;g383071ae8d3_0_62"/>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37" name="Google Shape;437;g383071ae8d3_0_62"/>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438" name="Google Shape;438;g383071ae8d3_0_62"/>
          <p:cNvSpPr txBox="1"/>
          <p:nvPr/>
        </p:nvSpPr>
        <p:spPr>
          <a:xfrm>
            <a:off x="1513875" y="355650"/>
            <a:ext cx="10177500" cy="6502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1" i="0" lang="en-US" sz="2000" u="none" cap="none" strike="noStrike">
                <a:solidFill>
                  <a:schemeClr val="dk1"/>
                </a:solidFill>
                <a:latin typeface="Roboto Mono"/>
                <a:ea typeface="Roboto Mono"/>
                <a:cs typeface="Roboto Mono"/>
                <a:sym typeface="Roboto Mono"/>
              </a:rPr>
              <a:t>argv</a:t>
            </a:r>
            <a:r>
              <a:rPr b="1" i="0" lang="en-US" sz="2000" u="none" cap="none" strike="noStrike">
                <a:solidFill>
                  <a:schemeClr val="dk1"/>
                </a:solidFill>
                <a:latin typeface="Arial"/>
                <a:ea typeface="Arial"/>
                <a:cs typeface="Arial"/>
                <a:sym typeface="Arial"/>
              </a:rPr>
              <a:t> is a box (array) that stores each word you typed</a:t>
            </a:r>
            <a:r>
              <a:rPr b="0" i="0" lang="en-US" sz="2000" u="none" cap="none" strike="noStrike">
                <a:solidFill>
                  <a:schemeClr val="dk1"/>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1200"/>
              </a:spcBef>
              <a:spcAft>
                <a:spcPts val="0"/>
              </a:spcAft>
              <a:buClr>
                <a:schemeClr val="dk1"/>
              </a:buClr>
              <a:buSzPts val="2000"/>
              <a:buFont typeface="Arial"/>
              <a:buChar char="●"/>
            </a:pPr>
            <a:r>
              <a:rPr b="0" i="0" lang="en-US" sz="2000" u="none" cap="none" strike="noStrike">
                <a:solidFill>
                  <a:schemeClr val="dk1"/>
                </a:solidFill>
                <a:latin typeface="Roboto Mono"/>
                <a:ea typeface="Roboto Mono"/>
                <a:cs typeface="Roboto Mono"/>
                <a:sym typeface="Roboto Mono"/>
              </a:rPr>
              <a:t>argv[0]</a:t>
            </a:r>
            <a:r>
              <a:rPr b="0" i="0" lang="en-US" sz="2000" u="none" cap="none" strike="noStrike">
                <a:solidFill>
                  <a:schemeClr val="dk1"/>
                </a:solidFill>
                <a:latin typeface="Arial"/>
                <a:ea typeface="Arial"/>
                <a:cs typeface="Arial"/>
                <a:sym typeface="Arial"/>
              </a:rPr>
              <a:t> → program name (</a:t>
            </a:r>
            <a:r>
              <a:rPr b="0" i="0" lang="en-US" sz="2000" u="none" cap="none" strike="noStrike">
                <a:solidFill>
                  <a:schemeClr val="dk1"/>
                </a:solidFill>
                <a:latin typeface="Roboto Mono"/>
                <a:ea typeface="Roboto Mono"/>
                <a:cs typeface="Roboto Mono"/>
                <a:sym typeface="Roboto Mono"/>
              </a:rPr>
              <a:t>./a.out</a:t>
            </a:r>
            <a:r>
              <a:rPr b="0" i="0" lang="en-US" sz="2000" u="none" cap="none" strike="noStrike">
                <a:solidFill>
                  <a:schemeClr val="dk1"/>
                </a:solidFill>
                <a:latin typeface="Arial"/>
                <a:ea typeface="Arial"/>
                <a:cs typeface="Arial"/>
                <a:sym typeface="Arial"/>
              </a:rPr>
              <a:t>)</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Roboto Mono"/>
                <a:ea typeface="Roboto Mono"/>
                <a:cs typeface="Roboto Mono"/>
                <a:sym typeface="Roboto Mono"/>
              </a:rPr>
              <a:t>argv[1]</a:t>
            </a:r>
            <a:r>
              <a:rPr b="0" i="0" lang="en-US" sz="2000" u="none" cap="none" strike="noStrike">
                <a:solidFill>
                  <a:schemeClr val="dk1"/>
                </a:solidFill>
                <a:latin typeface="Arial"/>
                <a:ea typeface="Arial"/>
                <a:cs typeface="Arial"/>
                <a:sym typeface="Arial"/>
              </a:rPr>
              <a:t> → first input (e.g., </a:t>
            </a:r>
            <a:r>
              <a:rPr b="0" i="0" lang="en-US" sz="2000" u="none" cap="none" strike="noStrike">
                <a:solidFill>
                  <a:schemeClr val="dk1"/>
                </a:solidFill>
                <a:latin typeface="Roboto Mono"/>
                <a:ea typeface="Roboto Mono"/>
                <a:cs typeface="Roboto Mono"/>
                <a:sym typeface="Roboto Mono"/>
              </a:rPr>
              <a:t>Dhivya</a:t>
            </a:r>
            <a:r>
              <a:rPr b="0" i="0" lang="en-US" sz="2000" u="none" cap="none" strike="noStrike">
                <a:solidFill>
                  <a:schemeClr val="dk1"/>
                </a:solidFill>
                <a:latin typeface="Arial"/>
                <a:ea typeface="Arial"/>
                <a:cs typeface="Arial"/>
                <a:sym typeface="Arial"/>
              </a:rPr>
              <a:t>)</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Roboto Mono"/>
                <a:ea typeface="Roboto Mono"/>
                <a:cs typeface="Roboto Mono"/>
                <a:sym typeface="Roboto Mono"/>
              </a:rPr>
              <a:t>argv[2]</a:t>
            </a:r>
            <a:r>
              <a:rPr b="0" i="0" lang="en-US" sz="2000" u="none" cap="none" strike="noStrike">
                <a:solidFill>
                  <a:schemeClr val="dk1"/>
                </a:solidFill>
                <a:latin typeface="Arial"/>
                <a:ea typeface="Arial"/>
                <a:cs typeface="Arial"/>
                <a:sym typeface="Arial"/>
              </a:rPr>
              <a:t> → second input (if given)…</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So </a:t>
            </a:r>
            <a:r>
              <a:rPr b="0" i="0" lang="en-US" sz="2000" u="none" cap="none" strike="noStrike">
                <a:solidFill>
                  <a:schemeClr val="dk1"/>
                </a:solidFill>
                <a:latin typeface="Roboto Mono"/>
                <a:ea typeface="Roboto Mono"/>
                <a:cs typeface="Roboto Mono"/>
                <a:sym typeface="Roboto Mono"/>
              </a:rPr>
              <a:t>argv</a:t>
            </a:r>
            <a:r>
              <a:rPr b="0" i="0" lang="en-US" sz="2000" u="none" cap="none" strike="noStrike">
                <a:solidFill>
                  <a:schemeClr val="dk1"/>
                </a:solidFill>
                <a:latin typeface="Arial"/>
                <a:ea typeface="Arial"/>
                <a:cs typeface="Arial"/>
                <a:sym typeface="Arial"/>
              </a:rPr>
              <a:t> = list of words you typed when starting the program.</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900"/>
              <a:buFont typeface="Arial"/>
              <a:buNone/>
            </a:pPr>
            <a:r>
              <a:rPr b="1" i="0" lang="en-US" sz="1900" u="none" cap="none" strike="noStrike">
                <a:solidFill>
                  <a:schemeClr val="dk1"/>
                </a:solidFill>
                <a:latin typeface="Roboto Mono"/>
                <a:ea typeface="Roboto Mono"/>
                <a:cs typeface="Roboto Mono"/>
                <a:sym typeface="Roboto Mono"/>
              </a:rPr>
              <a:t>argc</a:t>
            </a:r>
            <a:r>
              <a:rPr b="0" i="0" lang="en-US" sz="1900" u="none" cap="none" strike="noStrike">
                <a:solidFill>
                  <a:schemeClr val="dk1"/>
                </a:solidFill>
                <a:latin typeface="Arial"/>
                <a:ea typeface="Arial"/>
                <a:cs typeface="Arial"/>
                <a:sym typeface="Arial"/>
              </a:rPr>
              <a:t> is  a </a:t>
            </a:r>
            <a:r>
              <a:rPr b="1" i="0" lang="en-US" sz="1900" u="none" cap="none" strike="noStrike">
                <a:solidFill>
                  <a:schemeClr val="dk1"/>
                </a:solidFill>
                <a:latin typeface="Arial"/>
                <a:ea typeface="Arial"/>
                <a:cs typeface="Arial"/>
                <a:sym typeface="Arial"/>
              </a:rPr>
              <a:t>counter</a:t>
            </a:r>
            <a:r>
              <a:rPr b="0" i="0" lang="en-US" sz="1900" u="none" cap="none" strike="noStrike">
                <a:solidFill>
                  <a:schemeClr val="dk1"/>
                </a:solidFill>
                <a:latin typeface="Arial"/>
                <a:ea typeface="Arial"/>
                <a:cs typeface="Arial"/>
                <a:sym typeface="Arial"/>
              </a:rPr>
              <a:t>.</a:t>
            </a:r>
            <a:br>
              <a:rPr b="0" i="0" lang="en-US" sz="1900" u="none" cap="none" strike="noStrike">
                <a:solidFill>
                  <a:schemeClr val="dk1"/>
                </a:solidFill>
                <a:latin typeface="Arial"/>
                <a:ea typeface="Arial"/>
                <a:cs typeface="Arial"/>
                <a:sym typeface="Arial"/>
              </a:rPr>
            </a:br>
            <a:r>
              <a:rPr b="0" i="0" lang="en-US" sz="1900" u="none" cap="none" strike="noStrike">
                <a:solidFill>
                  <a:schemeClr val="dk1"/>
                </a:solidFill>
                <a:latin typeface="Arial"/>
                <a:ea typeface="Arial"/>
                <a:cs typeface="Arial"/>
                <a:sym typeface="Arial"/>
              </a:rPr>
              <a:t> It just counts how many words you typed when you ran the program.</a:t>
            </a: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120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First word is always the program name (</a:t>
            </a:r>
            <a:r>
              <a:rPr b="0" i="0" lang="en-US" sz="1900" u="none" cap="none" strike="noStrike">
                <a:solidFill>
                  <a:schemeClr val="dk1"/>
                </a:solidFill>
                <a:latin typeface="Roboto Mono"/>
                <a:ea typeface="Roboto Mono"/>
                <a:cs typeface="Roboto Mono"/>
                <a:sym typeface="Roboto Mono"/>
              </a:rPr>
              <a:t>./a.out</a:t>
            </a:r>
            <a:r>
              <a:rPr b="0" i="0" lang="en-US" sz="1900" u="none" cap="none" strike="noStrike">
                <a:solidFill>
                  <a:schemeClr val="dk1"/>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Rest are your inputs</a:t>
            </a: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b="0" i="0" lang="en-US" sz="1900" u="none" cap="none" strike="noStrike">
                <a:solidFill>
                  <a:schemeClr val="dk1"/>
                </a:solidFill>
                <a:latin typeface="Roboto Mono"/>
                <a:ea typeface="Roboto Mono"/>
                <a:cs typeface="Roboto Mono"/>
                <a:sym typeface="Roboto Mono"/>
              </a:rPr>
              <a:t>argc = 1</a:t>
            </a:r>
            <a:r>
              <a:rPr b="0" i="0" lang="en-US" sz="1900" u="none" cap="none" strike="noStrike">
                <a:solidFill>
                  <a:schemeClr val="dk1"/>
                </a:solidFill>
                <a:latin typeface="Arial"/>
                <a:ea typeface="Arial"/>
                <a:cs typeface="Arial"/>
                <a:sym typeface="Arial"/>
              </a:rPr>
              <a:t> → only program name given.</a:t>
            </a:r>
            <a:br>
              <a:rPr b="0" i="0" lang="en-US" sz="1900" u="none" cap="none" strike="noStrike">
                <a:solidFill>
                  <a:schemeClr val="dk1"/>
                </a:solidFill>
                <a:latin typeface="Arial"/>
                <a:ea typeface="Arial"/>
                <a:cs typeface="Arial"/>
                <a:sym typeface="Arial"/>
              </a:rPr>
            </a:b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b="0" i="0" lang="en-US" sz="1900" u="none" cap="none" strike="noStrike">
                <a:solidFill>
                  <a:schemeClr val="dk1"/>
                </a:solidFill>
                <a:latin typeface="Roboto Mono"/>
                <a:ea typeface="Roboto Mono"/>
                <a:cs typeface="Roboto Mono"/>
                <a:sym typeface="Roboto Mono"/>
              </a:rPr>
              <a:t>argc = 2</a:t>
            </a:r>
            <a:r>
              <a:rPr b="0" i="0" lang="en-US" sz="1900" u="none" cap="none" strike="noStrike">
                <a:solidFill>
                  <a:schemeClr val="dk1"/>
                </a:solidFill>
                <a:latin typeface="Arial"/>
                <a:ea typeface="Arial"/>
                <a:cs typeface="Arial"/>
                <a:sym typeface="Arial"/>
              </a:rPr>
              <a:t> → program name + 1 input.</a:t>
            </a:r>
            <a:br>
              <a:rPr b="0" i="0" lang="en-US" sz="1900" u="none" cap="none" strike="noStrike">
                <a:solidFill>
                  <a:schemeClr val="dk1"/>
                </a:solidFill>
                <a:latin typeface="Arial"/>
                <a:ea typeface="Arial"/>
                <a:cs typeface="Arial"/>
                <a:sym typeface="Arial"/>
              </a:rPr>
            </a:b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b="0" i="0" lang="en-US" sz="1900" u="none" cap="none" strike="noStrike">
                <a:solidFill>
                  <a:schemeClr val="dk1"/>
                </a:solidFill>
                <a:latin typeface="Roboto Mono"/>
                <a:ea typeface="Roboto Mono"/>
                <a:cs typeface="Roboto Mono"/>
                <a:sym typeface="Roboto Mono"/>
              </a:rPr>
              <a:t>argc = 3</a:t>
            </a:r>
            <a:r>
              <a:rPr b="0" i="0" lang="en-US" sz="1900" u="none" cap="none" strike="noStrike">
                <a:solidFill>
                  <a:schemeClr val="dk1"/>
                </a:solidFill>
                <a:latin typeface="Arial"/>
                <a:ea typeface="Arial"/>
                <a:cs typeface="Arial"/>
                <a:sym typeface="Arial"/>
              </a:rPr>
              <a:t> → program name + 2 inputs … and so on.</a:t>
            </a:r>
            <a:br>
              <a:rPr b="0" i="0" lang="en-US" sz="1900" u="none" cap="none" strike="noStrike">
                <a:solidFill>
                  <a:schemeClr val="dk1"/>
                </a:solidFill>
                <a:latin typeface="Arial"/>
                <a:ea typeface="Arial"/>
                <a:cs typeface="Arial"/>
                <a:sym typeface="Arial"/>
              </a:rPr>
            </a:br>
            <a:endParaRPr b="0" i="0" sz="19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383071ae8d3_0_44"/>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444" name="Google Shape;444;g383071ae8d3_0_44"/>
          <p:cNvGrpSpPr/>
          <p:nvPr/>
        </p:nvGrpSpPr>
        <p:grpSpPr>
          <a:xfrm>
            <a:off x="0" y="14654"/>
            <a:ext cx="12192000" cy="6858000"/>
            <a:chOff x="0" y="0"/>
            <a:chExt cx="12192000" cy="6858000"/>
          </a:xfrm>
        </p:grpSpPr>
        <p:pic>
          <p:nvPicPr>
            <p:cNvPr id="445" name="Google Shape;445;g383071ae8d3_0_44"/>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446" name="Google Shape;446;g383071ae8d3_0_44"/>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7" name="Google Shape;447;g383071ae8d3_0_44"/>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48" name="Google Shape;448;g383071ae8d3_0_44"/>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449" name="Google Shape;449;g383071ae8d3_0_44"/>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50" name="Google Shape;450;g383071ae8d3_0_44"/>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451" name="Google Shape;451;g383071ae8d3_0_44"/>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452" name="Google Shape;452;g383071ae8d3_0_44"/>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3" name="Google Shape;453;g383071ae8d3_0_44"/>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4" name="Google Shape;454;g383071ae8d3_0_44"/>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55" name="Google Shape;455;g383071ae8d3_0_44"/>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456" name="Google Shape;456;g383071ae8d3_0_44"/>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57" name="Google Shape;457;g383071ae8d3_0_44"/>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458" name="Google Shape;458;g383071ae8d3_0_44"/>
          <p:cNvSpPr txBox="1"/>
          <p:nvPr/>
        </p:nvSpPr>
        <p:spPr>
          <a:xfrm>
            <a:off x="1495625" y="255350"/>
            <a:ext cx="7697100" cy="54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rPr b="0" i="0" lang="en-US" sz="2050" u="none" cap="none" strike="noStrike">
                <a:solidFill>
                  <a:schemeClr val="dk1"/>
                </a:solidFill>
                <a:latin typeface="Times New Roman"/>
                <a:ea typeface="Times New Roman"/>
                <a:cs typeface="Times New Roman"/>
                <a:sym typeface="Times New Roman"/>
              </a:rPr>
              <a:t> </a:t>
            </a:r>
            <a:r>
              <a:rPr b="1" i="0" lang="en-US" sz="2050" u="none" cap="none" strike="noStrike">
                <a:solidFill>
                  <a:srgbClr val="FF0000"/>
                </a:solidFill>
                <a:latin typeface="Times New Roman"/>
                <a:ea typeface="Times New Roman"/>
                <a:cs typeface="Times New Roman"/>
                <a:sym typeface="Times New Roman"/>
              </a:rPr>
              <a:t>The return Statement</a:t>
            </a:r>
            <a:endParaRPr b="1" i="0" sz="2050" u="none" cap="none" strike="noStrike">
              <a:solidFill>
                <a:srgbClr val="FF0000"/>
              </a:solidFill>
              <a:latin typeface="Times New Roman"/>
              <a:ea typeface="Times New Roman"/>
              <a:cs typeface="Times New Roman"/>
              <a:sym typeface="Times New Roman"/>
            </a:endParaRPr>
          </a:p>
        </p:txBody>
      </p:sp>
      <p:sp>
        <p:nvSpPr>
          <p:cNvPr id="459" name="Google Shape;459;g383071ae8d3_0_44"/>
          <p:cNvSpPr txBox="1"/>
          <p:nvPr/>
        </p:nvSpPr>
        <p:spPr>
          <a:xfrm>
            <a:off x="1495625" y="1039650"/>
            <a:ext cx="10696500" cy="58185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1200"/>
              </a:spcBef>
              <a:spcAft>
                <a:spcPts val="0"/>
              </a:spcAft>
              <a:buClr>
                <a:schemeClr val="dk1"/>
              </a:buClr>
              <a:buSzPts val="2000"/>
              <a:buFont typeface="Arial"/>
              <a:buAutoNum type="arabicPeriod"/>
            </a:pPr>
            <a:r>
              <a:rPr b="0" i="0" lang="en-US" sz="2000" u="none" cap="none" strike="noStrike">
                <a:solidFill>
                  <a:schemeClr val="dk1"/>
                </a:solidFill>
                <a:latin typeface="Arial"/>
                <a:ea typeface="Arial"/>
                <a:cs typeface="Arial"/>
                <a:sym typeface="Arial"/>
              </a:rPr>
              <a:t>The </a:t>
            </a:r>
            <a:r>
              <a:rPr b="0" i="0" lang="en-US" sz="2000" u="none" cap="none" strike="noStrike">
                <a:solidFill>
                  <a:srgbClr val="188038"/>
                </a:solidFill>
                <a:latin typeface="Roboto Mono"/>
                <a:ea typeface="Roboto Mono"/>
                <a:cs typeface="Roboto Mono"/>
                <a:sym typeface="Roboto Mono"/>
              </a:rPr>
              <a:t>return</a:t>
            </a:r>
            <a:r>
              <a:rPr b="0" i="0" lang="en-US" sz="2000" u="none" cap="none" strike="noStrike">
                <a:solidFill>
                  <a:schemeClr val="dk1"/>
                </a:solidFill>
                <a:latin typeface="Arial"/>
                <a:ea typeface="Arial"/>
                <a:cs typeface="Arial"/>
                <a:sym typeface="Arial"/>
              </a:rPr>
              <a:t> statement is used inside a </a:t>
            </a:r>
            <a:r>
              <a:rPr b="1" i="0" lang="en-US" sz="2000" u="none" cap="none" strike="noStrike">
                <a:solidFill>
                  <a:schemeClr val="dk1"/>
                </a:solidFill>
                <a:latin typeface="Arial"/>
                <a:ea typeface="Arial"/>
                <a:cs typeface="Arial"/>
                <a:sym typeface="Arial"/>
              </a:rPr>
              <a:t>function</a:t>
            </a:r>
            <a:r>
              <a:rPr b="0" i="0" lang="en-US" sz="2000" u="none" cap="none" strike="noStrike">
                <a:solidFill>
                  <a:schemeClr val="dk1"/>
                </a:solidFill>
                <a:latin typeface="Arial"/>
                <a:ea typeface="Arial"/>
                <a:cs typeface="Arial"/>
                <a:sym typeface="Arial"/>
              </a:rPr>
              <a:t>.</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AutoNum type="arabicPeriod"/>
            </a:pPr>
            <a:r>
              <a:rPr b="0" i="0" lang="en-US" sz="2000" u="none" cap="none" strike="noStrike">
                <a:solidFill>
                  <a:schemeClr val="dk1"/>
                </a:solidFill>
                <a:latin typeface="Arial"/>
                <a:ea typeface="Arial"/>
                <a:cs typeface="Arial"/>
                <a:sym typeface="Arial"/>
              </a:rPr>
              <a:t>Its purpose is to </a:t>
            </a:r>
            <a:r>
              <a:rPr b="1" i="0" lang="en-US" sz="2000" u="none" cap="none" strike="noStrike">
                <a:solidFill>
                  <a:schemeClr val="dk1"/>
                </a:solidFill>
                <a:latin typeface="Arial"/>
                <a:ea typeface="Arial"/>
                <a:cs typeface="Arial"/>
                <a:sym typeface="Arial"/>
              </a:rPr>
              <a:t>send a value back</a:t>
            </a:r>
            <a:r>
              <a:rPr b="0" i="0" lang="en-US" sz="2000" u="none" cap="none" strike="noStrike">
                <a:solidFill>
                  <a:schemeClr val="dk1"/>
                </a:solidFill>
                <a:latin typeface="Arial"/>
                <a:ea typeface="Arial"/>
                <a:cs typeface="Arial"/>
                <a:sym typeface="Arial"/>
              </a:rPr>
              <a:t> from the function to the part of the program that called it.</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AutoNum type="arabicPeriod"/>
            </a:pPr>
            <a:r>
              <a:rPr b="0" i="0" lang="en-US" sz="2000" u="none" cap="none" strike="noStrike">
                <a:solidFill>
                  <a:schemeClr val="dk1"/>
                </a:solidFill>
                <a:latin typeface="Arial"/>
                <a:ea typeface="Arial"/>
                <a:cs typeface="Arial"/>
                <a:sym typeface="Arial"/>
              </a:rPr>
              <a:t>If the function does not need to send anything back, we can just use </a:t>
            </a:r>
            <a:r>
              <a:rPr b="0" i="0" lang="en-US" sz="2000" u="none" cap="none" strike="noStrike">
                <a:solidFill>
                  <a:srgbClr val="188038"/>
                </a:solidFill>
                <a:latin typeface="Roboto Mono"/>
                <a:ea typeface="Roboto Mono"/>
                <a:cs typeface="Roboto Mono"/>
                <a:sym typeface="Roboto Mono"/>
              </a:rPr>
              <a:t>return;</a:t>
            </a:r>
            <a:r>
              <a:rPr b="0" i="0" lang="en-US" sz="2000" u="none" cap="none" strike="noStrike">
                <a:solidFill>
                  <a:schemeClr val="dk1"/>
                </a:solidFill>
                <a:latin typeface="Arial"/>
                <a:ea typeface="Arial"/>
                <a:cs typeface="Arial"/>
                <a:sym typeface="Arial"/>
              </a:rPr>
              <a:t> in a </a:t>
            </a:r>
            <a:r>
              <a:rPr b="0" i="0" lang="en-US" sz="2000" u="none" cap="none" strike="noStrike">
                <a:solidFill>
                  <a:srgbClr val="188038"/>
                </a:solidFill>
                <a:latin typeface="Roboto Mono"/>
                <a:ea typeface="Roboto Mono"/>
                <a:cs typeface="Roboto Mono"/>
                <a:sym typeface="Roboto Mono"/>
              </a:rPr>
              <a:t>void</a:t>
            </a:r>
            <a:r>
              <a:rPr b="0" i="0" lang="en-US" sz="2000" u="none" cap="none" strike="noStrike">
                <a:solidFill>
                  <a:schemeClr val="dk1"/>
                </a:solidFill>
                <a:latin typeface="Arial"/>
                <a:ea typeface="Arial"/>
                <a:cs typeface="Arial"/>
                <a:sym typeface="Arial"/>
              </a:rPr>
              <a:t> function.</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AutoNum type="arabicPeriod"/>
            </a:pPr>
            <a:r>
              <a:rPr b="0" i="0" lang="en-US" sz="2000" u="none" cap="none" strike="noStrike">
                <a:solidFill>
                  <a:schemeClr val="dk1"/>
                </a:solidFill>
                <a:latin typeface="Arial"/>
                <a:ea typeface="Arial"/>
                <a:cs typeface="Arial"/>
                <a:sym typeface="Arial"/>
              </a:rPr>
              <a:t>In the </a:t>
            </a:r>
            <a:r>
              <a:rPr b="0" i="0" lang="en-US" sz="2000" u="none" cap="none" strike="noStrike">
                <a:solidFill>
                  <a:srgbClr val="188038"/>
                </a:solidFill>
                <a:latin typeface="Roboto Mono"/>
                <a:ea typeface="Roboto Mono"/>
                <a:cs typeface="Roboto Mono"/>
                <a:sym typeface="Roboto Mono"/>
              </a:rPr>
              <a:t>main()</a:t>
            </a:r>
            <a:r>
              <a:rPr b="0" i="0" lang="en-US" sz="2000" u="none" cap="none" strike="noStrike">
                <a:solidFill>
                  <a:schemeClr val="dk1"/>
                </a:solidFill>
                <a:latin typeface="Arial"/>
                <a:ea typeface="Arial"/>
                <a:cs typeface="Arial"/>
                <a:sym typeface="Arial"/>
              </a:rPr>
              <a:t> function, </a:t>
            </a:r>
            <a:r>
              <a:rPr b="0" i="0" lang="en-US" sz="2000" u="none" cap="none" strike="noStrike">
                <a:solidFill>
                  <a:srgbClr val="188038"/>
                </a:solidFill>
                <a:latin typeface="Roboto Mono"/>
                <a:ea typeface="Roboto Mono"/>
                <a:cs typeface="Roboto Mono"/>
                <a:sym typeface="Roboto Mono"/>
              </a:rPr>
              <a:t>return 0;</a:t>
            </a:r>
            <a:r>
              <a:rPr b="0" i="0" lang="en-US" sz="2000" u="none" cap="none" strike="noStrike">
                <a:solidFill>
                  <a:schemeClr val="dk1"/>
                </a:solidFill>
                <a:latin typeface="Arial"/>
                <a:ea typeface="Arial"/>
                <a:cs typeface="Arial"/>
                <a:sym typeface="Arial"/>
              </a:rPr>
              <a:t> is usually written to show the program ended successfully.</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383071ae8d3_0_80"/>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465" name="Google Shape;465;g383071ae8d3_0_80"/>
          <p:cNvGrpSpPr/>
          <p:nvPr/>
        </p:nvGrpSpPr>
        <p:grpSpPr>
          <a:xfrm>
            <a:off x="0" y="14654"/>
            <a:ext cx="12192000" cy="6858000"/>
            <a:chOff x="0" y="0"/>
            <a:chExt cx="12192000" cy="6858000"/>
          </a:xfrm>
        </p:grpSpPr>
        <p:pic>
          <p:nvPicPr>
            <p:cNvPr id="466" name="Google Shape;466;g383071ae8d3_0_80"/>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467" name="Google Shape;467;g383071ae8d3_0_80"/>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8" name="Google Shape;468;g383071ae8d3_0_80"/>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69" name="Google Shape;469;g383071ae8d3_0_80"/>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470" name="Google Shape;470;g383071ae8d3_0_80"/>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71" name="Google Shape;471;g383071ae8d3_0_80"/>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472" name="Google Shape;472;g383071ae8d3_0_80"/>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473" name="Google Shape;473;g383071ae8d3_0_80"/>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4" name="Google Shape;474;g383071ae8d3_0_80"/>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5" name="Google Shape;475;g383071ae8d3_0_80"/>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76" name="Google Shape;476;g383071ae8d3_0_80"/>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477" name="Google Shape;477;g383071ae8d3_0_80"/>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78" name="Google Shape;478;g383071ae8d3_0_80"/>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479" name="Google Shape;479;g383071ae8d3_0_80"/>
          <p:cNvSpPr txBox="1"/>
          <p:nvPr/>
        </p:nvSpPr>
        <p:spPr>
          <a:xfrm>
            <a:off x="1659775" y="218875"/>
            <a:ext cx="7241100" cy="729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rPr b="0" i="0" lang="en-US" sz="2050" u="none" cap="none" strike="noStrike">
                <a:solidFill>
                  <a:schemeClr val="dk1"/>
                </a:solidFill>
                <a:latin typeface="Times New Roman"/>
                <a:ea typeface="Times New Roman"/>
                <a:cs typeface="Times New Roman"/>
                <a:sym typeface="Times New Roman"/>
              </a:rPr>
              <a:t> </a:t>
            </a:r>
            <a:r>
              <a:rPr b="1" i="0" lang="en-US" sz="2450" u="none" cap="none" strike="noStrike">
                <a:solidFill>
                  <a:srgbClr val="FF0000"/>
                </a:solidFill>
                <a:latin typeface="Times New Roman"/>
                <a:ea typeface="Times New Roman"/>
                <a:cs typeface="Times New Roman"/>
                <a:sym typeface="Times New Roman"/>
              </a:rPr>
              <a:t>Returning from a Function</a:t>
            </a:r>
            <a:endParaRPr b="1" i="0" sz="2450" u="none" cap="none" strike="noStrike">
              <a:solidFill>
                <a:srgbClr val="FF0000"/>
              </a:solidFill>
              <a:latin typeface="Times New Roman"/>
              <a:ea typeface="Times New Roman"/>
              <a:cs typeface="Times New Roman"/>
              <a:sym typeface="Times New Roman"/>
            </a:endParaRPr>
          </a:p>
        </p:txBody>
      </p:sp>
      <p:sp>
        <p:nvSpPr>
          <p:cNvPr id="480" name="Google Shape;480;g383071ae8d3_0_80"/>
          <p:cNvSpPr txBox="1"/>
          <p:nvPr/>
        </p:nvSpPr>
        <p:spPr>
          <a:xfrm>
            <a:off x="1659775" y="729575"/>
            <a:ext cx="9356700" cy="569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50"/>
              <a:buFont typeface="Arial"/>
              <a:buNone/>
            </a:pPr>
            <a:r>
              <a:rPr b="0" i="0" lang="en-US" sz="2250" u="none" cap="none" strike="noStrike">
                <a:solidFill>
                  <a:schemeClr val="dk1"/>
                </a:solidFill>
                <a:latin typeface="Times New Roman"/>
                <a:ea typeface="Times New Roman"/>
                <a:cs typeface="Times New Roman"/>
                <a:sym typeface="Times New Roman"/>
              </a:rPr>
              <a:t> A function terminates execution and returns to the caller in two ways. </a:t>
            </a:r>
            <a:br>
              <a:rPr b="0" i="0" lang="en-US" sz="2250" u="none" cap="none" strike="noStrike">
                <a:solidFill>
                  <a:schemeClr val="dk1"/>
                </a:solidFill>
                <a:latin typeface="Times New Roman"/>
                <a:ea typeface="Times New Roman"/>
                <a:cs typeface="Times New Roman"/>
                <a:sym typeface="Times New Roman"/>
              </a:rPr>
            </a:br>
            <a:r>
              <a:rPr b="0" i="0" lang="en-US" sz="2250" u="none" cap="none" strike="noStrike">
                <a:solidFill>
                  <a:schemeClr val="dk1"/>
                </a:solidFill>
                <a:latin typeface="Times New Roman"/>
                <a:ea typeface="Times New Roman"/>
                <a:cs typeface="Times New Roman"/>
                <a:sym typeface="Times New Roman"/>
              </a:rPr>
              <a:t>The first occurs when the last statement in the function has executed, and, conceptually, the function's ending curly brace (}) is encountered.</a:t>
            </a:r>
            <a:endParaRPr b="0" i="0" sz="225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50"/>
              <a:buFont typeface="Arial"/>
              <a:buNone/>
            </a:pPr>
            <a:r>
              <a:rPr b="0" i="0" lang="en-US" sz="2250" u="none" cap="none" strike="noStrike">
                <a:solidFill>
                  <a:schemeClr val="dk1"/>
                </a:solidFill>
                <a:latin typeface="Times New Roman"/>
                <a:ea typeface="Times New Roman"/>
                <a:cs typeface="Times New Roman"/>
                <a:sym typeface="Times New Roman"/>
              </a:rPr>
              <a:t> </a:t>
            </a:r>
            <a:r>
              <a:rPr b="1" i="0" lang="en-US" sz="1700" u="none" cap="none" strike="noStrike">
                <a:solidFill>
                  <a:schemeClr val="dk1"/>
                </a:solidFill>
                <a:latin typeface="Arial"/>
                <a:ea typeface="Arial"/>
                <a:cs typeface="Arial"/>
                <a:sym typeface="Arial"/>
              </a:rPr>
              <a:t>1.</a:t>
            </a:r>
            <a:r>
              <a:rPr b="1" i="0" lang="en-US" sz="2000" u="none" cap="none" strike="noStrike">
                <a:solidFill>
                  <a:schemeClr val="dk1"/>
                </a:solidFill>
                <a:latin typeface="Arial"/>
                <a:ea typeface="Arial"/>
                <a:cs typeface="Arial"/>
                <a:sym typeface="Arial"/>
              </a:rPr>
              <a:t> Function ends at the closing brace </a:t>
            </a:r>
            <a:r>
              <a:rPr b="1" i="0" lang="en-US" sz="2000" u="none" cap="none" strike="noStrike">
                <a:solidFill>
                  <a:srgbClr val="188038"/>
                </a:solidFill>
                <a:latin typeface="Roboto Mono"/>
                <a:ea typeface="Roboto Mono"/>
                <a:cs typeface="Roboto Mono"/>
                <a:sym typeface="Roboto Mono"/>
              </a:rPr>
              <a:t>}</a:t>
            </a:r>
            <a:endParaRPr b="1" i="0" sz="2000" u="none" cap="none" strike="noStrike">
              <a:solidFill>
                <a:srgbClr val="188038"/>
              </a:solidFill>
              <a:latin typeface="Roboto Mono"/>
              <a:ea typeface="Roboto Mono"/>
              <a:cs typeface="Roboto Mono"/>
              <a:sym typeface="Roboto Mono"/>
            </a:endParaRPr>
          </a:p>
          <a:p>
            <a:pPr indent="-342900" lvl="0" marL="457200" marR="0" rtl="0" algn="l">
              <a:lnSpc>
                <a:spcPct val="115000"/>
              </a:lnSpc>
              <a:spcBef>
                <a:spcPts val="120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When the last statement in the function is finished,</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Control goes back to the main program automatically.</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Arial"/>
                <a:ea typeface="Arial"/>
                <a:cs typeface="Arial"/>
                <a:sym typeface="Arial"/>
              </a:rPr>
              <a:t>👉 Example:</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188038"/>
                </a:solidFill>
                <a:latin typeface="Roboto Mono"/>
                <a:ea typeface="Roboto Mono"/>
                <a:cs typeface="Roboto Mono"/>
                <a:sym typeface="Roboto Mono"/>
              </a:rPr>
              <a:t>void hello() {</a:t>
            </a:r>
            <a:endParaRPr b="0" i="0" sz="1800" u="none" cap="none" strike="noStrike">
              <a:solidFill>
                <a:srgbClr val="188038"/>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88038"/>
                </a:solidFill>
                <a:latin typeface="Roboto Mono"/>
                <a:ea typeface="Roboto Mono"/>
                <a:cs typeface="Roboto Mono"/>
                <a:sym typeface="Roboto Mono"/>
              </a:rPr>
              <a:t>    printf("Hello Students");</a:t>
            </a:r>
            <a:endParaRPr b="0" i="0" sz="1800" u="none" cap="none" strike="noStrike">
              <a:solidFill>
                <a:srgbClr val="188038"/>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88038"/>
                </a:solidFill>
                <a:latin typeface="Roboto Mono"/>
                <a:ea typeface="Roboto Mono"/>
                <a:cs typeface="Roboto Mono"/>
                <a:sym typeface="Roboto Mono"/>
              </a:rPr>
              <a:t>}   // Ends here</a:t>
            </a:r>
            <a:endParaRPr b="0" i="0" sz="1800" u="none" cap="none" strike="noStrike">
              <a:solidFill>
                <a:srgbClr val="188038"/>
              </a:solidFill>
              <a:latin typeface="Roboto Mono"/>
              <a:ea typeface="Roboto Mono"/>
              <a:cs typeface="Roboto Mono"/>
              <a:sym typeface="Roboto Mono"/>
            </a:endParaRPr>
          </a:p>
          <a:p>
            <a:pPr indent="0" lvl="0" marL="0" marR="0" rtl="0" algn="l">
              <a:lnSpc>
                <a:spcPct val="115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Arial"/>
                <a:ea typeface="Arial"/>
                <a:cs typeface="Arial"/>
                <a:sym typeface="Arial"/>
              </a:rPr>
              <a:t>Output:</a:t>
            </a:r>
            <a:r>
              <a:rPr b="0" i="0" lang="en-US" sz="1800" u="none" cap="none" strike="noStrike">
                <a:solidFill>
                  <a:schemeClr val="dk1"/>
                </a:solidFill>
                <a:latin typeface="Arial"/>
                <a:ea typeface="Arial"/>
                <a:cs typeface="Arial"/>
                <a:sym typeface="Arial"/>
              </a:rPr>
              <a:t> </a:t>
            </a:r>
            <a:r>
              <a:rPr b="0" i="0" lang="en-US" sz="1800" u="none" cap="none" strike="noStrike">
                <a:solidFill>
                  <a:srgbClr val="188038"/>
                </a:solidFill>
                <a:latin typeface="Roboto Mono"/>
                <a:ea typeface="Roboto Mono"/>
                <a:cs typeface="Roboto Mono"/>
                <a:sym typeface="Roboto Mono"/>
              </a:rPr>
              <a:t>Hello Students</a:t>
            </a:r>
            <a:br>
              <a:rPr b="0" i="0" lang="en-US" sz="1800" u="none" cap="none" strike="noStrike">
                <a:solidFill>
                  <a:srgbClr val="188038"/>
                </a:solidFill>
                <a:latin typeface="Roboto Mono"/>
                <a:ea typeface="Roboto Mono"/>
                <a:cs typeface="Roboto Mono"/>
                <a:sym typeface="Roboto Mono"/>
              </a:rPr>
            </a:br>
            <a:r>
              <a:rPr b="0" i="0" lang="en-US" sz="1800" u="none" cap="none" strike="noStrike">
                <a:solidFill>
                  <a:schemeClr val="dk1"/>
                </a:solidFill>
                <a:latin typeface="Arial"/>
                <a:ea typeface="Arial"/>
                <a:cs typeface="Arial"/>
                <a:sym typeface="Arial"/>
              </a:rPr>
              <a:t> (After this, control returns to </a:t>
            </a:r>
            <a:r>
              <a:rPr b="0" i="0" lang="en-US" sz="1800" u="none" cap="none" strike="noStrike">
                <a:solidFill>
                  <a:srgbClr val="188038"/>
                </a:solidFill>
                <a:latin typeface="Roboto Mono"/>
                <a:ea typeface="Roboto Mono"/>
                <a:cs typeface="Roboto Mono"/>
                <a:sym typeface="Roboto Mono"/>
              </a:rPr>
              <a:t>main()</a:t>
            </a:r>
            <a:r>
              <a:rPr b="0" i="0" lang="en-US"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550"/>
              <a:buFont typeface="Arial"/>
              <a:buNone/>
            </a:pPr>
            <a:r>
              <a:t/>
            </a:r>
            <a:endParaRPr b="0" i="0" sz="25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g383071ae8d3_0_98"/>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486" name="Google Shape;486;g383071ae8d3_0_98"/>
          <p:cNvGrpSpPr/>
          <p:nvPr/>
        </p:nvGrpSpPr>
        <p:grpSpPr>
          <a:xfrm>
            <a:off x="0" y="14654"/>
            <a:ext cx="12192000" cy="6858000"/>
            <a:chOff x="0" y="0"/>
            <a:chExt cx="12192000" cy="6858000"/>
          </a:xfrm>
        </p:grpSpPr>
        <p:pic>
          <p:nvPicPr>
            <p:cNvPr id="487" name="Google Shape;487;g383071ae8d3_0_98"/>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488" name="Google Shape;488;g383071ae8d3_0_98"/>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9" name="Google Shape;489;g383071ae8d3_0_98"/>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90" name="Google Shape;490;g383071ae8d3_0_98"/>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491" name="Google Shape;491;g383071ae8d3_0_98"/>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92" name="Google Shape;492;g383071ae8d3_0_98"/>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493" name="Google Shape;493;g383071ae8d3_0_98"/>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494" name="Google Shape;494;g383071ae8d3_0_98"/>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5" name="Google Shape;495;g383071ae8d3_0_98"/>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6" name="Google Shape;496;g383071ae8d3_0_98"/>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97" name="Google Shape;497;g383071ae8d3_0_98"/>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498" name="Google Shape;498;g383071ae8d3_0_98"/>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99" name="Google Shape;499;g383071ae8d3_0_98"/>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500" name="Google Shape;500;g383071ae8d3_0_98"/>
          <p:cNvSpPr txBox="1"/>
          <p:nvPr/>
        </p:nvSpPr>
        <p:spPr>
          <a:xfrm>
            <a:off x="1586825" y="638375"/>
            <a:ext cx="8937300" cy="489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2.Function ends early using </a:t>
            </a:r>
            <a:r>
              <a:rPr b="1" i="0" lang="en-US" sz="2200" u="none" cap="none" strike="noStrike">
                <a:solidFill>
                  <a:srgbClr val="188038"/>
                </a:solidFill>
                <a:latin typeface="Roboto Mono"/>
                <a:ea typeface="Roboto Mono"/>
                <a:cs typeface="Roboto Mono"/>
                <a:sym typeface="Roboto Mono"/>
              </a:rPr>
              <a:t>return</a:t>
            </a:r>
            <a:endParaRPr b="1" i="0" sz="2200" u="none" cap="none" strike="noStrike">
              <a:solidFill>
                <a:srgbClr val="188038"/>
              </a:solidFill>
              <a:latin typeface="Roboto Mono"/>
              <a:ea typeface="Roboto Mono"/>
              <a:cs typeface="Roboto Mono"/>
              <a:sym typeface="Roboto Mono"/>
            </a:endParaRPr>
          </a:p>
          <a:p>
            <a:pPr indent="-355600" lvl="0" marL="457200" marR="0" rtl="0" algn="l">
              <a:lnSpc>
                <a:spcPct val="115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A </a:t>
            </a:r>
            <a:r>
              <a:rPr b="0" i="0" lang="en-US" sz="2000" u="none" cap="none" strike="noStrike">
                <a:solidFill>
                  <a:srgbClr val="188038"/>
                </a:solidFill>
                <a:latin typeface="Roboto Mono"/>
                <a:ea typeface="Roboto Mono"/>
                <a:cs typeface="Roboto Mono"/>
                <a:sym typeface="Roboto Mono"/>
              </a:rPr>
              <a:t>return</a:t>
            </a:r>
            <a:r>
              <a:rPr b="0" i="0" lang="en-US" sz="2000" u="none" cap="none" strike="noStrike">
                <a:solidFill>
                  <a:schemeClr val="dk1"/>
                </a:solidFill>
                <a:latin typeface="Arial"/>
                <a:ea typeface="Arial"/>
                <a:cs typeface="Arial"/>
                <a:sym typeface="Arial"/>
              </a:rPr>
              <a:t> statement sends control back to the main program immediately.</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It can also send back a value.</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 Example:</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188038"/>
                </a:solidFill>
                <a:latin typeface="Roboto Mono"/>
                <a:ea typeface="Roboto Mono"/>
                <a:cs typeface="Roboto Mono"/>
                <a:sym typeface="Roboto Mono"/>
              </a:rPr>
              <a:t>int add(int a, int b) {</a:t>
            </a:r>
            <a:endParaRPr b="0" i="0" sz="2000" u="none" cap="none" strike="noStrike">
              <a:solidFill>
                <a:srgbClr val="188038"/>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188038"/>
                </a:solidFill>
                <a:latin typeface="Roboto Mono"/>
                <a:ea typeface="Roboto Mono"/>
                <a:cs typeface="Roboto Mono"/>
                <a:sym typeface="Roboto Mono"/>
              </a:rPr>
              <a:t>    return a + b;   // Ends here and sends result</a:t>
            </a:r>
            <a:endParaRPr b="0" i="0" sz="2000" u="none" cap="none" strike="noStrike">
              <a:solidFill>
                <a:srgbClr val="188038"/>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188038"/>
                </a:solidFill>
                <a:latin typeface="Roboto Mono"/>
                <a:ea typeface="Roboto Mono"/>
                <a:cs typeface="Roboto Mono"/>
                <a:sym typeface="Roboto Mono"/>
              </a:rPr>
              <a:t>}</a:t>
            </a:r>
            <a:endParaRPr b="0" i="0" sz="2000" u="none" cap="none" strike="noStrike">
              <a:solidFill>
                <a:srgbClr val="188038"/>
              </a:solidFill>
              <a:latin typeface="Roboto Mono"/>
              <a:ea typeface="Roboto Mono"/>
              <a:cs typeface="Roboto Mono"/>
              <a:sym typeface="Roboto Mon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2000"/>
              <a:buFont typeface="Arial"/>
              <a:buNone/>
            </a:pPr>
            <a:r>
              <a:rPr b="1" i="0" lang="en-US" sz="2000" u="none" cap="none" strike="noStrike">
                <a:solidFill>
                  <a:schemeClr val="dk1"/>
                </a:solidFill>
                <a:latin typeface="Arial"/>
                <a:ea typeface="Arial"/>
                <a:cs typeface="Arial"/>
                <a:sym typeface="Arial"/>
              </a:rPr>
              <a:t>Output:</a:t>
            </a:r>
            <a:r>
              <a:rPr b="0" i="0" lang="en-US" sz="2000" u="none" cap="none" strike="noStrike">
                <a:solidFill>
                  <a:schemeClr val="dk1"/>
                </a:solidFill>
                <a:latin typeface="Arial"/>
                <a:ea typeface="Arial"/>
                <a:cs typeface="Arial"/>
                <a:sym typeface="Arial"/>
              </a:rPr>
              <a:t> If </a:t>
            </a:r>
            <a:r>
              <a:rPr b="0" i="0" lang="en-US" sz="2000" u="none" cap="none" strike="noStrike">
                <a:solidFill>
                  <a:srgbClr val="188038"/>
                </a:solidFill>
                <a:latin typeface="Roboto Mono"/>
                <a:ea typeface="Roboto Mono"/>
                <a:cs typeface="Roboto Mono"/>
                <a:sym typeface="Roboto Mono"/>
              </a:rPr>
              <a:t>add(5, 3)</a:t>
            </a:r>
            <a:r>
              <a:rPr b="0" i="0" lang="en-US" sz="2000" u="none" cap="none" strike="noStrike">
                <a:solidFill>
                  <a:schemeClr val="dk1"/>
                </a:solidFill>
                <a:latin typeface="Arial"/>
                <a:ea typeface="Arial"/>
                <a:cs typeface="Arial"/>
                <a:sym typeface="Arial"/>
              </a:rPr>
              <a:t> → it returns </a:t>
            </a:r>
            <a:r>
              <a:rPr b="0" i="0" lang="en-US" sz="2000" u="none" cap="none" strike="noStrike">
                <a:solidFill>
                  <a:srgbClr val="188038"/>
                </a:solidFill>
                <a:latin typeface="Roboto Mono"/>
                <a:ea typeface="Roboto Mono"/>
                <a:cs typeface="Roboto Mono"/>
                <a:sym typeface="Roboto Mono"/>
              </a:rPr>
              <a:t>8</a:t>
            </a:r>
            <a:r>
              <a:rPr b="0" i="0" lang="en-US" sz="2000" u="none" cap="none" strike="noStrike">
                <a:solidFill>
                  <a:schemeClr val="dk1"/>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
        <p:nvSpPr>
          <p:cNvPr id="501" name="Google Shape;501;g383071ae8d3_0_98"/>
          <p:cNvSpPr txBox="1"/>
          <p:nvPr/>
        </p:nvSpPr>
        <p:spPr>
          <a:xfrm>
            <a:off x="1678025" y="5708925"/>
            <a:ext cx="9758100" cy="857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Functions can stop in </a:t>
            </a:r>
            <a:r>
              <a:rPr b="1" i="0" lang="en-US" sz="800" u="none" cap="none" strike="noStrike">
                <a:solidFill>
                  <a:schemeClr val="dk1"/>
                </a:solidFill>
                <a:latin typeface="Arial"/>
                <a:ea typeface="Arial"/>
                <a:cs typeface="Arial"/>
                <a:sym typeface="Arial"/>
              </a:rPr>
              <a:t>two ways</a:t>
            </a:r>
            <a:r>
              <a:rPr b="0" i="0" lang="en-US" sz="800" u="none" cap="none" strike="noStrike">
                <a:solidFill>
                  <a:schemeClr val="dk1"/>
                </a:solidFill>
                <a:latin typeface="Arial"/>
                <a:ea typeface="Arial"/>
                <a:cs typeface="Arial"/>
                <a:sym typeface="Arial"/>
              </a:rPr>
              <a:t>:</a:t>
            </a: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1200"/>
              </a:spcBef>
              <a:spcAft>
                <a:spcPts val="0"/>
              </a:spcAft>
              <a:buClr>
                <a:schemeClr val="dk1"/>
              </a:buClr>
              <a:buSzPts val="800"/>
              <a:buFont typeface="Arial"/>
              <a:buAutoNum type="arabicPeriod"/>
            </a:pPr>
            <a:r>
              <a:rPr b="0" i="0" lang="en-US" sz="800" u="none" cap="none" strike="noStrike">
                <a:solidFill>
                  <a:schemeClr val="dk1"/>
                </a:solidFill>
                <a:latin typeface="Arial"/>
                <a:ea typeface="Arial"/>
                <a:cs typeface="Arial"/>
                <a:sym typeface="Arial"/>
              </a:rPr>
              <a:t>By reaching the end (</a:t>
            </a:r>
            <a:r>
              <a:rPr b="0" i="0" lang="en-US" sz="800" u="none" cap="none" strike="noStrike">
                <a:solidFill>
                  <a:srgbClr val="188038"/>
                </a:solidFill>
                <a:latin typeface="Roboto Mono"/>
                <a:ea typeface="Roboto Mono"/>
                <a:cs typeface="Roboto Mono"/>
                <a:sym typeface="Roboto Mono"/>
              </a:rPr>
              <a:t>}</a:t>
            </a:r>
            <a:r>
              <a:rPr b="0" i="0" lang="en-US" sz="800" u="none" cap="none" strike="noStrike">
                <a:solidFill>
                  <a:schemeClr val="dk1"/>
                </a:solidFill>
                <a:latin typeface="Arial"/>
                <a:ea typeface="Arial"/>
                <a:cs typeface="Arial"/>
                <a:sym typeface="Arial"/>
              </a:rPr>
              <a:t>) naturally.</a:t>
            </a:r>
            <a:br>
              <a:rPr b="0" i="0" lang="en-US" sz="800" u="none" cap="none" strike="noStrike">
                <a:solidFill>
                  <a:schemeClr val="dk1"/>
                </a:solidFill>
                <a:latin typeface="Arial"/>
                <a:ea typeface="Arial"/>
                <a:cs typeface="Arial"/>
                <a:sym typeface="Arial"/>
              </a:rPr>
            </a:br>
            <a:endParaRPr b="0" i="0" sz="800" u="none" cap="none" strike="noStrike">
              <a:solidFill>
                <a:schemeClr val="dk1"/>
              </a:solidFill>
              <a:latin typeface="Arial"/>
              <a:ea typeface="Arial"/>
              <a:cs typeface="Arial"/>
              <a:sym typeface="Arial"/>
            </a:endParaRPr>
          </a:p>
          <a:p>
            <a:pPr indent="-279400" lvl="0" marL="457200" marR="0" rtl="0" algn="l">
              <a:lnSpc>
                <a:spcPct val="115000"/>
              </a:lnSpc>
              <a:spcBef>
                <a:spcPts val="0"/>
              </a:spcBef>
              <a:spcAft>
                <a:spcPts val="0"/>
              </a:spcAft>
              <a:buClr>
                <a:schemeClr val="dk1"/>
              </a:buClr>
              <a:buSzPts val="800"/>
              <a:buFont typeface="Arial"/>
              <a:buAutoNum type="arabicPeriod"/>
            </a:pPr>
            <a:r>
              <a:rPr b="0" i="0" lang="en-US" sz="800" u="none" cap="none" strike="noStrike">
                <a:solidFill>
                  <a:schemeClr val="dk1"/>
                </a:solidFill>
                <a:latin typeface="Arial"/>
                <a:ea typeface="Arial"/>
                <a:cs typeface="Arial"/>
                <a:sym typeface="Arial"/>
              </a:rPr>
              <a:t>By using a </a:t>
            </a:r>
            <a:r>
              <a:rPr b="0" i="0" lang="en-US" sz="800" u="none" cap="none" strike="noStrike">
                <a:solidFill>
                  <a:srgbClr val="188038"/>
                </a:solidFill>
                <a:latin typeface="Roboto Mono"/>
                <a:ea typeface="Roboto Mono"/>
                <a:cs typeface="Roboto Mono"/>
                <a:sym typeface="Roboto Mono"/>
              </a:rPr>
              <a:t>return</a:t>
            </a:r>
            <a:r>
              <a:rPr b="0" i="0" lang="en-US" sz="800" u="none" cap="none" strike="noStrike">
                <a:solidFill>
                  <a:schemeClr val="dk1"/>
                </a:solidFill>
                <a:latin typeface="Arial"/>
                <a:ea typeface="Arial"/>
                <a:cs typeface="Arial"/>
                <a:sym typeface="Arial"/>
              </a:rPr>
              <a:t> statement.</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383071ae8d3_0_116"/>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507" name="Google Shape;507;g383071ae8d3_0_116"/>
          <p:cNvGrpSpPr/>
          <p:nvPr/>
        </p:nvGrpSpPr>
        <p:grpSpPr>
          <a:xfrm>
            <a:off x="0" y="14654"/>
            <a:ext cx="12192000" cy="6858000"/>
            <a:chOff x="0" y="0"/>
            <a:chExt cx="12192000" cy="6858000"/>
          </a:xfrm>
        </p:grpSpPr>
        <p:pic>
          <p:nvPicPr>
            <p:cNvPr id="508" name="Google Shape;508;g383071ae8d3_0_116"/>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509" name="Google Shape;509;g383071ae8d3_0_116"/>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0" name="Google Shape;510;g383071ae8d3_0_116"/>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11" name="Google Shape;511;g383071ae8d3_0_116"/>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512" name="Google Shape;512;g383071ae8d3_0_116"/>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13" name="Google Shape;513;g383071ae8d3_0_116"/>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514" name="Google Shape;514;g383071ae8d3_0_116"/>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515" name="Google Shape;515;g383071ae8d3_0_116"/>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6" name="Google Shape;516;g383071ae8d3_0_116"/>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7" name="Google Shape;517;g383071ae8d3_0_116"/>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18" name="Google Shape;518;g383071ae8d3_0_116"/>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519" name="Google Shape;519;g383071ae8d3_0_116"/>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20" name="Google Shape;520;g383071ae8d3_0_116"/>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521" name="Google Shape;521;g383071ae8d3_0_116"/>
          <p:cNvSpPr txBox="1"/>
          <p:nvPr/>
        </p:nvSpPr>
        <p:spPr>
          <a:xfrm>
            <a:off x="1532100" y="273600"/>
            <a:ext cx="10250400" cy="6402000"/>
          </a:xfrm>
          <a:prstGeom prst="rect">
            <a:avLst/>
          </a:prstGeom>
          <a:noFill/>
          <a:ln>
            <a:noFill/>
          </a:ln>
        </p:spPr>
        <p:txBody>
          <a:bodyPr anchorCtr="0" anchor="t" bIns="91425" lIns="91425" spcFirstLastPara="1" rIns="91425" wrap="square" tIns="91425">
            <a:noAutofit/>
          </a:bodyPr>
          <a:lstStyle/>
          <a:p>
            <a:pPr indent="-349250" lvl="0" marL="457200" marR="0" rtl="0" algn="l">
              <a:lnSpc>
                <a:spcPct val="115000"/>
              </a:lnSpc>
              <a:spcBef>
                <a:spcPts val="120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All functions, except those of type </a:t>
            </a:r>
            <a:r>
              <a:rPr b="0" i="0" lang="en-US" sz="1900" u="none" cap="none" strike="noStrike">
                <a:solidFill>
                  <a:srgbClr val="188038"/>
                </a:solidFill>
                <a:latin typeface="Roboto Mono"/>
                <a:ea typeface="Roboto Mono"/>
                <a:cs typeface="Roboto Mono"/>
                <a:sym typeface="Roboto Mono"/>
              </a:rPr>
              <a:t>void</a:t>
            </a:r>
            <a:r>
              <a:rPr b="0" i="0" lang="en-US" sz="1900" u="none" cap="none" strike="noStrike">
                <a:solidFill>
                  <a:schemeClr val="dk1"/>
                </a:solidFill>
                <a:latin typeface="Arial"/>
                <a:ea typeface="Arial"/>
                <a:cs typeface="Arial"/>
                <a:sym typeface="Arial"/>
              </a:rPr>
              <a:t>, return a value.</a:t>
            </a:r>
            <a:br>
              <a:rPr b="0" i="0" lang="en-US" sz="1900" u="none" cap="none" strike="noStrike">
                <a:solidFill>
                  <a:schemeClr val="dk1"/>
                </a:solidFill>
                <a:latin typeface="Arial"/>
                <a:ea typeface="Arial"/>
                <a:cs typeface="Arial"/>
                <a:sym typeface="Arial"/>
              </a:rPr>
            </a:b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The </a:t>
            </a:r>
            <a:r>
              <a:rPr b="1" i="0" lang="en-US" sz="1900" u="none" cap="none" strike="noStrike">
                <a:solidFill>
                  <a:srgbClr val="188038"/>
                </a:solidFill>
                <a:latin typeface="Roboto Mono"/>
                <a:ea typeface="Roboto Mono"/>
                <a:cs typeface="Roboto Mono"/>
                <a:sym typeface="Roboto Mono"/>
              </a:rPr>
              <a:t>return</a:t>
            </a:r>
            <a:r>
              <a:rPr b="1" i="0" lang="en-US" sz="1900" u="none" cap="none" strike="noStrike">
                <a:solidFill>
                  <a:schemeClr val="dk1"/>
                </a:solidFill>
                <a:latin typeface="Arial"/>
                <a:ea typeface="Arial"/>
                <a:cs typeface="Arial"/>
                <a:sym typeface="Arial"/>
              </a:rPr>
              <a:t> statement</a:t>
            </a:r>
            <a:r>
              <a:rPr b="0" i="0" lang="en-US" sz="1900" u="none" cap="none" strike="noStrike">
                <a:solidFill>
                  <a:schemeClr val="dk1"/>
                </a:solidFill>
                <a:latin typeface="Arial"/>
                <a:ea typeface="Arial"/>
                <a:cs typeface="Arial"/>
                <a:sym typeface="Arial"/>
              </a:rPr>
              <a:t> is used to send back the value.</a:t>
            </a:r>
            <a:br>
              <a:rPr b="0" i="0" lang="en-US" sz="1900" u="none" cap="none" strike="noStrike">
                <a:solidFill>
                  <a:schemeClr val="dk1"/>
                </a:solidFill>
                <a:latin typeface="Arial"/>
                <a:ea typeface="Arial"/>
                <a:cs typeface="Arial"/>
                <a:sym typeface="Arial"/>
              </a:rPr>
            </a:b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If a non-void function does not return a value → </a:t>
            </a:r>
            <a:r>
              <a:rPr b="1" i="0" lang="en-US" sz="1900" u="none" cap="none" strike="noStrike">
                <a:solidFill>
                  <a:schemeClr val="dk1"/>
                </a:solidFill>
                <a:latin typeface="Arial"/>
                <a:ea typeface="Arial"/>
                <a:cs typeface="Arial"/>
                <a:sym typeface="Arial"/>
              </a:rPr>
              <a:t>garbage value</a:t>
            </a:r>
            <a:r>
              <a:rPr b="0" i="0" lang="en-US" sz="1900" u="none" cap="none" strike="noStrike">
                <a:solidFill>
                  <a:schemeClr val="dk1"/>
                </a:solidFill>
                <a:latin typeface="Arial"/>
                <a:ea typeface="Arial"/>
                <a:cs typeface="Arial"/>
                <a:sym typeface="Arial"/>
              </a:rPr>
              <a:t> is returned (bad practice).</a:t>
            </a:r>
            <a:br>
              <a:rPr b="0" i="0" lang="en-US" sz="1900" u="none" cap="none" strike="noStrike">
                <a:solidFill>
                  <a:schemeClr val="dk1"/>
                </a:solidFill>
                <a:latin typeface="Arial"/>
                <a:ea typeface="Arial"/>
                <a:cs typeface="Arial"/>
                <a:sym typeface="Arial"/>
              </a:rPr>
            </a:br>
            <a:br>
              <a:rPr b="0" i="0" lang="en-US" sz="1900" u="none" cap="none" strike="noStrike">
                <a:solidFill>
                  <a:schemeClr val="dk1"/>
                </a:solidFill>
                <a:latin typeface="Arial"/>
                <a:ea typeface="Arial"/>
                <a:cs typeface="Arial"/>
                <a:sym typeface="Arial"/>
              </a:rPr>
            </a:br>
            <a:r>
              <a:rPr b="1" i="0" lang="en-US" sz="1900" u="none" cap="none" strike="noStrike">
                <a:solidFill>
                  <a:schemeClr val="dk1"/>
                </a:solidFill>
                <a:latin typeface="Arial"/>
                <a:ea typeface="Arial"/>
                <a:cs typeface="Arial"/>
                <a:sym typeface="Arial"/>
              </a:rPr>
              <a:t>Rules</a:t>
            </a:r>
            <a:endParaRPr b="1" i="0" sz="19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A function’s return type must match the value it returns.</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A function can be used inside an </a:t>
            </a:r>
            <a:r>
              <a:rPr b="1" i="0" lang="en-US" sz="1800" u="none" cap="none" strike="noStrike">
                <a:solidFill>
                  <a:schemeClr val="dk1"/>
                </a:solidFill>
                <a:latin typeface="Arial"/>
                <a:ea typeface="Arial"/>
                <a:cs typeface="Arial"/>
                <a:sym typeface="Arial"/>
              </a:rPr>
              <a:t>expression</a:t>
            </a:r>
            <a:r>
              <a:rPr b="0" i="0" lang="en-US" sz="1800" u="none" cap="none" strike="noStrike">
                <a:solidFill>
                  <a:schemeClr val="dk1"/>
                </a:solidFill>
                <a:latin typeface="Arial"/>
                <a:ea typeface="Arial"/>
                <a:cs typeface="Arial"/>
                <a:sym typeface="Arial"/>
              </a:rPr>
              <a:t> because it produces a value.</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393700" lvl="0" marL="457200" marR="0" rtl="0" algn="l">
              <a:lnSpc>
                <a:spcPct val="115000"/>
              </a:lnSpc>
              <a:spcBef>
                <a:spcPts val="0"/>
              </a:spcBef>
              <a:spcAft>
                <a:spcPts val="0"/>
              </a:spcAft>
              <a:buClr>
                <a:schemeClr val="dk1"/>
              </a:buClr>
              <a:buSzPts val="2600"/>
              <a:buFont typeface="Arial"/>
              <a:buChar char="●"/>
            </a:pPr>
            <a:r>
              <a:rPr b="0" i="0" lang="en-US" sz="1800" u="none" cap="none" strike="noStrike">
                <a:solidFill>
                  <a:schemeClr val="dk1"/>
                </a:solidFill>
                <a:latin typeface="Arial"/>
                <a:ea typeface="Arial"/>
                <a:cs typeface="Arial"/>
                <a:sym typeface="Arial"/>
              </a:rPr>
              <a:t>Example:</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 </a:t>
            </a:r>
            <a:r>
              <a:rPr b="0" i="0" lang="en-US" sz="1800" u="none" cap="none" strike="noStrike">
                <a:solidFill>
                  <a:srgbClr val="188038"/>
                </a:solidFill>
                <a:latin typeface="Roboto Mono"/>
                <a:ea typeface="Roboto Mono"/>
                <a:cs typeface="Roboto Mono"/>
                <a:sym typeface="Roboto Mono"/>
              </a:rPr>
              <a:t>x = power(y);  </a:t>
            </a:r>
            <a:endParaRPr b="0" i="0" sz="1800" u="none" cap="none" strike="noStrike">
              <a:solidFill>
                <a:srgbClr val="188038"/>
              </a:solidFill>
              <a:latin typeface="Roboto Mono"/>
              <a:ea typeface="Roboto Mono"/>
              <a:cs typeface="Roboto Mono"/>
              <a:sym typeface="Roboto Mono"/>
            </a:endParaRPr>
          </a:p>
          <a:p>
            <a:pPr indent="-393700" lvl="0" marL="457200" marR="0" rtl="0" algn="l">
              <a:lnSpc>
                <a:spcPct val="115000"/>
              </a:lnSpc>
              <a:spcBef>
                <a:spcPts val="0"/>
              </a:spcBef>
              <a:spcAft>
                <a:spcPts val="0"/>
              </a:spcAft>
              <a:buClr>
                <a:schemeClr val="dk1"/>
              </a:buClr>
              <a:buSzPts val="2600"/>
              <a:buFont typeface="Arial"/>
              <a:buChar char="●"/>
            </a:pPr>
            <a:r>
              <a:rPr b="0" i="0" lang="en-US" sz="1800" u="none" cap="none" strike="noStrike">
                <a:solidFill>
                  <a:srgbClr val="188038"/>
                </a:solidFill>
                <a:latin typeface="Roboto Mono"/>
                <a:ea typeface="Roboto Mono"/>
                <a:cs typeface="Roboto Mono"/>
                <a:sym typeface="Roboto Mono"/>
              </a:rPr>
              <a:t>if(max(x,y) &gt; 100) printf("greater");</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A function call </a:t>
            </a:r>
            <a:r>
              <a:rPr b="1" i="0" lang="en-US" sz="1800" u="none" cap="none" strike="noStrike">
                <a:solidFill>
                  <a:schemeClr val="dk1"/>
                </a:solidFill>
                <a:latin typeface="Arial"/>
                <a:ea typeface="Arial"/>
                <a:cs typeface="Arial"/>
                <a:sym typeface="Arial"/>
              </a:rPr>
              <a:t>cannot</a:t>
            </a:r>
            <a:r>
              <a:rPr b="0" i="0" lang="en-US" sz="1800" u="none" cap="none" strike="noStrike">
                <a:solidFill>
                  <a:schemeClr val="dk1"/>
                </a:solidFill>
                <a:latin typeface="Arial"/>
                <a:ea typeface="Arial"/>
                <a:cs typeface="Arial"/>
                <a:sym typeface="Arial"/>
              </a:rPr>
              <a:t> be on the left side of an assignment.</a:t>
            </a: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a:p>
            <a:pPr indent="-342900" lvl="1" marL="914400" marR="0" rtl="0" algn="l">
              <a:lnSpc>
                <a:spcPct val="11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 </a:t>
            </a:r>
            <a:r>
              <a:rPr b="0" i="0" lang="en-US" sz="1800" u="none" cap="none" strike="noStrike">
                <a:solidFill>
                  <a:srgbClr val="188038"/>
                </a:solidFill>
                <a:latin typeface="Roboto Mono"/>
                <a:ea typeface="Roboto Mono"/>
                <a:cs typeface="Roboto Mono"/>
                <a:sym typeface="Roboto Mono"/>
              </a:rPr>
              <a:t>swap(x,y) = 100; // Error</a:t>
            </a:r>
            <a:endParaRPr b="0" i="0" sz="1800" u="none" cap="none" strike="noStrike">
              <a:solidFill>
                <a:srgbClr val="188038"/>
              </a:solidFill>
              <a:latin typeface="Roboto Mono"/>
              <a:ea typeface="Roboto Mono"/>
              <a:cs typeface="Roboto Mono"/>
              <a:sym typeface="Roboto Mono"/>
            </a:endParaRPr>
          </a:p>
          <a:p>
            <a:pPr indent="0" lvl="0" marL="457200" marR="0" rtl="0" algn="l">
              <a:lnSpc>
                <a:spcPct val="115000"/>
              </a:lnSpc>
              <a:spcBef>
                <a:spcPts val="1200"/>
              </a:spcBef>
              <a:spcAft>
                <a:spcPts val="120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g383071ae8d3_0_134"/>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527" name="Google Shape;527;g383071ae8d3_0_134"/>
          <p:cNvGrpSpPr/>
          <p:nvPr/>
        </p:nvGrpSpPr>
        <p:grpSpPr>
          <a:xfrm>
            <a:off x="0" y="14654"/>
            <a:ext cx="12192000" cy="6858000"/>
            <a:chOff x="0" y="0"/>
            <a:chExt cx="12192000" cy="6858000"/>
          </a:xfrm>
        </p:grpSpPr>
        <p:pic>
          <p:nvPicPr>
            <p:cNvPr id="528" name="Google Shape;528;g383071ae8d3_0_134"/>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529" name="Google Shape;529;g383071ae8d3_0_134"/>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0" name="Google Shape;530;g383071ae8d3_0_134"/>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31" name="Google Shape;531;g383071ae8d3_0_134"/>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532" name="Google Shape;532;g383071ae8d3_0_134"/>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33" name="Google Shape;533;g383071ae8d3_0_134"/>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534" name="Google Shape;534;g383071ae8d3_0_134"/>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535" name="Google Shape;535;g383071ae8d3_0_134"/>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6" name="Google Shape;536;g383071ae8d3_0_134"/>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7" name="Google Shape;537;g383071ae8d3_0_134"/>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38" name="Google Shape;538;g383071ae8d3_0_134"/>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539" name="Google Shape;539;g383071ae8d3_0_134"/>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40" name="Google Shape;540;g383071ae8d3_0_134"/>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541" name="Google Shape;541;g383071ae8d3_0_134"/>
          <p:cNvSpPr txBox="1"/>
          <p:nvPr/>
        </p:nvSpPr>
        <p:spPr>
          <a:xfrm>
            <a:off x="1696250" y="0"/>
            <a:ext cx="8554200" cy="4365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2100"/>
              <a:buFont typeface="Arial"/>
              <a:buNone/>
            </a:pPr>
            <a:r>
              <a:rPr b="1" i="0" lang="en-US" sz="2100" u="none" cap="none" strike="noStrike">
                <a:solidFill>
                  <a:srgbClr val="FF0000"/>
                </a:solidFill>
                <a:latin typeface="Arial"/>
                <a:ea typeface="Arial"/>
                <a:cs typeface="Arial"/>
                <a:sym typeface="Arial"/>
              </a:rPr>
              <a:t>Types of Functions (based on return values)</a:t>
            </a:r>
            <a:endParaRPr b="1" i="0" sz="2100" u="none" cap="none" strike="noStrike">
              <a:solidFill>
                <a:srgbClr val="FF0000"/>
              </a:solidFill>
              <a:latin typeface="Arial"/>
              <a:ea typeface="Arial"/>
              <a:cs typeface="Arial"/>
              <a:sym typeface="Arial"/>
            </a:endParaRPr>
          </a:p>
          <a:p>
            <a:pPr indent="-349250" lvl="0" marL="457200" marR="0" rtl="0" algn="l">
              <a:lnSpc>
                <a:spcPct val="115000"/>
              </a:lnSpc>
              <a:spcBef>
                <a:spcPts val="1200"/>
              </a:spcBef>
              <a:spcAft>
                <a:spcPts val="0"/>
              </a:spcAft>
              <a:buClr>
                <a:schemeClr val="dk1"/>
              </a:buClr>
              <a:buSzPts val="1900"/>
              <a:buFont typeface="Arial"/>
              <a:buAutoNum type="arabicPeriod"/>
            </a:pPr>
            <a:r>
              <a:rPr b="1" i="0" lang="en-US" sz="1900" u="none" cap="none" strike="noStrike">
                <a:solidFill>
                  <a:schemeClr val="dk1"/>
                </a:solidFill>
                <a:latin typeface="Arial"/>
                <a:ea typeface="Arial"/>
                <a:cs typeface="Arial"/>
                <a:sym typeface="Arial"/>
              </a:rPr>
              <a:t>Computational functions</a:t>
            </a:r>
            <a:r>
              <a:rPr b="0" i="0" lang="en-US" sz="1900" u="none" cap="none" strike="noStrike">
                <a:solidFill>
                  <a:schemeClr val="dk1"/>
                </a:solidFill>
                <a:latin typeface="Arial"/>
                <a:ea typeface="Arial"/>
                <a:cs typeface="Arial"/>
                <a:sym typeface="Arial"/>
              </a:rPr>
              <a:t> → Perform calculation and return result.</a:t>
            </a:r>
            <a:br>
              <a:rPr b="0" i="0" lang="en-US" sz="1900" u="none" cap="none" strike="noStrike">
                <a:solidFill>
                  <a:schemeClr val="dk1"/>
                </a:solidFill>
                <a:latin typeface="Arial"/>
                <a:ea typeface="Arial"/>
                <a:cs typeface="Arial"/>
                <a:sym typeface="Arial"/>
              </a:rPr>
            </a:br>
            <a:endParaRPr b="0" i="0" sz="1900" u="none" cap="none" strike="noStrike">
              <a:solidFill>
                <a:schemeClr val="dk1"/>
              </a:solidFill>
              <a:latin typeface="Arial"/>
              <a:ea typeface="Arial"/>
              <a:cs typeface="Arial"/>
              <a:sym typeface="Arial"/>
            </a:endParaRPr>
          </a:p>
          <a:p>
            <a:pPr indent="-349250" lvl="1" marL="914400" marR="0" rtl="0" algn="l">
              <a:lnSpc>
                <a:spcPct val="115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Example: </a:t>
            </a:r>
            <a:r>
              <a:rPr b="0" i="0" lang="en-US" sz="1900" u="none" cap="none" strike="noStrike">
                <a:solidFill>
                  <a:srgbClr val="188038"/>
                </a:solidFill>
                <a:latin typeface="Roboto Mono"/>
                <a:ea typeface="Roboto Mono"/>
                <a:cs typeface="Roboto Mono"/>
                <a:sym typeface="Roboto Mono"/>
              </a:rPr>
              <a:t>sqrt()</a:t>
            </a:r>
            <a:r>
              <a:rPr b="0" i="0" lang="en-US" sz="1900" u="none" cap="none" strike="noStrike">
                <a:solidFill>
                  <a:schemeClr val="dk1"/>
                </a:solidFill>
                <a:latin typeface="Arial"/>
                <a:ea typeface="Arial"/>
                <a:cs typeface="Arial"/>
                <a:sym typeface="Arial"/>
              </a:rPr>
              <a:t>, </a:t>
            </a:r>
            <a:r>
              <a:rPr b="0" i="0" lang="en-US" sz="1900" u="none" cap="none" strike="noStrike">
                <a:solidFill>
                  <a:srgbClr val="188038"/>
                </a:solidFill>
                <a:latin typeface="Roboto Mono"/>
                <a:ea typeface="Roboto Mono"/>
                <a:cs typeface="Roboto Mono"/>
                <a:sym typeface="Roboto Mono"/>
              </a:rPr>
              <a:t>sin()</a:t>
            </a:r>
            <a:r>
              <a:rPr b="0" i="0" lang="en-US" sz="1900" u="none" cap="none" strike="noStrike">
                <a:solidFill>
                  <a:schemeClr val="dk1"/>
                </a:solidFill>
                <a:latin typeface="Arial"/>
                <a:ea typeface="Arial"/>
                <a:cs typeface="Arial"/>
                <a:sym typeface="Arial"/>
              </a:rPr>
              <a:t>.</a:t>
            </a:r>
            <a:br>
              <a:rPr b="0" i="0" lang="en-US" sz="1900" u="none" cap="none" strike="noStrike">
                <a:solidFill>
                  <a:schemeClr val="dk1"/>
                </a:solidFill>
                <a:latin typeface="Arial"/>
                <a:ea typeface="Arial"/>
                <a:cs typeface="Arial"/>
                <a:sym typeface="Arial"/>
              </a:rPr>
            </a:b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AutoNum type="arabicPeriod"/>
            </a:pPr>
            <a:r>
              <a:rPr b="1" i="0" lang="en-US" sz="1900" u="none" cap="none" strike="noStrike">
                <a:solidFill>
                  <a:schemeClr val="dk1"/>
                </a:solidFill>
                <a:latin typeface="Arial"/>
                <a:ea typeface="Arial"/>
                <a:cs typeface="Arial"/>
                <a:sym typeface="Arial"/>
              </a:rPr>
              <a:t>Status functions</a:t>
            </a:r>
            <a:r>
              <a:rPr b="0" i="0" lang="en-US" sz="1900" u="none" cap="none" strike="noStrike">
                <a:solidFill>
                  <a:schemeClr val="dk1"/>
                </a:solidFill>
                <a:latin typeface="Arial"/>
                <a:ea typeface="Arial"/>
                <a:cs typeface="Arial"/>
                <a:sym typeface="Arial"/>
              </a:rPr>
              <a:t> → Return success (0) or failure (e.g., </a:t>
            </a:r>
            <a:r>
              <a:rPr b="0" i="0" lang="en-US" sz="1900" u="none" cap="none" strike="noStrike">
                <a:solidFill>
                  <a:srgbClr val="188038"/>
                </a:solidFill>
                <a:latin typeface="Roboto Mono"/>
                <a:ea typeface="Roboto Mono"/>
                <a:cs typeface="Roboto Mono"/>
                <a:sym typeface="Roboto Mono"/>
              </a:rPr>
              <a:t>EOF</a:t>
            </a:r>
            <a:r>
              <a:rPr b="0" i="0" lang="en-US" sz="1900" u="none" cap="none" strike="noStrike">
                <a:solidFill>
                  <a:schemeClr val="dk1"/>
                </a:solidFill>
                <a:latin typeface="Arial"/>
                <a:ea typeface="Arial"/>
                <a:cs typeface="Arial"/>
                <a:sym typeface="Arial"/>
              </a:rPr>
              <a:t>).</a:t>
            </a:r>
            <a:br>
              <a:rPr b="0" i="0" lang="en-US" sz="1900" u="none" cap="none" strike="noStrike">
                <a:solidFill>
                  <a:schemeClr val="dk1"/>
                </a:solidFill>
                <a:latin typeface="Arial"/>
                <a:ea typeface="Arial"/>
                <a:cs typeface="Arial"/>
                <a:sym typeface="Arial"/>
              </a:rPr>
            </a:br>
            <a:endParaRPr b="0" i="0" sz="1900" u="none" cap="none" strike="noStrike">
              <a:solidFill>
                <a:schemeClr val="dk1"/>
              </a:solidFill>
              <a:latin typeface="Arial"/>
              <a:ea typeface="Arial"/>
              <a:cs typeface="Arial"/>
              <a:sym typeface="Arial"/>
            </a:endParaRPr>
          </a:p>
          <a:p>
            <a:pPr indent="-349250" lvl="1" marL="914400" marR="0" rtl="0" algn="l">
              <a:lnSpc>
                <a:spcPct val="115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Example: </a:t>
            </a:r>
            <a:r>
              <a:rPr b="0" i="0" lang="en-US" sz="1900" u="none" cap="none" strike="noStrike">
                <a:solidFill>
                  <a:srgbClr val="188038"/>
                </a:solidFill>
                <a:latin typeface="Roboto Mono"/>
                <a:ea typeface="Roboto Mono"/>
                <a:cs typeface="Roboto Mono"/>
                <a:sym typeface="Roboto Mono"/>
              </a:rPr>
              <a:t>fclose()</a:t>
            </a:r>
            <a:r>
              <a:rPr b="0" i="0" lang="en-US" sz="1900" u="none" cap="none" strike="noStrike">
                <a:solidFill>
                  <a:schemeClr val="dk1"/>
                </a:solidFill>
                <a:latin typeface="Arial"/>
                <a:ea typeface="Arial"/>
                <a:cs typeface="Arial"/>
                <a:sym typeface="Arial"/>
              </a:rPr>
              <a:t>.</a:t>
            </a:r>
            <a:br>
              <a:rPr b="0" i="0" lang="en-US" sz="1900" u="none" cap="none" strike="noStrike">
                <a:solidFill>
                  <a:schemeClr val="dk1"/>
                </a:solidFill>
                <a:latin typeface="Arial"/>
                <a:ea typeface="Arial"/>
                <a:cs typeface="Arial"/>
                <a:sym typeface="Arial"/>
              </a:rPr>
            </a:br>
            <a:endParaRPr b="0" i="0" sz="1900" u="none" cap="none" strike="noStrike">
              <a:solidFill>
                <a:schemeClr val="dk1"/>
              </a:solidFill>
              <a:latin typeface="Arial"/>
              <a:ea typeface="Arial"/>
              <a:cs typeface="Arial"/>
              <a:sym typeface="Arial"/>
            </a:endParaRPr>
          </a:p>
          <a:p>
            <a:pPr indent="-349250" lvl="0" marL="457200" marR="0" rtl="0" algn="l">
              <a:lnSpc>
                <a:spcPct val="115000"/>
              </a:lnSpc>
              <a:spcBef>
                <a:spcPts val="0"/>
              </a:spcBef>
              <a:spcAft>
                <a:spcPts val="0"/>
              </a:spcAft>
              <a:buClr>
                <a:schemeClr val="dk1"/>
              </a:buClr>
              <a:buSzPts val="1900"/>
              <a:buFont typeface="Arial"/>
              <a:buAutoNum type="arabicPeriod"/>
            </a:pPr>
            <a:r>
              <a:rPr b="1" i="0" lang="en-US" sz="1900" u="none" cap="none" strike="noStrike">
                <a:solidFill>
                  <a:schemeClr val="dk1"/>
                </a:solidFill>
                <a:latin typeface="Arial"/>
                <a:ea typeface="Arial"/>
                <a:cs typeface="Arial"/>
                <a:sym typeface="Arial"/>
              </a:rPr>
              <a:t>Procedural functions (void)</a:t>
            </a:r>
            <a:r>
              <a:rPr b="0" i="0" lang="en-US" sz="1900" u="none" cap="none" strike="noStrike">
                <a:solidFill>
                  <a:schemeClr val="dk1"/>
                </a:solidFill>
                <a:latin typeface="Arial"/>
                <a:ea typeface="Arial"/>
                <a:cs typeface="Arial"/>
                <a:sym typeface="Arial"/>
              </a:rPr>
              <a:t> → Do not return a value.</a:t>
            </a:r>
            <a:br>
              <a:rPr b="0" i="0" lang="en-US" sz="1900" u="none" cap="none" strike="noStrike">
                <a:solidFill>
                  <a:schemeClr val="dk1"/>
                </a:solidFill>
                <a:latin typeface="Arial"/>
                <a:ea typeface="Arial"/>
                <a:cs typeface="Arial"/>
                <a:sym typeface="Arial"/>
              </a:rPr>
            </a:br>
            <a:endParaRPr b="0" i="0" sz="1900" u="none" cap="none" strike="noStrike">
              <a:solidFill>
                <a:schemeClr val="dk1"/>
              </a:solidFill>
              <a:latin typeface="Arial"/>
              <a:ea typeface="Arial"/>
              <a:cs typeface="Arial"/>
              <a:sym typeface="Arial"/>
            </a:endParaRPr>
          </a:p>
          <a:p>
            <a:pPr indent="-349250" lvl="1" marL="914400" marR="0" rtl="0" algn="l">
              <a:lnSpc>
                <a:spcPct val="115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Example: </a:t>
            </a:r>
            <a:r>
              <a:rPr b="0" i="0" lang="en-US" sz="1900" u="none" cap="none" strike="noStrike">
                <a:solidFill>
                  <a:srgbClr val="188038"/>
                </a:solidFill>
                <a:latin typeface="Roboto Mono"/>
                <a:ea typeface="Roboto Mono"/>
                <a:cs typeface="Roboto Mono"/>
                <a:sym typeface="Roboto Mono"/>
              </a:rPr>
              <a:t>exit()</a:t>
            </a:r>
            <a:r>
              <a:rPr b="0" i="0" lang="en-US" sz="1900" u="none" cap="none" strike="noStrike">
                <a:solidFill>
                  <a:schemeClr val="dk1"/>
                </a:solidFill>
                <a:latin typeface="Arial"/>
                <a:ea typeface="Arial"/>
                <a:cs typeface="Arial"/>
                <a:sym typeface="Arial"/>
              </a:rPr>
              <a:t>.</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383071ae8d3_0_152"/>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547" name="Google Shape;547;g383071ae8d3_0_152"/>
          <p:cNvGrpSpPr/>
          <p:nvPr/>
        </p:nvGrpSpPr>
        <p:grpSpPr>
          <a:xfrm>
            <a:off x="0" y="14654"/>
            <a:ext cx="12192000" cy="6858000"/>
            <a:chOff x="0" y="0"/>
            <a:chExt cx="12192000" cy="6858000"/>
          </a:xfrm>
        </p:grpSpPr>
        <p:pic>
          <p:nvPicPr>
            <p:cNvPr id="548" name="Google Shape;548;g383071ae8d3_0_152"/>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549" name="Google Shape;549;g383071ae8d3_0_152"/>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0" name="Google Shape;550;g383071ae8d3_0_152"/>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51" name="Google Shape;551;g383071ae8d3_0_152"/>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552" name="Google Shape;552;g383071ae8d3_0_152"/>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53" name="Google Shape;553;g383071ae8d3_0_152"/>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554" name="Google Shape;554;g383071ae8d3_0_152"/>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555" name="Google Shape;555;g383071ae8d3_0_152"/>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6" name="Google Shape;556;g383071ae8d3_0_152"/>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7" name="Google Shape;557;g383071ae8d3_0_152"/>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58" name="Google Shape;558;g383071ae8d3_0_152"/>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559" name="Google Shape;559;g383071ae8d3_0_152"/>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60" name="Google Shape;560;g383071ae8d3_0_152"/>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561" name="Google Shape;561;g383071ae8d3_0_152"/>
          <p:cNvSpPr txBox="1"/>
          <p:nvPr/>
        </p:nvSpPr>
        <p:spPr>
          <a:xfrm>
            <a:off x="1623300" y="948450"/>
            <a:ext cx="9612300" cy="543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980000"/>
                </a:solidFill>
                <a:latin typeface="Arial"/>
                <a:ea typeface="Arial"/>
                <a:cs typeface="Arial"/>
                <a:sym typeface="Arial"/>
              </a:rPr>
              <a:t>#</a:t>
            </a:r>
            <a:r>
              <a:rPr b="0" i="0" lang="en-US" sz="2100" u="none" cap="none" strike="noStrike">
                <a:solidFill>
                  <a:srgbClr val="980000"/>
                </a:solidFill>
                <a:latin typeface="Arial"/>
                <a:ea typeface="Arial"/>
                <a:cs typeface="Arial"/>
                <a:sym typeface="Arial"/>
              </a:rPr>
              <a:t>include &lt;stdio.h&gt; </a:t>
            </a:r>
            <a:endParaRPr b="0" i="0" sz="21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80000"/>
                </a:solidFill>
                <a:latin typeface="Arial"/>
                <a:ea typeface="Arial"/>
                <a:cs typeface="Arial"/>
                <a:sym typeface="Arial"/>
              </a:rPr>
              <a:t>int mul(int a, int b);</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80000"/>
                </a:solidFill>
                <a:latin typeface="Arial"/>
                <a:ea typeface="Arial"/>
                <a:cs typeface="Arial"/>
                <a:sym typeface="Arial"/>
              </a:rPr>
              <a:t>int main(void) {</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80000"/>
                </a:solidFill>
                <a:latin typeface="Arial"/>
                <a:ea typeface="Arial"/>
                <a:cs typeface="Arial"/>
                <a:sym typeface="Arial"/>
              </a:rPr>
              <a:t>    int x, y, z;</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80000"/>
                </a:solidFill>
                <a:latin typeface="Arial"/>
                <a:ea typeface="Arial"/>
                <a:cs typeface="Arial"/>
                <a:sym typeface="Arial"/>
              </a:rPr>
              <a:t>    x = 10; y = 20;</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80000"/>
                </a:solidFill>
                <a:latin typeface="Arial"/>
                <a:ea typeface="Arial"/>
                <a:cs typeface="Arial"/>
                <a:sym typeface="Arial"/>
              </a:rPr>
              <a:t>    z = mul(x, y);        // (1) Return value assigned to z</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80000"/>
                </a:solidFill>
                <a:latin typeface="Arial"/>
                <a:ea typeface="Arial"/>
                <a:cs typeface="Arial"/>
                <a:sym typeface="Arial"/>
              </a:rPr>
              <a:t>    printf("%d", mul(x,y)); // (2) Return value used directly in printf</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80000"/>
                </a:solidFill>
                <a:latin typeface="Arial"/>
                <a:ea typeface="Arial"/>
                <a:cs typeface="Arial"/>
                <a:sym typeface="Arial"/>
              </a:rPr>
              <a:t>    mul(x, y);            // (3) Return value is ignored</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80000"/>
                </a:solidFill>
                <a:latin typeface="Arial"/>
                <a:ea typeface="Arial"/>
                <a:cs typeface="Arial"/>
                <a:sym typeface="Arial"/>
              </a:rPr>
              <a:t>    return 0;</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80000"/>
                </a:solidFill>
                <a:latin typeface="Arial"/>
                <a:ea typeface="Arial"/>
                <a:cs typeface="Arial"/>
                <a:sym typeface="Arial"/>
              </a:rPr>
              <a:t>}</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80000"/>
                </a:solidFill>
                <a:latin typeface="Arial"/>
                <a:ea typeface="Arial"/>
                <a:cs typeface="Arial"/>
                <a:sym typeface="Arial"/>
              </a:rPr>
              <a:t>int mul(int a, int b) {</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80000"/>
                </a:solidFill>
                <a:latin typeface="Arial"/>
                <a:ea typeface="Arial"/>
                <a:cs typeface="Arial"/>
                <a:sym typeface="Arial"/>
              </a:rPr>
              <a:t>    return a * b;</a:t>
            </a:r>
            <a:endParaRPr b="0" i="0" sz="20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980000"/>
                </a:solidFill>
                <a:latin typeface="Arial"/>
                <a:ea typeface="Arial"/>
                <a:cs typeface="Arial"/>
                <a:sym typeface="Arial"/>
              </a:rPr>
              <a:t>}</a:t>
            </a:r>
            <a:endParaRPr b="0" i="0" sz="2000" u="none" cap="none" strike="noStrike">
              <a:solidFill>
                <a:srgbClr val="980000"/>
              </a:solidFill>
              <a:latin typeface="Arial"/>
              <a:ea typeface="Arial"/>
              <a:cs typeface="Arial"/>
              <a:sym typeface="Arial"/>
            </a:endParaRPr>
          </a:p>
        </p:txBody>
      </p:sp>
      <p:sp>
        <p:nvSpPr>
          <p:cNvPr id="562" name="Google Shape;562;g383071ae8d3_0_152"/>
          <p:cNvSpPr txBox="1"/>
          <p:nvPr/>
        </p:nvSpPr>
        <p:spPr>
          <a:xfrm>
            <a:off x="1605075" y="200625"/>
            <a:ext cx="9429900" cy="656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US" sz="2200" u="none" cap="none" strike="noStrike">
                <a:solidFill>
                  <a:schemeClr val="dk1"/>
                </a:solidFill>
                <a:latin typeface="Arial"/>
                <a:ea typeface="Arial"/>
                <a:cs typeface="Arial"/>
                <a:sym typeface="Arial"/>
              </a:rPr>
              <a:t>Using Return Values</a:t>
            </a:r>
            <a:endParaRPr b="1" i="0" sz="22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83071ae8d3_0_170"/>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568" name="Google Shape;568;g383071ae8d3_0_170"/>
          <p:cNvGrpSpPr/>
          <p:nvPr/>
        </p:nvGrpSpPr>
        <p:grpSpPr>
          <a:xfrm>
            <a:off x="0" y="14654"/>
            <a:ext cx="12192000" cy="6858000"/>
            <a:chOff x="0" y="0"/>
            <a:chExt cx="12192000" cy="6858000"/>
          </a:xfrm>
        </p:grpSpPr>
        <p:pic>
          <p:nvPicPr>
            <p:cNvPr id="569" name="Google Shape;569;g383071ae8d3_0_170"/>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570" name="Google Shape;570;g383071ae8d3_0_170"/>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 name="Google Shape;571;g383071ae8d3_0_170"/>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72" name="Google Shape;572;g383071ae8d3_0_170"/>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573" name="Google Shape;573;g383071ae8d3_0_170"/>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74" name="Google Shape;574;g383071ae8d3_0_170"/>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575" name="Google Shape;575;g383071ae8d3_0_170"/>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576" name="Google Shape;576;g383071ae8d3_0_170"/>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7" name="Google Shape;577;g383071ae8d3_0_170"/>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8" name="Google Shape;578;g383071ae8d3_0_170"/>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79" name="Google Shape;579;g383071ae8d3_0_170"/>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580" name="Google Shape;580;g383071ae8d3_0_170"/>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81" name="Google Shape;581;g383071ae8d3_0_170"/>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582" name="Google Shape;582;g383071ae8d3_0_170"/>
          <p:cNvSpPr txBox="1"/>
          <p:nvPr/>
        </p:nvSpPr>
        <p:spPr>
          <a:xfrm>
            <a:off x="1823925" y="0"/>
            <a:ext cx="8116500" cy="357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2500"/>
              <a:buFont typeface="Arial"/>
              <a:buNone/>
            </a:pPr>
            <a:r>
              <a:rPr b="1" i="0" lang="en-US" sz="2500" u="none" cap="none" strike="noStrike">
                <a:solidFill>
                  <a:srgbClr val="FF0000"/>
                </a:solidFill>
                <a:latin typeface="Arial"/>
                <a:ea typeface="Arial"/>
                <a:cs typeface="Arial"/>
                <a:sym typeface="Arial"/>
              </a:rPr>
              <a:t>Explanation of Example</a:t>
            </a:r>
            <a:endParaRPr b="1" i="0" sz="2500" u="none" cap="none" strike="noStrike">
              <a:solidFill>
                <a:srgbClr val="FF0000"/>
              </a:solidFill>
              <a:latin typeface="Arial"/>
              <a:ea typeface="Arial"/>
              <a:cs typeface="Arial"/>
              <a:sym typeface="Arial"/>
            </a:endParaRPr>
          </a:p>
          <a:p>
            <a:pPr indent="-374650" lvl="0" marL="457200" marR="0" rtl="0" algn="l">
              <a:lnSpc>
                <a:spcPct val="115000"/>
              </a:lnSpc>
              <a:spcBef>
                <a:spcPts val="1200"/>
              </a:spcBef>
              <a:spcAft>
                <a:spcPts val="0"/>
              </a:spcAft>
              <a:buClr>
                <a:schemeClr val="dk1"/>
              </a:buClr>
              <a:buSzPts val="2300"/>
              <a:buFont typeface="Arial"/>
              <a:buAutoNum type="arabicPeriod"/>
            </a:pPr>
            <a:r>
              <a:rPr b="1" i="0" lang="en-US" sz="2300" u="none" cap="none" strike="noStrike">
                <a:solidFill>
                  <a:schemeClr val="dk1"/>
                </a:solidFill>
                <a:latin typeface="Arial"/>
                <a:ea typeface="Arial"/>
                <a:cs typeface="Arial"/>
                <a:sym typeface="Arial"/>
              </a:rPr>
              <a:t>Line 1:</a:t>
            </a:r>
            <a:r>
              <a:rPr b="0" i="0" lang="en-US" sz="2300" u="none" cap="none" strike="noStrike">
                <a:solidFill>
                  <a:schemeClr val="dk1"/>
                </a:solidFill>
                <a:latin typeface="Arial"/>
                <a:ea typeface="Arial"/>
                <a:cs typeface="Arial"/>
                <a:sym typeface="Arial"/>
              </a:rPr>
              <a:t> Return value stored in variable </a:t>
            </a:r>
            <a:r>
              <a:rPr b="0" i="0" lang="en-US" sz="2300" u="none" cap="none" strike="noStrike">
                <a:solidFill>
                  <a:srgbClr val="188038"/>
                </a:solidFill>
                <a:latin typeface="Roboto Mono"/>
                <a:ea typeface="Roboto Mono"/>
                <a:cs typeface="Roboto Mono"/>
                <a:sym typeface="Roboto Mono"/>
              </a:rPr>
              <a:t>z</a:t>
            </a:r>
            <a:r>
              <a:rPr b="0" i="0" lang="en-US" sz="2300" u="none" cap="none" strike="noStrike">
                <a:solidFill>
                  <a:schemeClr val="dk1"/>
                </a:solidFill>
                <a:latin typeface="Arial"/>
                <a:ea typeface="Arial"/>
                <a:cs typeface="Arial"/>
                <a:sym typeface="Arial"/>
              </a:rPr>
              <a:t>.</a:t>
            </a:r>
            <a:br>
              <a:rPr b="0" i="0" lang="en-US" sz="2300" u="none" cap="none" strike="noStrike">
                <a:solidFill>
                  <a:schemeClr val="dk1"/>
                </a:solidFill>
                <a:latin typeface="Arial"/>
                <a:ea typeface="Arial"/>
                <a:cs typeface="Arial"/>
                <a:sym typeface="Arial"/>
              </a:rPr>
            </a:br>
            <a:endParaRPr b="0" i="0" sz="2300" u="none" cap="none" strike="noStrike">
              <a:solidFill>
                <a:schemeClr val="dk1"/>
              </a:solidFill>
              <a:latin typeface="Arial"/>
              <a:ea typeface="Arial"/>
              <a:cs typeface="Arial"/>
              <a:sym typeface="Arial"/>
            </a:endParaRPr>
          </a:p>
          <a:p>
            <a:pPr indent="-374650" lvl="0" marL="457200" marR="0" rtl="0" algn="l">
              <a:lnSpc>
                <a:spcPct val="115000"/>
              </a:lnSpc>
              <a:spcBef>
                <a:spcPts val="0"/>
              </a:spcBef>
              <a:spcAft>
                <a:spcPts val="0"/>
              </a:spcAft>
              <a:buClr>
                <a:schemeClr val="dk1"/>
              </a:buClr>
              <a:buSzPts val="2300"/>
              <a:buFont typeface="Arial"/>
              <a:buAutoNum type="arabicPeriod"/>
            </a:pPr>
            <a:r>
              <a:rPr b="1" i="0" lang="en-US" sz="2300" u="none" cap="none" strike="noStrike">
                <a:solidFill>
                  <a:schemeClr val="dk1"/>
                </a:solidFill>
                <a:latin typeface="Arial"/>
                <a:ea typeface="Arial"/>
                <a:cs typeface="Arial"/>
                <a:sym typeface="Arial"/>
              </a:rPr>
              <a:t>Line 2:</a:t>
            </a:r>
            <a:r>
              <a:rPr b="0" i="0" lang="en-US" sz="2300" u="none" cap="none" strike="noStrike">
                <a:solidFill>
                  <a:schemeClr val="dk1"/>
                </a:solidFill>
                <a:latin typeface="Arial"/>
                <a:ea typeface="Arial"/>
                <a:cs typeface="Arial"/>
                <a:sym typeface="Arial"/>
              </a:rPr>
              <a:t> Return value directly used in an expression (</a:t>
            </a:r>
            <a:r>
              <a:rPr b="0" i="0" lang="en-US" sz="2300" u="none" cap="none" strike="noStrike">
                <a:solidFill>
                  <a:srgbClr val="188038"/>
                </a:solidFill>
                <a:latin typeface="Roboto Mono"/>
                <a:ea typeface="Roboto Mono"/>
                <a:cs typeface="Roboto Mono"/>
                <a:sym typeface="Roboto Mono"/>
              </a:rPr>
              <a:t>printf</a:t>
            </a:r>
            <a:r>
              <a:rPr b="0" i="0" lang="en-US" sz="2300" u="none" cap="none" strike="noStrike">
                <a:solidFill>
                  <a:schemeClr val="dk1"/>
                </a:solidFill>
                <a:latin typeface="Arial"/>
                <a:ea typeface="Arial"/>
                <a:cs typeface="Arial"/>
                <a:sym typeface="Arial"/>
              </a:rPr>
              <a:t>).</a:t>
            </a:r>
            <a:br>
              <a:rPr b="0" i="0" lang="en-US" sz="2300" u="none" cap="none" strike="noStrike">
                <a:solidFill>
                  <a:schemeClr val="dk1"/>
                </a:solidFill>
                <a:latin typeface="Arial"/>
                <a:ea typeface="Arial"/>
                <a:cs typeface="Arial"/>
                <a:sym typeface="Arial"/>
              </a:rPr>
            </a:br>
            <a:endParaRPr b="0" i="0" sz="2300" u="none" cap="none" strike="noStrike">
              <a:solidFill>
                <a:schemeClr val="dk1"/>
              </a:solidFill>
              <a:latin typeface="Arial"/>
              <a:ea typeface="Arial"/>
              <a:cs typeface="Arial"/>
              <a:sym typeface="Arial"/>
            </a:endParaRPr>
          </a:p>
          <a:p>
            <a:pPr indent="-374650" lvl="0" marL="457200" marR="0" rtl="0" algn="l">
              <a:lnSpc>
                <a:spcPct val="115000"/>
              </a:lnSpc>
              <a:spcBef>
                <a:spcPts val="0"/>
              </a:spcBef>
              <a:spcAft>
                <a:spcPts val="0"/>
              </a:spcAft>
              <a:buClr>
                <a:schemeClr val="dk1"/>
              </a:buClr>
              <a:buSzPts val="2300"/>
              <a:buFont typeface="Arial"/>
              <a:buAutoNum type="arabicPeriod"/>
            </a:pPr>
            <a:r>
              <a:rPr b="1" i="0" lang="en-US" sz="2300" u="none" cap="none" strike="noStrike">
                <a:solidFill>
                  <a:schemeClr val="dk1"/>
                </a:solidFill>
                <a:latin typeface="Arial"/>
                <a:ea typeface="Arial"/>
                <a:cs typeface="Arial"/>
                <a:sym typeface="Arial"/>
              </a:rPr>
              <a:t>Line 3:</a:t>
            </a:r>
            <a:r>
              <a:rPr b="0" i="0" lang="en-US" sz="2300" u="none" cap="none" strike="noStrike">
                <a:solidFill>
                  <a:schemeClr val="dk1"/>
                </a:solidFill>
                <a:latin typeface="Arial"/>
                <a:ea typeface="Arial"/>
                <a:cs typeface="Arial"/>
                <a:sym typeface="Arial"/>
              </a:rPr>
              <a:t> Return value is produced but ignored (lost).</a:t>
            </a:r>
            <a:br>
              <a:rPr b="0" i="0" lang="en-US" sz="2300" u="none" cap="none" strike="noStrike">
                <a:solidFill>
                  <a:schemeClr val="dk1"/>
                </a:solidFill>
                <a:latin typeface="Arial"/>
                <a:ea typeface="Arial"/>
                <a:cs typeface="Arial"/>
                <a:sym typeface="Arial"/>
              </a:rPr>
            </a:br>
            <a:endParaRPr b="0" i="0" sz="23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383071ae8d3_0_188"/>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588" name="Google Shape;588;g383071ae8d3_0_188"/>
          <p:cNvGrpSpPr/>
          <p:nvPr/>
        </p:nvGrpSpPr>
        <p:grpSpPr>
          <a:xfrm>
            <a:off x="0" y="14654"/>
            <a:ext cx="12192000" cy="6858000"/>
            <a:chOff x="0" y="0"/>
            <a:chExt cx="12192000" cy="6858000"/>
          </a:xfrm>
        </p:grpSpPr>
        <p:pic>
          <p:nvPicPr>
            <p:cNvPr id="589" name="Google Shape;589;g383071ae8d3_0_188"/>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590" name="Google Shape;590;g383071ae8d3_0_188"/>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1" name="Google Shape;591;g383071ae8d3_0_188"/>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92" name="Google Shape;592;g383071ae8d3_0_188"/>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593" name="Google Shape;593;g383071ae8d3_0_188"/>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94" name="Google Shape;594;g383071ae8d3_0_188"/>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595" name="Google Shape;595;g383071ae8d3_0_188"/>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596" name="Google Shape;596;g383071ae8d3_0_188"/>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7" name="Google Shape;597;g383071ae8d3_0_188"/>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8" name="Google Shape;598;g383071ae8d3_0_188"/>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599" name="Google Shape;599;g383071ae8d3_0_188"/>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600" name="Google Shape;600;g383071ae8d3_0_188"/>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01" name="Google Shape;601;g383071ae8d3_0_188"/>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602" name="Google Shape;602;g383071ae8d3_0_188"/>
          <p:cNvSpPr txBox="1"/>
          <p:nvPr/>
        </p:nvSpPr>
        <p:spPr>
          <a:xfrm>
            <a:off x="1659775" y="1240275"/>
            <a:ext cx="9265500" cy="465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Arial"/>
                <a:ea typeface="Arial"/>
                <a:cs typeface="Arial"/>
                <a:sym typeface="Arial"/>
              </a:rPr>
              <a:t>A </a:t>
            </a:r>
            <a:r>
              <a:rPr b="1" i="0" lang="en-US" sz="2200" u="none" cap="none" strike="noStrike">
                <a:solidFill>
                  <a:schemeClr val="dk1"/>
                </a:solidFill>
                <a:latin typeface="Arial"/>
                <a:ea typeface="Arial"/>
                <a:cs typeface="Arial"/>
                <a:sym typeface="Arial"/>
              </a:rPr>
              <a:t>pointer</a:t>
            </a:r>
            <a:r>
              <a:rPr b="0" i="0" lang="en-US" sz="2200" u="none" cap="none" strike="noStrike">
                <a:solidFill>
                  <a:schemeClr val="dk1"/>
                </a:solidFill>
                <a:latin typeface="Arial"/>
                <a:ea typeface="Arial"/>
                <a:cs typeface="Arial"/>
                <a:sym typeface="Arial"/>
              </a:rPr>
              <a:t> stores the </a:t>
            </a:r>
            <a:r>
              <a:rPr b="1" i="0" lang="en-US" sz="2200" u="none" cap="none" strike="noStrike">
                <a:solidFill>
                  <a:schemeClr val="dk1"/>
                </a:solidFill>
                <a:latin typeface="Arial"/>
                <a:ea typeface="Arial"/>
                <a:cs typeface="Arial"/>
                <a:sym typeface="Arial"/>
              </a:rPr>
              <a:t>memory address</a:t>
            </a:r>
            <a:r>
              <a:rPr b="0" i="0" lang="en-US" sz="2200" u="none" cap="none" strike="noStrike">
                <a:solidFill>
                  <a:schemeClr val="dk1"/>
                </a:solidFill>
                <a:latin typeface="Arial"/>
                <a:ea typeface="Arial"/>
                <a:cs typeface="Arial"/>
                <a:sym typeface="Arial"/>
              </a:rPr>
              <a:t> of a variable, not the variable itself.</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Arial"/>
                <a:ea typeface="Arial"/>
                <a:cs typeface="Arial"/>
                <a:sym typeface="Arial"/>
              </a:rPr>
              <a:t>Pointer arithmetic depends on the </a:t>
            </a:r>
            <a:r>
              <a:rPr b="1" i="0" lang="en-US" sz="2200" u="none" cap="none" strike="noStrike">
                <a:solidFill>
                  <a:schemeClr val="dk1"/>
                </a:solidFill>
                <a:latin typeface="Arial"/>
                <a:ea typeface="Arial"/>
                <a:cs typeface="Arial"/>
                <a:sym typeface="Arial"/>
              </a:rPr>
              <a:t>base type</a:t>
            </a:r>
            <a:r>
              <a:rPr b="0" i="0" lang="en-US" sz="2200" u="none" cap="none" strike="noStrike">
                <a:solidFill>
                  <a:schemeClr val="dk1"/>
                </a:solidFill>
                <a:latin typeface="Arial"/>
                <a:ea typeface="Arial"/>
                <a:cs typeface="Arial"/>
                <a:sym typeface="Arial"/>
              </a:rPr>
              <a:t> </a:t>
            </a:r>
            <a:endParaRPr b="0" i="0" sz="2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Arial"/>
                <a:ea typeface="Arial"/>
                <a:cs typeface="Arial"/>
                <a:sym typeface="Arial"/>
              </a:rPr>
              <a:t>(e.g., incrementing an </a:t>
            </a:r>
            <a:r>
              <a:rPr b="0" i="0" lang="en-US" sz="2200" u="none" cap="none" strike="noStrike">
                <a:solidFill>
                  <a:srgbClr val="188038"/>
                </a:solidFill>
                <a:latin typeface="Roboto Mono"/>
                <a:ea typeface="Roboto Mono"/>
                <a:cs typeface="Roboto Mono"/>
                <a:sym typeface="Roboto Mono"/>
              </a:rPr>
              <a:t>int *</a:t>
            </a:r>
            <a:r>
              <a:rPr b="0" i="0" lang="en-US" sz="2200" u="none" cap="none" strike="noStrike">
                <a:solidFill>
                  <a:schemeClr val="dk1"/>
                </a:solidFill>
                <a:latin typeface="Arial"/>
                <a:ea typeface="Arial"/>
                <a:cs typeface="Arial"/>
                <a:sym typeface="Arial"/>
              </a:rPr>
              <a:t> moves 4 bytes if </a:t>
            </a:r>
            <a:r>
              <a:rPr b="0" i="0" lang="en-US" sz="2200" u="none" cap="none" strike="noStrike">
                <a:solidFill>
                  <a:srgbClr val="188038"/>
                </a:solidFill>
                <a:latin typeface="Roboto Mono"/>
                <a:ea typeface="Roboto Mono"/>
                <a:cs typeface="Roboto Mono"/>
                <a:sym typeface="Roboto Mono"/>
              </a:rPr>
              <a:t>int</a:t>
            </a:r>
            <a:r>
              <a:rPr b="0" i="0" lang="en-US" sz="2200" u="none" cap="none" strike="noStrike">
                <a:solidFill>
                  <a:schemeClr val="dk1"/>
                </a:solidFill>
                <a:latin typeface="Arial"/>
                <a:ea typeface="Arial"/>
                <a:cs typeface="Arial"/>
                <a:sym typeface="Arial"/>
              </a:rPr>
              <a:t> = 4 bytes).</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Arial"/>
                <a:ea typeface="Arial"/>
                <a:cs typeface="Arial"/>
                <a:sym typeface="Arial"/>
              </a:rPr>
              <a:t>A function that returns a pointer must declare the </a:t>
            </a:r>
            <a:r>
              <a:rPr b="1" i="0" lang="en-US" sz="2200" u="none" cap="none" strike="noStrike">
                <a:solidFill>
                  <a:schemeClr val="dk1"/>
                </a:solidFill>
                <a:latin typeface="Arial"/>
                <a:ea typeface="Arial"/>
                <a:cs typeface="Arial"/>
                <a:sym typeface="Arial"/>
              </a:rPr>
              <a:t>type of pointer</a:t>
            </a:r>
            <a:r>
              <a:rPr b="0" i="0" lang="en-US" sz="2200" u="none" cap="none" strike="noStrike">
                <a:solidFill>
                  <a:schemeClr val="dk1"/>
                </a:solidFill>
                <a:latin typeface="Arial"/>
                <a:ea typeface="Arial"/>
                <a:cs typeface="Arial"/>
                <a:sym typeface="Arial"/>
              </a:rPr>
              <a:t> it returns.</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368300" lvl="0" marL="457200" marR="0" rtl="0" algn="l">
              <a:lnSpc>
                <a:spcPct val="115000"/>
              </a:lnSpc>
              <a:spcBef>
                <a:spcPts val="120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Example: </a:t>
            </a:r>
            <a:r>
              <a:rPr b="0" i="0" lang="en-US" sz="2200" u="none" cap="none" strike="noStrike">
                <a:solidFill>
                  <a:srgbClr val="188038"/>
                </a:solidFill>
                <a:latin typeface="Roboto Mono"/>
                <a:ea typeface="Roboto Mono"/>
                <a:cs typeface="Roboto Mono"/>
                <a:sym typeface="Roboto Mono"/>
              </a:rPr>
              <a:t>char *</a:t>
            </a:r>
            <a:r>
              <a:rPr b="0" i="0" lang="en-US" sz="2200" u="none" cap="none" strike="noStrike">
                <a:solidFill>
                  <a:schemeClr val="dk1"/>
                </a:solidFill>
                <a:latin typeface="Arial"/>
                <a:ea typeface="Arial"/>
                <a:cs typeface="Arial"/>
                <a:sym typeface="Arial"/>
              </a:rPr>
              <a:t> for characters, </a:t>
            </a:r>
            <a:r>
              <a:rPr b="0" i="0" lang="en-US" sz="2200" u="none" cap="none" strike="noStrike">
                <a:solidFill>
                  <a:srgbClr val="188038"/>
                </a:solidFill>
                <a:latin typeface="Roboto Mono"/>
                <a:ea typeface="Roboto Mono"/>
                <a:cs typeface="Roboto Mono"/>
                <a:sym typeface="Roboto Mono"/>
              </a:rPr>
              <a:t>int *</a:t>
            </a:r>
            <a:r>
              <a:rPr b="0" i="0" lang="en-US" sz="2200" u="none" cap="none" strike="noStrike">
                <a:solidFill>
                  <a:schemeClr val="dk1"/>
                </a:solidFill>
                <a:latin typeface="Arial"/>
                <a:ea typeface="Arial"/>
                <a:cs typeface="Arial"/>
                <a:sym typeface="Arial"/>
              </a:rPr>
              <a:t> for integers.</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200"/>
              <a:buFont typeface="Arial"/>
              <a:buNone/>
            </a:pPr>
            <a:r>
              <a:rPr b="0" i="0" lang="en-US" sz="2200" u="none" cap="none" strike="noStrike">
                <a:solidFill>
                  <a:schemeClr val="dk1"/>
                </a:solidFill>
                <a:latin typeface="Arial"/>
                <a:ea typeface="Arial"/>
                <a:cs typeface="Arial"/>
                <a:sym typeface="Arial"/>
              </a:rPr>
              <a:t>If a function returns a </a:t>
            </a:r>
            <a:r>
              <a:rPr b="1" i="0" lang="en-US" sz="2200" u="none" cap="none" strike="noStrike">
                <a:solidFill>
                  <a:schemeClr val="dk1"/>
                </a:solidFill>
                <a:latin typeface="Arial"/>
                <a:ea typeface="Arial"/>
                <a:cs typeface="Arial"/>
                <a:sym typeface="Arial"/>
              </a:rPr>
              <a:t>generic pointer</a:t>
            </a:r>
            <a:r>
              <a:rPr b="0" i="0" lang="en-US" sz="2200" u="none" cap="none" strike="noStrike">
                <a:solidFill>
                  <a:schemeClr val="dk1"/>
                </a:solidFill>
                <a:latin typeface="Arial"/>
                <a:ea typeface="Arial"/>
                <a:cs typeface="Arial"/>
                <a:sym typeface="Arial"/>
              </a:rPr>
              <a:t>, its return type is </a:t>
            </a:r>
            <a:r>
              <a:rPr b="0" i="0" lang="en-US" sz="2200" u="none" cap="none" strike="noStrike">
                <a:solidFill>
                  <a:srgbClr val="188038"/>
                </a:solidFill>
                <a:latin typeface="Roboto Mono"/>
                <a:ea typeface="Roboto Mono"/>
                <a:cs typeface="Roboto Mono"/>
                <a:sym typeface="Roboto Mono"/>
              </a:rPr>
              <a:t>void *</a:t>
            </a:r>
            <a:r>
              <a:rPr b="0" i="0" lang="en-US" sz="2200" u="none" cap="none" strike="noStrike">
                <a:solidFill>
                  <a:schemeClr val="dk1"/>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p:txBody>
      </p:sp>
      <p:sp>
        <p:nvSpPr>
          <p:cNvPr id="603" name="Google Shape;603;g383071ae8d3_0_188"/>
          <p:cNvSpPr txBox="1"/>
          <p:nvPr/>
        </p:nvSpPr>
        <p:spPr>
          <a:xfrm>
            <a:off x="1459150" y="14650"/>
            <a:ext cx="9885900" cy="111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FF0000"/>
                </a:solidFill>
                <a:latin typeface="Times New Roman"/>
                <a:ea typeface="Times New Roman"/>
                <a:cs typeface="Times New Roman"/>
                <a:sym typeface="Times New Roman"/>
              </a:rPr>
              <a:t>Returning Pointers</a:t>
            </a:r>
            <a:endParaRPr b="1" i="0" sz="2550" u="none" cap="none" strike="noStrike">
              <a:solidFill>
                <a:srgbClr val="FF0000"/>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g383071ae8d3_0_206"/>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609" name="Google Shape;609;g383071ae8d3_0_206"/>
          <p:cNvGrpSpPr/>
          <p:nvPr/>
        </p:nvGrpSpPr>
        <p:grpSpPr>
          <a:xfrm>
            <a:off x="0" y="14654"/>
            <a:ext cx="12192000" cy="6858000"/>
            <a:chOff x="0" y="0"/>
            <a:chExt cx="12192000" cy="6858000"/>
          </a:xfrm>
        </p:grpSpPr>
        <p:pic>
          <p:nvPicPr>
            <p:cNvPr id="610" name="Google Shape;610;g383071ae8d3_0_206"/>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611" name="Google Shape;611;g383071ae8d3_0_206"/>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2" name="Google Shape;612;g383071ae8d3_0_206"/>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13" name="Google Shape;613;g383071ae8d3_0_206"/>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614" name="Google Shape;614;g383071ae8d3_0_206"/>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15" name="Google Shape;615;g383071ae8d3_0_206"/>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616" name="Google Shape;616;g383071ae8d3_0_206"/>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617" name="Google Shape;617;g383071ae8d3_0_206"/>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8" name="Google Shape;618;g383071ae8d3_0_206"/>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9" name="Google Shape;619;g383071ae8d3_0_206"/>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20" name="Google Shape;620;g383071ae8d3_0_206"/>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621" name="Google Shape;621;g383071ae8d3_0_206"/>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22" name="Google Shape;622;g383071ae8d3_0_206"/>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623" name="Google Shape;623;g383071ae8d3_0_206"/>
          <p:cNvSpPr txBox="1"/>
          <p:nvPr/>
        </p:nvSpPr>
        <p:spPr>
          <a:xfrm>
            <a:off x="1404425" y="118900"/>
            <a:ext cx="9083100" cy="6957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Although functions that return pointers are handled just like any other type of function, it is helpful to review some key concepts and look at an example. </a:t>
            </a:r>
            <a:endParaRPr sz="2000">
              <a:latin typeface="Times New Roman"/>
              <a:ea typeface="Times New Roman"/>
              <a:cs typeface="Times New Roman"/>
              <a:sym typeface="Times New Roman"/>
            </a:endParaRPr>
          </a:p>
          <a:p>
            <a:pPr indent="0" lvl="0" marL="457200" rtl="0" algn="l">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Pointers are neither integers nor unsigned integers. They are the memory addresses of a certain type of data. </a:t>
            </a:r>
            <a:endParaRPr sz="2000">
              <a:latin typeface="Times New Roman"/>
              <a:ea typeface="Times New Roman"/>
              <a:cs typeface="Times New Roman"/>
              <a:sym typeface="Times New Roman"/>
            </a:endParaRPr>
          </a:p>
          <a:p>
            <a:pPr indent="0" lvl="0" marL="457200" rtl="0" algn="l">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One reason for this distinction is that pointer arithmetic is relative to the base type.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For example, if an integer pointer is incremented, it will contain a value that is four greater than its previous value (assuming 4-byte integers). </a:t>
            </a:r>
            <a:endParaRPr sz="2000">
              <a:latin typeface="Times New Roman"/>
              <a:ea typeface="Times New Roman"/>
              <a:cs typeface="Times New Roman"/>
              <a:sym typeface="Times New Roman"/>
            </a:endParaRPr>
          </a:p>
          <a:p>
            <a:pPr indent="0" lvl="0" marL="457200" rtl="0" algn="l">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In general, each time a pointer is incremented (or decremented), it points to the next (or previous) item of its type.</a:t>
            </a:r>
            <a:endParaRPr sz="2000">
              <a:latin typeface="Times New Roman"/>
              <a:ea typeface="Times New Roman"/>
              <a:cs typeface="Times New Roman"/>
              <a:sym typeface="Times New Roman"/>
            </a:endParaRPr>
          </a:p>
          <a:p>
            <a:pPr indent="0" lvl="0" marL="457200" rtl="0" algn="l">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 Since the length of different data types may differ, the compiler must know what type of data the pointer is pointing to. </a:t>
            </a:r>
            <a:endParaRPr sz="2000">
              <a:latin typeface="Times New Roman"/>
              <a:ea typeface="Times New Roman"/>
              <a:cs typeface="Times New Roman"/>
              <a:sym typeface="Times New Roman"/>
            </a:endParaRPr>
          </a:p>
          <a:p>
            <a:pPr indent="0" lvl="0" marL="457200" rtl="0" algn="l">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For this reason, a function that returns a pointer must declare explicitly what type of pointer it is returning.</a:t>
            </a:r>
            <a:endParaRPr sz="2000">
              <a:latin typeface="Times New Roman"/>
              <a:ea typeface="Times New Roman"/>
              <a:cs typeface="Times New Roman"/>
              <a:sym typeface="Times New Roman"/>
            </a:endParaRPr>
          </a:p>
          <a:p>
            <a:pPr indent="0" lvl="0" marL="457200" rtl="0" algn="l">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 For example, you should not use a return type of int * to return a char * pointer!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 In a few cases, a function will need to return a generic pointer.</a:t>
            </a:r>
            <a:endParaRPr sz="2000">
              <a:latin typeface="Times New Roman"/>
              <a:ea typeface="Times New Roman"/>
              <a:cs typeface="Times New Roman"/>
              <a:sym typeface="Times New Roman"/>
            </a:endParaRPr>
          </a:p>
          <a:p>
            <a:pPr indent="0" lvl="0" marL="0" rtl="0" algn="l">
              <a:spcBef>
                <a:spcPts val="0"/>
              </a:spcBef>
              <a:spcAft>
                <a:spcPts val="0"/>
              </a:spcAft>
              <a:buNone/>
            </a:pP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g383071ae8d3_0_224"/>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629" name="Google Shape;629;g383071ae8d3_0_224"/>
          <p:cNvGrpSpPr/>
          <p:nvPr/>
        </p:nvGrpSpPr>
        <p:grpSpPr>
          <a:xfrm>
            <a:off x="0" y="14654"/>
            <a:ext cx="12192000" cy="6858000"/>
            <a:chOff x="0" y="0"/>
            <a:chExt cx="12192000" cy="6858000"/>
          </a:xfrm>
        </p:grpSpPr>
        <p:pic>
          <p:nvPicPr>
            <p:cNvPr id="630" name="Google Shape;630;g383071ae8d3_0_224"/>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631" name="Google Shape;631;g383071ae8d3_0_224"/>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2" name="Google Shape;632;g383071ae8d3_0_224"/>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33" name="Google Shape;633;g383071ae8d3_0_224"/>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634" name="Google Shape;634;g383071ae8d3_0_224"/>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35" name="Google Shape;635;g383071ae8d3_0_224"/>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636" name="Google Shape;636;g383071ae8d3_0_224"/>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637" name="Google Shape;637;g383071ae8d3_0_224"/>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8" name="Google Shape;638;g383071ae8d3_0_224"/>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9" name="Google Shape;639;g383071ae8d3_0_224"/>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40" name="Google Shape;640;g383071ae8d3_0_224"/>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641" name="Google Shape;641;g383071ae8d3_0_224"/>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42" name="Google Shape;642;g383071ae8d3_0_224"/>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643" name="Google Shape;643;g383071ae8d3_0_224"/>
          <p:cNvSpPr txBox="1"/>
          <p:nvPr/>
        </p:nvSpPr>
        <p:spPr>
          <a:xfrm>
            <a:off x="1678025" y="177000"/>
            <a:ext cx="9393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latin typeface="Times New Roman"/>
                <a:ea typeface="Times New Roman"/>
                <a:cs typeface="Times New Roman"/>
                <a:sym typeface="Times New Roman"/>
              </a:rPr>
              <a:t> </a:t>
            </a:r>
            <a:r>
              <a:rPr lang="en-US" sz="2000">
                <a:solidFill>
                  <a:srgbClr val="FF0000"/>
                </a:solidFill>
                <a:latin typeface="Times New Roman"/>
                <a:ea typeface="Times New Roman"/>
                <a:cs typeface="Times New Roman"/>
                <a:sym typeface="Times New Roman"/>
              </a:rPr>
              <a:t>Here is a short program that uses match( ):</a:t>
            </a:r>
            <a:endParaRPr sz="2000">
              <a:solidFill>
                <a:srgbClr val="FF0000"/>
              </a:solidFill>
              <a:latin typeface="Times New Roman"/>
              <a:ea typeface="Times New Roman"/>
              <a:cs typeface="Times New Roman"/>
              <a:sym typeface="Times New Roman"/>
            </a:endParaRPr>
          </a:p>
        </p:txBody>
      </p:sp>
      <p:sp>
        <p:nvSpPr>
          <p:cNvPr id="644" name="Google Shape;644;g383071ae8d3_0_224"/>
          <p:cNvSpPr txBox="1"/>
          <p:nvPr/>
        </p:nvSpPr>
        <p:spPr>
          <a:xfrm>
            <a:off x="1586825" y="875500"/>
            <a:ext cx="10250400" cy="53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#include &lt;stdio.h&gt;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char *match(char c, char *s); /* prototype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int main(void)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char s[80], *p, ch;</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gets(s);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ch = getchar();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p = match(ch, s);</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if(*p) /* there is a match */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printf(''%s ", p);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else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printf("No match found.");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return 0;</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50">
              <a:solidFill>
                <a:schemeClr val="dk1"/>
              </a:solidFill>
              <a:latin typeface="Times New Roman"/>
              <a:ea typeface="Times New Roman"/>
              <a:cs typeface="Times New Roman"/>
              <a:sym typeface="Times New Roman"/>
            </a:endParaRPr>
          </a:p>
        </p:txBody>
      </p:sp>
      <p:sp>
        <p:nvSpPr>
          <p:cNvPr id="645" name="Google Shape;645;g383071ae8d3_0_224"/>
          <p:cNvSpPr txBox="1"/>
          <p:nvPr/>
        </p:nvSpPr>
        <p:spPr>
          <a:xfrm>
            <a:off x="6639125" y="1021400"/>
            <a:ext cx="5180100" cy="5034000"/>
          </a:xfrm>
          <a:prstGeom prst="rect">
            <a:avLst/>
          </a:prstGeom>
          <a:noFill/>
          <a:ln>
            <a:noFill/>
          </a:ln>
        </p:spPr>
        <p:txBody>
          <a:bodyPr anchorCtr="0" anchor="t" bIns="91425" lIns="91425" spcFirstLastPara="1" rIns="91425" wrap="square" tIns="91425">
            <a:noAutofit/>
          </a:bodyPr>
          <a:lstStyle/>
          <a:p>
            <a:pPr indent="-358775" lvl="0" marL="457200" rtl="0" algn="l">
              <a:spcBef>
                <a:spcPts val="0"/>
              </a:spcBef>
              <a:spcAft>
                <a:spcPts val="0"/>
              </a:spcAft>
              <a:buClr>
                <a:schemeClr val="dk1"/>
              </a:buClr>
              <a:buSzPts val="2050"/>
              <a:buFont typeface="Times New Roman"/>
              <a:buChar char="●"/>
            </a:pPr>
            <a:r>
              <a:rPr lang="en-US" sz="2050">
                <a:solidFill>
                  <a:schemeClr val="dk1"/>
                </a:solidFill>
                <a:latin typeface="Times New Roman"/>
                <a:ea typeface="Times New Roman"/>
                <a:cs typeface="Times New Roman"/>
                <a:sym typeface="Times New Roman"/>
              </a:rPr>
              <a:t> This program reads a string and then a character.</a:t>
            </a:r>
            <a:endParaRPr sz="2050">
              <a:solidFill>
                <a:schemeClr val="dk1"/>
              </a:solidFill>
              <a:latin typeface="Times New Roman"/>
              <a:ea typeface="Times New Roman"/>
              <a:cs typeface="Times New Roman"/>
              <a:sym typeface="Times New Roman"/>
            </a:endParaRPr>
          </a:p>
          <a:p>
            <a:pPr indent="-358775" lvl="0" marL="457200" rtl="0" algn="l">
              <a:spcBef>
                <a:spcPts val="0"/>
              </a:spcBef>
              <a:spcAft>
                <a:spcPts val="0"/>
              </a:spcAft>
              <a:buClr>
                <a:schemeClr val="dk1"/>
              </a:buClr>
              <a:buSzPts val="2050"/>
              <a:buFont typeface="Times New Roman"/>
              <a:buChar char="●"/>
            </a:pPr>
            <a:r>
              <a:rPr lang="en-US" sz="2050">
                <a:solidFill>
                  <a:schemeClr val="dk1"/>
                </a:solidFill>
                <a:latin typeface="Times New Roman"/>
                <a:ea typeface="Times New Roman"/>
                <a:cs typeface="Times New Roman"/>
                <a:sym typeface="Times New Roman"/>
              </a:rPr>
              <a:t> It then searches for an occurrence of the character in the string.</a:t>
            </a:r>
            <a:endParaRPr sz="2050">
              <a:solidFill>
                <a:schemeClr val="dk1"/>
              </a:solidFill>
              <a:latin typeface="Times New Roman"/>
              <a:ea typeface="Times New Roman"/>
              <a:cs typeface="Times New Roman"/>
              <a:sym typeface="Times New Roman"/>
            </a:endParaRPr>
          </a:p>
          <a:p>
            <a:pPr indent="-358775" lvl="0" marL="457200" rtl="0" algn="l">
              <a:spcBef>
                <a:spcPts val="0"/>
              </a:spcBef>
              <a:spcAft>
                <a:spcPts val="0"/>
              </a:spcAft>
              <a:buClr>
                <a:schemeClr val="dk1"/>
              </a:buClr>
              <a:buSzPts val="2050"/>
              <a:buFont typeface="Times New Roman"/>
              <a:buChar char="●"/>
            </a:pPr>
            <a:r>
              <a:rPr lang="en-US" sz="2050">
                <a:solidFill>
                  <a:schemeClr val="dk1"/>
                </a:solidFill>
                <a:latin typeface="Times New Roman"/>
                <a:ea typeface="Times New Roman"/>
                <a:cs typeface="Times New Roman"/>
                <a:sym typeface="Times New Roman"/>
              </a:rPr>
              <a:t> If the character is in the string, p will point to that character, and the program prints the string from the point of match. </a:t>
            </a:r>
            <a:endParaRPr sz="2050">
              <a:solidFill>
                <a:schemeClr val="dk1"/>
              </a:solidFill>
              <a:latin typeface="Times New Roman"/>
              <a:ea typeface="Times New Roman"/>
              <a:cs typeface="Times New Roman"/>
              <a:sym typeface="Times New Roman"/>
            </a:endParaRPr>
          </a:p>
          <a:p>
            <a:pPr indent="-358775" lvl="0" marL="457200" rtl="0" algn="l">
              <a:spcBef>
                <a:spcPts val="0"/>
              </a:spcBef>
              <a:spcAft>
                <a:spcPts val="0"/>
              </a:spcAft>
              <a:buClr>
                <a:schemeClr val="dk1"/>
              </a:buClr>
              <a:buSzPts val="2050"/>
              <a:buFont typeface="Times New Roman"/>
              <a:buChar char="●"/>
            </a:pPr>
            <a:r>
              <a:rPr lang="en-US" sz="2050">
                <a:solidFill>
                  <a:schemeClr val="dk1"/>
                </a:solidFill>
                <a:latin typeface="Times New Roman"/>
                <a:ea typeface="Times New Roman"/>
                <a:cs typeface="Times New Roman"/>
                <a:sym typeface="Times New Roman"/>
              </a:rPr>
              <a:t>When no match is found, p will be pointing to the null terminator, making *p false. </a:t>
            </a:r>
            <a:endParaRPr sz="2050">
              <a:solidFill>
                <a:schemeClr val="dk1"/>
              </a:solidFill>
              <a:latin typeface="Times New Roman"/>
              <a:ea typeface="Times New Roman"/>
              <a:cs typeface="Times New Roman"/>
              <a:sym typeface="Times New Roman"/>
            </a:endParaRPr>
          </a:p>
          <a:p>
            <a:pPr indent="-358775" lvl="0" marL="457200" rtl="0" algn="l">
              <a:spcBef>
                <a:spcPts val="0"/>
              </a:spcBef>
              <a:spcAft>
                <a:spcPts val="0"/>
              </a:spcAft>
              <a:buClr>
                <a:schemeClr val="dk1"/>
              </a:buClr>
              <a:buSzPts val="2050"/>
              <a:buFont typeface="Times New Roman"/>
              <a:buChar char="●"/>
            </a:pPr>
            <a:r>
              <a:rPr lang="en-US" sz="2050">
                <a:solidFill>
                  <a:schemeClr val="dk1"/>
                </a:solidFill>
                <a:latin typeface="Times New Roman"/>
                <a:ea typeface="Times New Roman"/>
                <a:cs typeface="Times New Roman"/>
                <a:sym typeface="Times New Roman"/>
              </a:rPr>
              <a:t>In this case, the program prints No match found</a:t>
            </a:r>
            <a:endParaRPr sz="205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g383071ae8d3_0_242"/>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651" name="Google Shape;651;g383071ae8d3_0_242"/>
          <p:cNvGrpSpPr/>
          <p:nvPr/>
        </p:nvGrpSpPr>
        <p:grpSpPr>
          <a:xfrm>
            <a:off x="0" y="14654"/>
            <a:ext cx="12192000" cy="6858000"/>
            <a:chOff x="0" y="0"/>
            <a:chExt cx="12192000" cy="6858000"/>
          </a:xfrm>
        </p:grpSpPr>
        <p:pic>
          <p:nvPicPr>
            <p:cNvPr id="652" name="Google Shape;652;g383071ae8d3_0_242"/>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653" name="Google Shape;653;g383071ae8d3_0_242"/>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4" name="Google Shape;654;g383071ae8d3_0_242"/>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55" name="Google Shape;655;g383071ae8d3_0_242"/>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656" name="Google Shape;656;g383071ae8d3_0_242"/>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57" name="Google Shape;657;g383071ae8d3_0_242"/>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658" name="Google Shape;658;g383071ae8d3_0_242"/>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659" name="Google Shape;659;g383071ae8d3_0_242"/>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0" name="Google Shape;660;g383071ae8d3_0_242"/>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1" name="Google Shape;661;g383071ae8d3_0_242"/>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62" name="Google Shape;662;g383071ae8d3_0_242"/>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663" name="Google Shape;663;g383071ae8d3_0_242"/>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64" name="Google Shape;664;g383071ae8d3_0_242"/>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665" name="Google Shape;665;g383071ae8d3_0_242"/>
          <p:cNvSpPr txBox="1"/>
          <p:nvPr/>
        </p:nvSpPr>
        <p:spPr>
          <a:xfrm>
            <a:off x="1696250" y="419500"/>
            <a:ext cx="6985800" cy="83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50"/>
              <a:buFont typeface="Arial"/>
              <a:buNone/>
            </a:pPr>
            <a:r>
              <a:rPr b="1" i="0" lang="en-US" sz="2450" u="none" cap="none" strike="noStrike">
                <a:solidFill>
                  <a:schemeClr val="dk1"/>
                </a:solidFill>
                <a:latin typeface="Times New Roman"/>
                <a:ea typeface="Times New Roman"/>
                <a:cs typeface="Times New Roman"/>
                <a:sym typeface="Times New Roman"/>
              </a:rPr>
              <a:t>Functions of Type Void</a:t>
            </a:r>
            <a:endParaRPr b="1" i="0" sz="2450" u="none" cap="none" strike="noStrike">
              <a:solidFill>
                <a:schemeClr val="dk1"/>
              </a:solidFill>
              <a:latin typeface="Times New Roman"/>
              <a:ea typeface="Times New Roman"/>
              <a:cs typeface="Times New Roman"/>
              <a:sym typeface="Times New Roman"/>
            </a:endParaRPr>
          </a:p>
        </p:txBody>
      </p:sp>
      <p:sp>
        <p:nvSpPr>
          <p:cNvPr id="666" name="Google Shape;666;g383071ae8d3_0_242"/>
          <p:cNvSpPr txBox="1"/>
          <p:nvPr/>
        </p:nvSpPr>
        <p:spPr>
          <a:xfrm>
            <a:off x="1532100" y="839025"/>
            <a:ext cx="10360200" cy="49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rPr b="0" i="0" lang="en-US" sz="2050" u="none" cap="none" strike="noStrike">
                <a:solidFill>
                  <a:schemeClr val="dk1"/>
                </a:solidFill>
                <a:latin typeface="Times New Roman"/>
                <a:ea typeface="Times New Roman"/>
                <a:cs typeface="Times New Roman"/>
                <a:sym typeface="Times New Roman"/>
              </a:rPr>
              <a:t>One of void's uses is to explicitly declare functions that do not return values. </a:t>
            </a:r>
            <a:endParaRPr b="0" i="0" sz="205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50"/>
              <a:buFont typeface="Arial"/>
              <a:buNone/>
            </a:pPr>
            <a:r>
              <a:rPr b="0" i="0" lang="en-US" sz="2050" u="none" cap="none" strike="noStrike">
                <a:solidFill>
                  <a:schemeClr val="dk1"/>
                </a:solidFill>
                <a:latin typeface="Times New Roman"/>
                <a:ea typeface="Times New Roman"/>
                <a:cs typeface="Times New Roman"/>
                <a:sym typeface="Times New Roman"/>
              </a:rPr>
              <a:t>This prevents their use in any expression and helps avert accidental misuse. </a:t>
            </a:r>
            <a:endParaRPr b="0" i="0" sz="205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50"/>
              <a:buFont typeface="Arial"/>
              <a:buNone/>
            </a:pPr>
            <a:r>
              <a:rPr b="0" i="0" lang="en-US" sz="2050" u="none" cap="none" strike="noStrike">
                <a:solidFill>
                  <a:schemeClr val="dk1"/>
                </a:solidFill>
                <a:latin typeface="Times New Roman"/>
                <a:ea typeface="Times New Roman"/>
                <a:cs typeface="Times New Roman"/>
                <a:sym typeface="Times New Roman"/>
              </a:rPr>
              <a:t>For example, the function print_vertical( ) prints its string argument vertically down the side of the screen. </a:t>
            </a:r>
            <a:endParaRPr b="0" i="0" sz="205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50"/>
              <a:buFont typeface="Arial"/>
              <a:buNone/>
            </a:pPr>
            <a:r>
              <a:rPr b="0" i="0" lang="en-US" sz="2050" u="none" cap="none" strike="noStrike">
                <a:solidFill>
                  <a:schemeClr val="dk1"/>
                </a:solidFill>
                <a:latin typeface="Times New Roman"/>
                <a:ea typeface="Times New Roman"/>
                <a:cs typeface="Times New Roman"/>
                <a:sym typeface="Times New Roman"/>
              </a:rPr>
              <a:t>Since it returns no value, it is declared as void.</a:t>
            </a:r>
            <a:endParaRPr b="0" i="0" sz="205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pic>
        <p:nvPicPr>
          <p:cNvPr id="667" name="Google Shape;667;g383071ae8d3_0_242"/>
          <p:cNvPicPr preferRelativeResize="0"/>
          <p:nvPr/>
        </p:nvPicPr>
        <p:blipFill rotWithShape="1">
          <a:blip r:embed="rId9">
            <a:alphaModFix/>
          </a:blip>
          <a:srcRect b="-1471" l="-21891" r="0" t="-1472"/>
          <a:stretch/>
        </p:blipFill>
        <p:spPr>
          <a:xfrm>
            <a:off x="729250" y="3278719"/>
            <a:ext cx="7131926" cy="3184100"/>
          </a:xfrm>
          <a:prstGeom prst="rect">
            <a:avLst/>
          </a:prstGeom>
          <a:noFill/>
          <a:ln>
            <a:noFill/>
          </a:ln>
        </p:spPr>
      </p:pic>
      <p:pic>
        <p:nvPicPr>
          <p:cNvPr id="668" name="Google Shape;668;g383071ae8d3_0_242"/>
          <p:cNvPicPr preferRelativeResize="0"/>
          <p:nvPr/>
        </p:nvPicPr>
        <p:blipFill rotWithShape="1">
          <a:blip r:embed="rId10">
            <a:alphaModFix/>
          </a:blip>
          <a:srcRect b="0" l="0" r="0" t="0"/>
          <a:stretch/>
        </p:blipFill>
        <p:spPr>
          <a:xfrm>
            <a:off x="7149825" y="2863575"/>
            <a:ext cx="8268525" cy="22783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83071ae8d3_0_260"/>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674" name="Google Shape;674;g383071ae8d3_0_260"/>
          <p:cNvGrpSpPr/>
          <p:nvPr/>
        </p:nvGrpSpPr>
        <p:grpSpPr>
          <a:xfrm>
            <a:off x="0" y="32893"/>
            <a:ext cx="12192000" cy="6858000"/>
            <a:chOff x="0" y="0"/>
            <a:chExt cx="12192000" cy="6858000"/>
          </a:xfrm>
        </p:grpSpPr>
        <p:pic>
          <p:nvPicPr>
            <p:cNvPr id="675" name="Google Shape;675;g383071ae8d3_0_260"/>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676" name="Google Shape;676;g383071ae8d3_0_260"/>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7" name="Google Shape;677;g383071ae8d3_0_260"/>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78" name="Google Shape;678;g383071ae8d3_0_260"/>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679" name="Google Shape;679;g383071ae8d3_0_260"/>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80" name="Google Shape;680;g383071ae8d3_0_260"/>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681" name="Google Shape;681;g383071ae8d3_0_260"/>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682" name="Google Shape;682;g383071ae8d3_0_260"/>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3" name="Google Shape;683;g383071ae8d3_0_260"/>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4" name="Google Shape;684;g383071ae8d3_0_260"/>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85" name="Google Shape;685;g383071ae8d3_0_260"/>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686" name="Google Shape;686;g383071ae8d3_0_260"/>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87" name="Google Shape;687;g383071ae8d3_0_260"/>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688" name="Google Shape;688;g383071ae8d3_0_260"/>
          <p:cNvSpPr txBox="1"/>
          <p:nvPr/>
        </p:nvSpPr>
        <p:spPr>
          <a:xfrm>
            <a:off x="1367950" y="729575"/>
            <a:ext cx="10633500" cy="335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Times New Roman"/>
              <a:buChar char="●"/>
            </a:pPr>
            <a:r>
              <a:rPr i="0" lang="en-US" sz="2400" u="none" cap="none" strike="noStrike">
                <a:solidFill>
                  <a:srgbClr val="000000"/>
                </a:solidFill>
                <a:latin typeface="Times New Roman"/>
                <a:ea typeface="Times New Roman"/>
                <a:cs typeface="Times New Roman"/>
                <a:sym typeface="Times New Roman"/>
              </a:rPr>
              <a:t>The main( ) function returns an integer to the calling process, which is generally the operating system. </a:t>
            </a:r>
            <a:endParaRPr i="0" sz="2400" u="none" cap="none" strike="noStrike">
              <a:solidFill>
                <a:srgbClr val="000000"/>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rgbClr val="000000"/>
              </a:buClr>
              <a:buSzPts val="2400"/>
              <a:buFont typeface="Times New Roman"/>
              <a:buChar char="●"/>
            </a:pPr>
            <a:r>
              <a:rPr i="0" lang="en-US" sz="2400" u="none" cap="none" strike="noStrike">
                <a:solidFill>
                  <a:srgbClr val="000000"/>
                </a:solidFill>
                <a:latin typeface="Times New Roman"/>
                <a:ea typeface="Times New Roman"/>
                <a:cs typeface="Times New Roman"/>
                <a:sym typeface="Times New Roman"/>
              </a:rPr>
              <a:t>Returning a value from main( ) is the equivalent of calling exit( ) with the same value. </a:t>
            </a:r>
            <a:endParaRPr i="0" sz="2400" u="none" cap="none" strike="noStrike">
              <a:solidFill>
                <a:srgbClr val="000000"/>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rgbClr val="000000"/>
              </a:buClr>
              <a:buSzPts val="2400"/>
              <a:buFont typeface="Times New Roman"/>
              <a:buChar char="●"/>
            </a:pPr>
            <a:r>
              <a:rPr i="0" lang="en-US" sz="2400" u="none" cap="none" strike="noStrike">
                <a:solidFill>
                  <a:srgbClr val="000000"/>
                </a:solidFill>
                <a:latin typeface="Times New Roman"/>
                <a:ea typeface="Times New Roman"/>
                <a:cs typeface="Times New Roman"/>
                <a:sym typeface="Times New Roman"/>
              </a:rPr>
              <a:t>If main( ) does not explicitly return a value, the value passed to the calling process is technically undefined.</a:t>
            </a:r>
            <a:endParaRPr i="0" sz="2400" u="none" cap="none" strike="noStrike">
              <a:solidFill>
                <a:srgbClr val="000000"/>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rgbClr val="000000"/>
              </a:buClr>
              <a:buSzPts val="2400"/>
              <a:buFont typeface="Times New Roman"/>
              <a:buChar char="●"/>
            </a:pPr>
            <a:r>
              <a:rPr i="0" lang="en-US" sz="2400" u="none" cap="none" strike="noStrike">
                <a:solidFill>
                  <a:srgbClr val="000000"/>
                </a:solidFill>
                <a:latin typeface="Times New Roman"/>
                <a:ea typeface="Times New Roman"/>
                <a:cs typeface="Times New Roman"/>
                <a:sym typeface="Times New Roman"/>
              </a:rPr>
              <a:t> In practice, most C compilers automatically return 0, but do not rely on this if portability is a concern</a:t>
            </a:r>
            <a:endParaRPr i="0" sz="2400" u="none" cap="none" strike="noStrike">
              <a:solidFill>
                <a:srgbClr val="000000"/>
              </a:solidFill>
              <a:latin typeface="Times New Roman"/>
              <a:ea typeface="Times New Roman"/>
              <a:cs typeface="Times New Roman"/>
              <a:sym typeface="Times New Roman"/>
            </a:endParaRPr>
          </a:p>
        </p:txBody>
      </p:sp>
      <p:sp>
        <p:nvSpPr>
          <p:cNvPr id="689" name="Google Shape;689;g383071ae8d3_0_260"/>
          <p:cNvSpPr txBox="1"/>
          <p:nvPr/>
        </p:nvSpPr>
        <p:spPr>
          <a:xfrm>
            <a:off x="1696250" y="182400"/>
            <a:ext cx="9903900" cy="142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US" sz="2100" u="none" cap="none" strike="noStrike">
                <a:solidFill>
                  <a:schemeClr val="dk1"/>
                </a:solidFill>
                <a:latin typeface="Arial"/>
                <a:ea typeface="Arial"/>
                <a:cs typeface="Arial"/>
                <a:sym typeface="Arial"/>
              </a:rPr>
              <a:t>What Does main( ) Return?</a:t>
            </a:r>
            <a:endParaRPr b="1" i="0" sz="2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g383071ae8d3_0_296"/>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695" name="Google Shape;695;g383071ae8d3_0_296"/>
          <p:cNvGrpSpPr/>
          <p:nvPr/>
        </p:nvGrpSpPr>
        <p:grpSpPr>
          <a:xfrm>
            <a:off x="0" y="14654"/>
            <a:ext cx="12192000" cy="6858000"/>
            <a:chOff x="0" y="0"/>
            <a:chExt cx="12192000" cy="6858000"/>
          </a:xfrm>
        </p:grpSpPr>
        <p:pic>
          <p:nvPicPr>
            <p:cNvPr id="696" name="Google Shape;696;g383071ae8d3_0_296"/>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697" name="Google Shape;697;g383071ae8d3_0_296"/>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8" name="Google Shape;698;g383071ae8d3_0_296"/>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99" name="Google Shape;699;g383071ae8d3_0_296"/>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700" name="Google Shape;700;g383071ae8d3_0_296"/>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01" name="Google Shape;701;g383071ae8d3_0_296"/>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702" name="Google Shape;702;g383071ae8d3_0_296"/>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703" name="Google Shape;703;g383071ae8d3_0_296"/>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4" name="Google Shape;704;g383071ae8d3_0_296"/>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5" name="Google Shape;705;g383071ae8d3_0_296"/>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06" name="Google Shape;706;g383071ae8d3_0_296"/>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707" name="Google Shape;707;g383071ae8d3_0_296"/>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08" name="Google Shape;708;g383071ae8d3_0_296"/>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709" name="Google Shape;709;g383071ae8d3_0_296"/>
          <p:cNvSpPr txBox="1"/>
          <p:nvPr/>
        </p:nvSpPr>
        <p:spPr>
          <a:xfrm>
            <a:off x="1659775" y="0"/>
            <a:ext cx="10159200" cy="2451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2200"/>
              <a:buFont typeface="Arial"/>
              <a:buNone/>
            </a:pPr>
            <a:r>
              <a:rPr b="1" lang="en-US" sz="2200">
                <a:solidFill>
                  <a:schemeClr val="dk1"/>
                </a:solidFill>
              </a:rPr>
              <a:t>Recursion </a:t>
            </a:r>
            <a:r>
              <a:rPr b="1" i="0" lang="en-US" sz="2200" u="none" cap="none" strike="noStrike">
                <a:solidFill>
                  <a:schemeClr val="dk1"/>
                </a:solidFill>
                <a:latin typeface="Arial"/>
                <a:ea typeface="Arial"/>
                <a:cs typeface="Arial"/>
                <a:sym typeface="Arial"/>
              </a:rPr>
              <a:t>Definition</a:t>
            </a:r>
            <a:endParaRPr b="1" i="0" sz="2200" u="none" cap="none" strike="noStrike">
              <a:solidFill>
                <a:schemeClr val="dk1"/>
              </a:solidFill>
              <a:latin typeface="Arial"/>
              <a:ea typeface="Arial"/>
              <a:cs typeface="Arial"/>
              <a:sym typeface="Arial"/>
            </a:endParaRPr>
          </a:p>
          <a:p>
            <a:pPr indent="-355600" lvl="0" marL="457200" marR="0" rtl="0" algn="l">
              <a:lnSpc>
                <a:spcPct val="115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Recursion: A function </a:t>
            </a:r>
            <a:r>
              <a:rPr b="1" i="0" lang="en-US" sz="2000" u="none" cap="none" strike="noStrike">
                <a:solidFill>
                  <a:schemeClr val="dk1"/>
                </a:solidFill>
                <a:latin typeface="Arial"/>
                <a:ea typeface="Arial"/>
                <a:cs typeface="Arial"/>
                <a:sym typeface="Arial"/>
              </a:rPr>
              <a:t>calls itself</a:t>
            </a:r>
            <a:r>
              <a:rPr b="0" i="0" lang="en-US" sz="2000" u="none" cap="none" strike="noStrike">
                <a:solidFill>
                  <a:schemeClr val="dk1"/>
                </a:solidFill>
                <a:latin typeface="Arial"/>
                <a:ea typeface="Arial"/>
                <a:cs typeface="Arial"/>
                <a:sym typeface="Arial"/>
              </a:rPr>
              <a:t> during execution.</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Process of defining something in terms of itself → </a:t>
            </a:r>
            <a:r>
              <a:rPr b="1" i="0" lang="en-US" sz="2000" u="none" cap="none" strike="noStrike">
                <a:solidFill>
                  <a:schemeClr val="dk1"/>
                </a:solidFill>
                <a:latin typeface="Arial"/>
                <a:ea typeface="Arial"/>
                <a:cs typeface="Arial"/>
                <a:sym typeface="Arial"/>
              </a:rPr>
              <a:t>circular definition</a:t>
            </a:r>
            <a:r>
              <a:rPr b="0" i="0" lang="en-US" sz="2000" u="none" cap="none" strike="noStrike">
                <a:solidFill>
                  <a:schemeClr val="dk1"/>
                </a:solidFill>
                <a:latin typeface="Arial"/>
                <a:ea typeface="Arial"/>
                <a:cs typeface="Arial"/>
                <a:sym typeface="Arial"/>
              </a:rPr>
              <a:t>.</a:t>
            </a:r>
            <a:br>
              <a:rPr b="0" i="0" lang="en-US" sz="2000" u="none" cap="none" strike="noStrike">
                <a:solidFill>
                  <a:schemeClr val="dk1"/>
                </a:solidFill>
                <a:latin typeface="Arial"/>
                <a:ea typeface="Arial"/>
                <a:cs typeface="Arial"/>
                <a:sym typeface="Arial"/>
              </a:rPr>
            </a:br>
            <a:endParaRPr b="0" i="0" sz="2000" u="none" cap="none" strike="noStrike">
              <a:solidFill>
                <a:schemeClr val="dk1"/>
              </a:solidFill>
              <a:latin typeface="Arial"/>
              <a:ea typeface="Arial"/>
              <a:cs typeface="Arial"/>
              <a:sym typeface="Arial"/>
            </a:endParaRPr>
          </a:p>
          <a:p>
            <a:pPr indent="-355600" lvl="0" marL="457200" marR="0" rtl="0" algn="l">
              <a:lnSpc>
                <a:spcPct val="11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Each recursive call works with a new set of local variables (stored on the stack).</a:t>
            </a:r>
            <a:endParaRPr b="0" i="0" sz="2000" u="none" cap="none" strike="noStrike">
              <a:solidFill>
                <a:schemeClr val="dk1"/>
              </a:solidFill>
              <a:latin typeface="Arial"/>
              <a:ea typeface="Arial"/>
              <a:cs typeface="Arial"/>
              <a:sym typeface="Arial"/>
            </a:endParaRPr>
          </a:p>
        </p:txBody>
      </p:sp>
      <p:sp>
        <p:nvSpPr>
          <p:cNvPr id="710" name="Google Shape;710;g383071ae8d3_0_296"/>
          <p:cNvSpPr txBox="1"/>
          <p:nvPr/>
        </p:nvSpPr>
        <p:spPr>
          <a:xfrm>
            <a:off x="1605075" y="2735900"/>
            <a:ext cx="9338700" cy="3666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US" sz="2400" u="none" cap="none" strike="noStrike">
                <a:solidFill>
                  <a:schemeClr val="dk1"/>
                </a:solidFill>
                <a:latin typeface="Arial"/>
                <a:ea typeface="Arial"/>
                <a:cs typeface="Arial"/>
                <a:sym typeface="Arial"/>
              </a:rPr>
              <a:t>Factorial Example</a:t>
            </a:r>
            <a:endParaRPr b="1" i="0" sz="2400" u="none" cap="none" strike="noStrike">
              <a:solidFill>
                <a:schemeClr val="dk1"/>
              </a:solidFill>
              <a:latin typeface="Arial"/>
              <a:ea typeface="Arial"/>
              <a:cs typeface="Arial"/>
              <a:sym typeface="Arial"/>
            </a:endParaRPr>
          </a:p>
          <a:p>
            <a:pPr indent="-368300" lvl="0" marL="457200" marR="0" rtl="0" algn="l">
              <a:lnSpc>
                <a:spcPct val="115000"/>
              </a:lnSpc>
              <a:spcBef>
                <a:spcPts val="120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Factorial of n</a:t>
            </a:r>
            <a:r>
              <a:rPr b="0" i="0" lang="en-US" sz="2200" u="none" cap="none" strike="noStrike">
                <a:solidFill>
                  <a:schemeClr val="dk1"/>
                </a:solidFill>
                <a:latin typeface="Arial"/>
                <a:ea typeface="Arial"/>
                <a:cs typeface="Arial"/>
                <a:sym typeface="Arial"/>
              </a:rPr>
              <a:t> = product of all numbers from 1 to n.</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368300" lvl="1" marL="914400" marR="0" rtl="0" algn="l">
              <a:lnSpc>
                <a:spcPct val="115000"/>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Example: </a:t>
            </a:r>
            <a:r>
              <a:rPr b="0" i="0" lang="en-US" sz="2200" u="none" cap="none" strike="noStrike">
                <a:solidFill>
                  <a:srgbClr val="188038"/>
                </a:solidFill>
                <a:latin typeface="Roboto Mono"/>
                <a:ea typeface="Roboto Mono"/>
                <a:cs typeface="Roboto Mono"/>
                <a:sym typeface="Roboto Mono"/>
              </a:rPr>
              <a:t>3! = 1 × 2 × 3 = 6</a:t>
            </a:r>
            <a:endParaRPr b="0" i="0" sz="2200" u="none" cap="none" strike="noStrike">
              <a:solidFill>
                <a:srgbClr val="188038"/>
              </a:solidFill>
              <a:latin typeface="Roboto Mono"/>
              <a:ea typeface="Roboto Mono"/>
              <a:cs typeface="Roboto Mono"/>
              <a:sym typeface="Roboto Mono"/>
            </a:endParaRPr>
          </a:p>
          <a:p>
            <a:pPr indent="0" lvl="0" marL="0" marR="0" rtl="0" algn="l">
              <a:lnSpc>
                <a:spcPct val="100000"/>
              </a:lnSpc>
              <a:spcBef>
                <a:spcPts val="120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g383071ae8d3_0_314"/>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716" name="Google Shape;716;g383071ae8d3_0_314"/>
          <p:cNvGrpSpPr/>
          <p:nvPr/>
        </p:nvGrpSpPr>
        <p:grpSpPr>
          <a:xfrm>
            <a:off x="-528950" y="-91196"/>
            <a:ext cx="12192000" cy="6858000"/>
            <a:chOff x="0" y="0"/>
            <a:chExt cx="12192000" cy="6858000"/>
          </a:xfrm>
        </p:grpSpPr>
        <p:pic>
          <p:nvPicPr>
            <p:cNvPr id="717" name="Google Shape;717;g383071ae8d3_0_314"/>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718" name="Google Shape;718;g383071ae8d3_0_314"/>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9" name="Google Shape;719;g383071ae8d3_0_314"/>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20" name="Google Shape;720;g383071ae8d3_0_314"/>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721" name="Google Shape;721;g383071ae8d3_0_314"/>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22" name="Google Shape;722;g383071ae8d3_0_314"/>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723" name="Google Shape;723;g383071ae8d3_0_314"/>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724" name="Google Shape;724;g383071ae8d3_0_314"/>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5" name="Google Shape;725;g383071ae8d3_0_314"/>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6" name="Google Shape;726;g383071ae8d3_0_314"/>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27" name="Google Shape;727;g383071ae8d3_0_314"/>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728" name="Google Shape;728;g383071ae8d3_0_314"/>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29" name="Google Shape;729;g383071ae8d3_0_314"/>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pic>
        <p:nvPicPr>
          <p:cNvPr id="730" name="Google Shape;730;g383071ae8d3_0_314"/>
          <p:cNvPicPr preferRelativeResize="0"/>
          <p:nvPr/>
        </p:nvPicPr>
        <p:blipFill rotWithShape="1">
          <a:blip r:embed="rId9">
            <a:alphaModFix/>
          </a:blip>
          <a:srcRect b="0" l="0" r="0" t="0"/>
          <a:stretch/>
        </p:blipFill>
        <p:spPr>
          <a:xfrm>
            <a:off x="1149075" y="419525"/>
            <a:ext cx="4687525" cy="5398825"/>
          </a:xfrm>
          <a:prstGeom prst="rect">
            <a:avLst/>
          </a:prstGeom>
          <a:noFill/>
          <a:ln>
            <a:noFill/>
          </a:ln>
        </p:spPr>
      </p:pic>
      <p:sp>
        <p:nvSpPr>
          <p:cNvPr id="731" name="Google Shape;731;g383071ae8d3_0_314"/>
          <p:cNvSpPr txBox="1"/>
          <p:nvPr/>
        </p:nvSpPr>
        <p:spPr>
          <a:xfrm>
            <a:off x="7003925" y="674850"/>
            <a:ext cx="3957900" cy="485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pic>
        <p:nvPicPr>
          <p:cNvPr id="732" name="Google Shape;732;g383071ae8d3_0_314"/>
          <p:cNvPicPr preferRelativeResize="0"/>
          <p:nvPr/>
        </p:nvPicPr>
        <p:blipFill rotWithShape="1">
          <a:blip r:embed="rId10">
            <a:alphaModFix/>
          </a:blip>
          <a:srcRect b="0" l="0" r="0" t="0"/>
          <a:stretch/>
        </p:blipFill>
        <p:spPr>
          <a:xfrm>
            <a:off x="6219625" y="510700"/>
            <a:ext cx="4942875" cy="534177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g379c1af9f7a_0_252"/>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738" name="Google Shape;738;g379c1af9f7a_0_252"/>
          <p:cNvGrpSpPr/>
          <p:nvPr/>
        </p:nvGrpSpPr>
        <p:grpSpPr>
          <a:xfrm>
            <a:off x="0" y="14654"/>
            <a:ext cx="12192000" cy="6858000"/>
            <a:chOff x="0" y="0"/>
            <a:chExt cx="12192000" cy="6858000"/>
          </a:xfrm>
        </p:grpSpPr>
        <p:pic>
          <p:nvPicPr>
            <p:cNvPr id="739" name="Google Shape;739;g379c1af9f7a_0_252"/>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740" name="Google Shape;740;g379c1af9f7a_0_252"/>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1" name="Google Shape;741;g379c1af9f7a_0_252"/>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42" name="Google Shape;742;g379c1af9f7a_0_252"/>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743" name="Google Shape;743;g379c1af9f7a_0_252"/>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44" name="Google Shape;744;g379c1af9f7a_0_252"/>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745" name="Google Shape;745;g379c1af9f7a_0_252"/>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746" name="Google Shape;746;g379c1af9f7a_0_252"/>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7" name="Google Shape;747;g379c1af9f7a_0_252"/>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8" name="Google Shape;748;g379c1af9f7a_0_252"/>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49" name="Google Shape;749;g379c1af9f7a_0_252"/>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750" name="Google Shape;750;g379c1af9f7a_0_252"/>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51" name="Google Shape;751;g379c1af9f7a_0_252"/>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752" name="Google Shape;752;g379c1af9f7a_0_252"/>
          <p:cNvSpPr txBox="1"/>
          <p:nvPr/>
        </p:nvSpPr>
        <p:spPr>
          <a:xfrm>
            <a:off x="1659775" y="0"/>
            <a:ext cx="7970700" cy="5529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2300"/>
              <a:buFont typeface="Arial"/>
              <a:buNone/>
            </a:pPr>
            <a:r>
              <a:rPr b="1" i="0" lang="en-US" sz="2300" u="none" cap="none" strike="noStrike">
                <a:solidFill>
                  <a:schemeClr val="dk1"/>
                </a:solidFill>
                <a:latin typeface="Arial"/>
                <a:ea typeface="Arial"/>
                <a:cs typeface="Arial"/>
                <a:sym typeface="Arial"/>
              </a:rPr>
              <a:t>How Recursive factorial works</a:t>
            </a:r>
            <a:endParaRPr b="1" i="0" sz="2300" u="none" cap="none" strike="noStrike">
              <a:solidFill>
                <a:schemeClr val="dk1"/>
              </a:solidFill>
              <a:latin typeface="Arial"/>
              <a:ea typeface="Arial"/>
              <a:cs typeface="Arial"/>
              <a:sym typeface="Arial"/>
            </a:endParaRPr>
          </a:p>
          <a:p>
            <a:pPr indent="-361950" lvl="0" marL="457200" marR="0" rtl="0" algn="l">
              <a:lnSpc>
                <a:spcPct val="115000"/>
              </a:lnSpc>
              <a:spcBef>
                <a:spcPts val="1200"/>
              </a:spcBef>
              <a:spcAft>
                <a:spcPts val="0"/>
              </a:spcAft>
              <a:buClr>
                <a:schemeClr val="dk1"/>
              </a:buClr>
              <a:buSzPts val="2100"/>
              <a:buFont typeface="Arial"/>
              <a:buChar char="●"/>
            </a:pPr>
            <a:r>
              <a:rPr b="0" i="0" lang="en-US" sz="2100" u="none" cap="none" strike="noStrike">
                <a:solidFill>
                  <a:schemeClr val="dk1"/>
                </a:solidFill>
                <a:latin typeface="Arial"/>
                <a:ea typeface="Arial"/>
                <a:cs typeface="Arial"/>
                <a:sym typeface="Arial"/>
              </a:rPr>
              <a:t>If </a:t>
            </a:r>
            <a:r>
              <a:rPr b="0" i="0" lang="en-US" sz="2100" u="none" cap="none" strike="noStrike">
                <a:solidFill>
                  <a:srgbClr val="188038"/>
                </a:solidFill>
                <a:latin typeface="Roboto Mono"/>
                <a:ea typeface="Roboto Mono"/>
                <a:cs typeface="Roboto Mono"/>
                <a:sym typeface="Roboto Mono"/>
              </a:rPr>
              <a:t>n == 1</a:t>
            </a:r>
            <a:r>
              <a:rPr b="0" i="0" lang="en-US" sz="2100" u="none" cap="none" strike="noStrike">
                <a:solidFill>
                  <a:schemeClr val="dk1"/>
                </a:solidFill>
                <a:latin typeface="Arial"/>
                <a:ea typeface="Arial"/>
                <a:cs typeface="Arial"/>
                <a:sym typeface="Arial"/>
              </a:rPr>
              <a:t>, return 1 (</a:t>
            </a:r>
            <a:r>
              <a:rPr b="1" i="0" lang="en-US" sz="2100" u="none" cap="none" strike="noStrike">
                <a:solidFill>
                  <a:schemeClr val="dk1"/>
                </a:solidFill>
                <a:latin typeface="Arial"/>
                <a:ea typeface="Arial"/>
                <a:cs typeface="Arial"/>
                <a:sym typeface="Arial"/>
              </a:rPr>
              <a:t>base case</a:t>
            </a:r>
            <a:r>
              <a:rPr b="0" i="0" lang="en-US" sz="2100" u="none" cap="none" strike="noStrike">
                <a:solidFill>
                  <a:schemeClr val="dk1"/>
                </a:solidFill>
                <a:latin typeface="Arial"/>
                <a:ea typeface="Arial"/>
                <a:cs typeface="Arial"/>
                <a:sym typeface="Arial"/>
              </a:rPr>
              <a:t>).</a:t>
            </a:r>
            <a:br>
              <a:rPr b="0" i="0" lang="en-US" sz="2100" u="none" cap="none" strike="noStrike">
                <a:solidFill>
                  <a:schemeClr val="dk1"/>
                </a:solidFill>
                <a:latin typeface="Arial"/>
                <a:ea typeface="Arial"/>
                <a:cs typeface="Arial"/>
                <a:sym typeface="Arial"/>
              </a:rPr>
            </a:br>
            <a:endParaRPr b="0" i="0" sz="2100" u="none" cap="none" strike="noStrike">
              <a:solidFill>
                <a:schemeClr val="dk1"/>
              </a:solidFill>
              <a:latin typeface="Arial"/>
              <a:ea typeface="Arial"/>
              <a:cs typeface="Arial"/>
              <a:sym typeface="Arial"/>
            </a:endParaRPr>
          </a:p>
          <a:p>
            <a:pPr indent="-361950" lvl="0" marL="457200" marR="0" rtl="0" algn="l">
              <a:lnSpc>
                <a:spcPct val="115000"/>
              </a:lnSpc>
              <a:spcBef>
                <a:spcPts val="0"/>
              </a:spcBef>
              <a:spcAft>
                <a:spcPts val="0"/>
              </a:spcAft>
              <a:buClr>
                <a:schemeClr val="dk1"/>
              </a:buClr>
              <a:buSzPts val="2100"/>
              <a:buFont typeface="Arial"/>
              <a:buChar char="●"/>
            </a:pPr>
            <a:r>
              <a:rPr b="0" i="0" lang="en-US" sz="2100" u="none" cap="none" strike="noStrike">
                <a:solidFill>
                  <a:schemeClr val="dk1"/>
                </a:solidFill>
                <a:latin typeface="Arial"/>
                <a:ea typeface="Arial"/>
                <a:cs typeface="Arial"/>
                <a:sym typeface="Arial"/>
              </a:rPr>
              <a:t>Otherwise, return </a:t>
            </a:r>
            <a:r>
              <a:rPr b="0" i="0" lang="en-US" sz="2100" u="none" cap="none" strike="noStrike">
                <a:solidFill>
                  <a:srgbClr val="188038"/>
                </a:solidFill>
                <a:latin typeface="Roboto Mono"/>
                <a:ea typeface="Roboto Mono"/>
                <a:cs typeface="Roboto Mono"/>
                <a:sym typeface="Roboto Mono"/>
              </a:rPr>
              <a:t>factr(n-1) * n</a:t>
            </a:r>
            <a:r>
              <a:rPr b="0" i="0" lang="en-US" sz="2100" u="none" cap="none" strike="noStrike">
                <a:solidFill>
                  <a:schemeClr val="dk1"/>
                </a:solidFill>
                <a:latin typeface="Arial"/>
                <a:ea typeface="Arial"/>
                <a:cs typeface="Arial"/>
                <a:sym typeface="Arial"/>
              </a:rPr>
              <a:t>.</a:t>
            </a:r>
            <a:br>
              <a:rPr b="0" i="0" lang="en-US" sz="2100" u="none" cap="none" strike="noStrike">
                <a:solidFill>
                  <a:schemeClr val="dk1"/>
                </a:solidFill>
                <a:latin typeface="Arial"/>
                <a:ea typeface="Arial"/>
                <a:cs typeface="Arial"/>
                <a:sym typeface="Arial"/>
              </a:rPr>
            </a:br>
            <a:endParaRPr b="0" i="0" sz="2100" u="none" cap="none" strike="noStrike">
              <a:solidFill>
                <a:schemeClr val="dk1"/>
              </a:solidFill>
              <a:latin typeface="Arial"/>
              <a:ea typeface="Arial"/>
              <a:cs typeface="Arial"/>
              <a:sym typeface="Arial"/>
            </a:endParaRPr>
          </a:p>
          <a:p>
            <a:pPr indent="-361950" lvl="0" marL="457200" marR="0" rtl="0" algn="l">
              <a:lnSpc>
                <a:spcPct val="115000"/>
              </a:lnSpc>
              <a:spcBef>
                <a:spcPts val="0"/>
              </a:spcBef>
              <a:spcAft>
                <a:spcPts val="0"/>
              </a:spcAft>
              <a:buClr>
                <a:schemeClr val="dk1"/>
              </a:buClr>
              <a:buSzPts val="2100"/>
              <a:buFont typeface="Arial"/>
              <a:buChar char="●"/>
            </a:pPr>
            <a:r>
              <a:rPr b="0" i="0" lang="en-US" sz="2100" u="none" cap="none" strike="noStrike">
                <a:solidFill>
                  <a:schemeClr val="dk1"/>
                </a:solidFill>
                <a:latin typeface="Arial"/>
                <a:ea typeface="Arial"/>
                <a:cs typeface="Arial"/>
                <a:sym typeface="Arial"/>
              </a:rPr>
              <a:t>Example:</a:t>
            </a:r>
            <a:br>
              <a:rPr b="0" i="0" lang="en-US" sz="2100" u="none" cap="none" strike="noStrike">
                <a:solidFill>
                  <a:schemeClr val="dk1"/>
                </a:solidFill>
                <a:latin typeface="Arial"/>
                <a:ea typeface="Arial"/>
                <a:cs typeface="Arial"/>
                <a:sym typeface="Arial"/>
              </a:rPr>
            </a:br>
            <a:endParaRPr b="0" i="0" sz="2100" u="none" cap="none" strike="noStrike">
              <a:solidFill>
                <a:schemeClr val="dk1"/>
              </a:solidFill>
              <a:latin typeface="Arial"/>
              <a:ea typeface="Arial"/>
              <a:cs typeface="Arial"/>
              <a:sym typeface="Arial"/>
            </a:endParaRPr>
          </a:p>
          <a:p>
            <a:pPr indent="-361950" lvl="1" marL="914400" marR="0" rtl="0" algn="l">
              <a:lnSpc>
                <a:spcPct val="115000"/>
              </a:lnSpc>
              <a:spcBef>
                <a:spcPts val="0"/>
              </a:spcBef>
              <a:spcAft>
                <a:spcPts val="0"/>
              </a:spcAft>
              <a:buClr>
                <a:schemeClr val="dk1"/>
              </a:buClr>
              <a:buSzPts val="2100"/>
              <a:buFont typeface="Arial"/>
              <a:buChar char="○"/>
            </a:pPr>
            <a:r>
              <a:rPr b="0" i="0" lang="en-US" sz="2100" u="none" cap="none" strike="noStrike">
                <a:solidFill>
                  <a:srgbClr val="188038"/>
                </a:solidFill>
                <a:latin typeface="Roboto Mono"/>
                <a:ea typeface="Roboto Mono"/>
                <a:cs typeface="Roboto Mono"/>
                <a:sym typeface="Roboto Mono"/>
              </a:rPr>
              <a:t>factr(3)</a:t>
            </a:r>
            <a:r>
              <a:rPr b="0" i="0" lang="en-US" sz="2100" u="none" cap="none" strike="noStrike">
                <a:solidFill>
                  <a:schemeClr val="dk1"/>
                </a:solidFill>
                <a:latin typeface="Arial"/>
                <a:ea typeface="Arial"/>
                <a:cs typeface="Arial"/>
                <a:sym typeface="Arial"/>
              </a:rPr>
              <a:t> → </a:t>
            </a:r>
            <a:r>
              <a:rPr b="0" i="0" lang="en-US" sz="2100" u="none" cap="none" strike="noStrike">
                <a:solidFill>
                  <a:srgbClr val="188038"/>
                </a:solidFill>
                <a:latin typeface="Roboto Mono"/>
                <a:ea typeface="Roboto Mono"/>
                <a:cs typeface="Roboto Mono"/>
                <a:sym typeface="Roboto Mono"/>
              </a:rPr>
              <a:t>factr(2) * 3</a:t>
            </a:r>
            <a:br>
              <a:rPr b="0" i="0" lang="en-US" sz="2100" u="none" cap="none" strike="noStrike">
                <a:solidFill>
                  <a:srgbClr val="188038"/>
                </a:solidFill>
                <a:latin typeface="Roboto Mono"/>
                <a:ea typeface="Roboto Mono"/>
                <a:cs typeface="Roboto Mono"/>
                <a:sym typeface="Roboto Mono"/>
              </a:rPr>
            </a:br>
            <a:endParaRPr b="0" i="0" sz="2100" u="none" cap="none" strike="noStrike">
              <a:solidFill>
                <a:srgbClr val="188038"/>
              </a:solidFill>
              <a:latin typeface="Roboto Mono"/>
              <a:ea typeface="Roboto Mono"/>
              <a:cs typeface="Roboto Mono"/>
              <a:sym typeface="Roboto Mono"/>
            </a:endParaRPr>
          </a:p>
          <a:p>
            <a:pPr indent="-361950" lvl="1" marL="914400" marR="0" rtl="0" algn="l">
              <a:lnSpc>
                <a:spcPct val="115000"/>
              </a:lnSpc>
              <a:spcBef>
                <a:spcPts val="0"/>
              </a:spcBef>
              <a:spcAft>
                <a:spcPts val="0"/>
              </a:spcAft>
              <a:buClr>
                <a:schemeClr val="dk1"/>
              </a:buClr>
              <a:buSzPts val="2100"/>
              <a:buFont typeface="Arial"/>
              <a:buChar char="○"/>
            </a:pPr>
            <a:r>
              <a:rPr b="0" i="0" lang="en-US" sz="2100" u="none" cap="none" strike="noStrike">
                <a:solidFill>
                  <a:srgbClr val="188038"/>
                </a:solidFill>
                <a:latin typeface="Roboto Mono"/>
                <a:ea typeface="Roboto Mono"/>
                <a:cs typeface="Roboto Mono"/>
                <a:sym typeface="Roboto Mono"/>
              </a:rPr>
              <a:t>factr(2)</a:t>
            </a:r>
            <a:r>
              <a:rPr b="0" i="0" lang="en-US" sz="2100" u="none" cap="none" strike="noStrike">
                <a:solidFill>
                  <a:schemeClr val="dk1"/>
                </a:solidFill>
                <a:latin typeface="Arial"/>
                <a:ea typeface="Arial"/>
                <a:cs typeface="Arial"/>
                <a:sym typeface="Arial"/>
              </a:rPr>
              <a:t> → </a:t>
            </a:r>
            <a:r>
              <a:rPr b="0" i="0" lang="en-US" sz="2100" u="none" cap="none" strike="noStrike">
                <a:solidFill>
                  <a:srgbClr val="188038"/>
                </a:solidFill>
                <a:latin typeface="Roboto Mono"/>
                <a:ea typeface="Roboto Mono"/>
                <a:cs typeface="Roboto Mono"/>
                <a:sym typeface="Roboto Mono"/>
              </a:rPr>
              <a:t>factr(1) * 2</a:t>
            </a:r>
            <a:br>
              <a:rPr b="0" i="0" lang="en-US" sz="2100" u="none" cap="none" strike="noStrike">
                <a:solidFill>
                  <a:srgbClr val="188038"/>
                </a:solidFill>
                <a:latin typeface="Roboto Mono"/>
                <a:ea typeface="Roboto Mono"/>
                <a:cs typeface="Roboto Mono"/>
                <a:sym typeface="Roboto Mono"/>
              </a:rPr>
            </a:br>
            <a:endParaRPr b="0" i="0" sz="2100" u="none" cap="none" strike="noStrike">
              <a:solidFill>
                <a:srgbClr val="188038"/>
              </a:solidFill>
              <a:latin typeface="Roboto Mono"/>
              <a:ea typeface="Roboto Mono"/>
              <a:cs typeface="Roboto Mono"/>
              <a:sym typeface="Roboto Mono"/>
            </a:endParaRPr>
          </a:p>
          <a:p>
            <a:pPr indent="-361950" lvl="1" marL="914400" marR="0" rtl="0" algn="l">
              <a:lnSpc>
                <a:spcPct val="115000"/>
              </a:lnSpc>
              <a:spcBef>
                <a:spcPts val="0"/>
              </a:spcBef>
              <a:spcAft>
                <a:spcPts val="0"/>
              </a:spcAft>
              <a:buClr>
                <a:schemeClr val="dk1"/>
              </a:buClr>
              <a:buSzPts val="2100"/>
              <a:buFont typeface="Arial"/>
              <a:buChar char="○"/>
            </a:pPr>
            <a:r>
              <a:rPr b="0" i="0" lang="en-US" sz="2100" u="none" cap="none" strike="noStrike">
                <a:solidFill>
                  <a:srgbClr val="188038"/>
                </a:solidFill>
                <a:latin typeface="Roboto Mono"/>
                <a:ea typeface="Roboto Mono"/>
                <a:cs typeface="Roboto Mono"/>
                <a:sym typeface="Roboto Mono"/>
              </a:rPr>
              <a:t>factr(1)</a:t>
            </a:r>
            <a:r>
              <a:rPr b="0" i="0" lang="en-US" sz="2100" u="none" cap="none" strike="noStrike">
                <a:solidFill>
                  <a:schemeClr val="dk1"/>
                </a:solidFill>
                <a:latin typeface="Arial"/>
                <a:ea typeface="Arial"/>
                <a:cs typeface="Arial"/>
                <a:sym typeface="Arial"/>
              </a:rPr>
              <a:t> → </a:t>
            </a:r>
            <a:r>
              <a:rPr b="0" i="0" lang="en-US" sz="2100" u="none" cap="none" strike="noStrike">
                <a:solidFill>
                  <a:srgbClr val="188038"/>
                </a:solidFill>
                <a:latin typeface="Roboto Mono"/>
                <a:ea typeface="Roboto Mono"/>
                <a:cs typeface="Roboto Mono"/>
                <a:sym typeface="Roboto Mono"/>
              </a:rPr>
              <a:t>1</a:t>
            </a:r>
            <a:br>
              <a:rPr b="0" i="0" lang="en-US" sz="2100" u="none" cap="none" strike="noStrike">
                <a:solidFill>
                  <a:srgbClr val="188038"/>
                </a:solidFill>
                <a:latin typeface="Roboto Mono"/>
                <a:ea typeface="Roboto Mono"/>
                <a:cs typeface="Roboto Mono"/>
                <a:sym typeface="Roboto Mono"/>
              </a:rPr>
            </a:br>
            <a:endParaRPr b="0" i="0" sz="2100" u="none" cap="none" strike="noStrike">
              <a:solidFill>
                <a:srgbClr val="188038"/>
              </a:solidFill>
              <a:latin typeface="Roboto Mono"/>
              <a:ea typeface="Roboto Mono"/>
              <a:cs typeface="Roboto Mono"/>
              <a:sym typeface="Roboto Mono"/>
            </a:endParaRPr>
          </a:p>
          <a:p>
            <a:pPr indent="-361950" lvl="1" marL="914400" marR="0" rtl="0" algn="l">
              <a:lnSpc>
                <a:spcPct val="115000"/>
              </a:lnSpc>
              <a:spcBef>
                <a:spcPts val="0"/>
              </a:spcBef>
              <a:spcAft>
                <a:spcPts val="0"/>
              </a:spcAft>
              <a:buClr>
                <a:schemeClr val="dk1"/>
              </a:buClr>
              <a:buSzPts val="2100"/>
              <a:buFont typeface="Arial"/>
              <a:buChar char="○"/>
            </a:pPr>
            <a:r>
              <a:rPr b="0" i="0" lang="en-US" sz="2100" u="none" cap="none" strike="noStrike">
                <a:solidFill>
                  <a:schemeClr val="dk1"/>
                </a:solidFill>
                <a:latin typeface="Arial"/>
                <a:ea typeface="Arial"/>
                <a:cs typeface="Arial"/>
                <a:sym typeface="Arial"/>
              </a:rPr>
              <a:t>Answer = </a:t>
            </a:r>
            <a:r>
              <a:rPr b="0" i="0" lang="en-US" sz="2100" u="none" cap="none" strike="noStrike">
                <a:solidFill>
                  <a:srgbClr val="188038"/>
                </a:solidFill>
                <a:latin typeface="Roboto Mono"/>
                <a:ea typeface="Roboto Mono"/>
                <a:cs typeface="Roboto Mono"/>
                <a:sym typeface="Roboto Mono"/>
              </a:rPr>
              <a:t>1 × 2 × 3 = 6</a:t>
            </a:r>
            <a:endParaRPr b="0" i="0" sz="2100" u="none" cap="none" strike="noStrike">
              <a:solidFill>
                <a:srgbClr val="188038"/>
              </a:solidFill>
              <a:latin typeface="Roboto Mono"/>
              <a:ea typeface="Roboto Mono"/>
              <a:cs typeface="Roboto Mono"/>
              <a:sym typeface="Roboto Mon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g383071ae8d3_0_332"/>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758" name="Google Shape;758;g383071ae8d3_0_332"/>
          <p:cNvGrpSpPr/>
          <p:nvPr/>
        </p:nvGrpSpPr>
        <p:grpSpPr>
          <a:xfrm>
            <a:off x="0" y="14654"/>
            <a:ext cx="12192000" cy="6858000"/>
            <a:chOff x="0" y="0"/>
            <a:chExt cx="12192000" cy="6858000"/>
          </a:xfrm>
        </p:grpSpPr>
        <p:pic>
          <p:nvPicPr>
            <p:cNvPr id="759" name="Google Shape;759;g383071ae8d3_0_332"/>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760" name="Google Shape;760;g383071ae8d3_0_332"/>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1" name="Google Shape;761;g383071ae8d3_0_332"/>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62" name="Google Shape;762;g383071ae8d3_0_332"/>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763" name="Google Shape;763;g383071ae8d3_0_332"/>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64" name="Google Shape;764;g383071ae8d3_0_332"/>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765" name="Google Shape;765;g383071ae8d3_0_332"/>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766" name="Google Shape;766;g383071ae8d3_0_332"/>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7" name="Google Shape;767;g383071ae8d3_0_332"/>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8" name="Google Shape;768;g383071ae8d3_0_332"/>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69" name="Google Shape;769;g383071ae8d3_0_332"/>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770" name="Google Shape;770;g383071ae8d3_0_332"/>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71" name="Google Shape;771;g383071ae8d3_0_332"/>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772" name="Google Shape;772;g383071ae8d3_0_332"/>
          <p:cNvSpPr txBox="1"/>
          <p:nvPr/>
        </p:nvSpPr>
        <p:spPr>
          <a:xfrm>
            <a:off x="1404425" y="0"/>
            <a:ext cx="104511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 </a:t>
            </a:r>
            <a:r>
              <a:rPr lang="en-US" sz="1800">
                <a:solidFill>
                  <a:srgbClr val="FF0000"/>
                </a:solidFill>
                <a:latin typeface="Times New Roman"/>
                <a:ea typeface="Times New Roman"/>
                <a:cs typeface="Times New Roman"/>
                <a:sym typeface="Times New Roman"/>
              </a:rPr>
              <a:t>In C, a function can call itself. In this case, the function is said to be recursive. Recursion is the process of defining something in terms of itself, and is sometimes called circular definition. A simple example of a recursive function is factr( ), which computes the factorial of an integer. The factorial of a number n is the product of all the whole numbers between 1 and n. For example, 3 factorial is 1 × 2 × 3, or 6. Both factr( ) and its iterative equivalent are shown here</a:t>
            </a:r>
            <a:endParaRPr sz="1800">
              <a:solidFill>
                <a:srgbClr val="FF0000"/>
              </a:solidFill>
              <a:latin typeface="Times New Roman"/>
              <a:ea typeface="Times New Roman"/>
              <a:cs typeface="Times New Roman"/>
              <a:sym typeface="Times New Roman"/>
            </a:endParaRPr>
          </a:p>
        </p:txBody>
      </p:sp>
      <p:sp>
        <p:nvSpPr>
          <p:cNvPr id="773" name="Google Shape;773;g383071ae8d3_0_332"/>
          <p:cNvSpPr txBox="1"/>
          <p:nvPr/>
        </p:nvSpPr>
        <p:spPr>
          <a:xfrm>
            <a:off x="1568575" y="1477400"/>
            <a:ext cx="10250400" cy="519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2050">
                <a:solidFill>
                  <a:srgbClr val="FF0000"/>
                </a:solidFill>
                <a:latin typeface="Times New Roman"/>
                <a:ea typeface="Times New Roman"/>
                <a:cs typeface="Times New Roman"/>
                <a:sym typeface="Times New Roman"/>
              </a:rPr>
              <a:t>/* recursive */ </a:t>
            </a:r>
            <a:endParaRPr sz="2050">
              <a:solidFill>
                <a:srgbClr val="FF0000"/>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int factr(int n) {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int answer;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if(n==l) return(1);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answer = factr(n-l)*n; /* recursive call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return(answer);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 non-recursive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int fact(int n) {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int t, answer;</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answer = 1;</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for(t=1; t&lt;=n; t++)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answer=answer*(t);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return(answer);</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2050">
                <a:solidFill>
                  <a:schemeClr val="dk1"/>
                </a:solidFill>
                <a:latin typeface="Times New Roman"/>
                <a:ea typeface="Times New Roman"/>
                <a:cs typeface="Times New Roman"/>
                <a:sym typeface="Times New Roman"/>
              </a:rPr>
              <a:t> }</a:t>
            </a:r>
            <a:endParaRPr sz="205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5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g37a158a6f9e_0_108"/>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779" name="Google Shape;779;g37a158a6f9e_0_108"/>
          <p:cNvGrpSpPr/>
          <p:nvPr/>
        </p:nvGrpSpPr>
        <p:grpSpPr>
          <a:xfrm>
            <a:off x="0" y="14654"/>
            <a:ext cx="12192000" cy="6858000"/>
            <a:chOff x="0" y="0"/>
            <a:chExt cx="12192000" cy="6858000"/>
          </a:xfrm>
        </p:grpSpPr>
        <p:pic>
          <p:nvPicPr>
            <p:cNvPr id="780" name="Google Shape;780;g37a158a6f9e_0_108"/>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781" name="Google Shape;781;g37a158a6f9e_0_108"/>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2" name="Google Shape;782;g37a158a6f9e_0_108"/>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83" name="Google Shape;783;g37a158a6f9e_0_108"/>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784" name="Google Shape;784;g37a158a6f9e_0_108"/>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85" name="Google Shape;785;g37a158a6f9e_0_108"/>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786" name="Google Shape;786;g37a158a6f9e_0_108"/>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787" name="Google Shape;787;g37a158a6f9e_0_108"/>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8" name="Google Shape;788;g37a158a6f9e_0_108"/>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9" name="Google Shape;789;g37a158a6f9e_0_108"/>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90" name="Google Shape;790;g37a158a6f9e_0_108"/>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791" name="Google Shape;791;g37a158a6f9e_0_108"/>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92" name="Google Shape;792;g37a158a6f9e_0_108"/>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793" name="Google Shape;793;g37a158a6f9e_0_108"/>
          <p:cNvSpPr txBox="1"/>
          <p:nvPr/>
        </p:nvSpPr>
        <p:spPr>
          <a:xfrm>
            <a:off x="1459150" y="145925"/>
            <a:ext cx="10451100" cy="69111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The nonrecursive version of fact( ) should be clear. </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It uses a loop that runs from 1 to n and progressively multiplies each number by the moving product. </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The operation of the recursive factr( ) is a little more complex. </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When factr( ) is called with an argument of 1, the function returns 1. </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Otherwise, it returns the product of factr(n-1)*n. To evaluate this expression, factr( ) is called with n-1. </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This happens until n equals 1 and the calls to the function begin returning. </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Computing the factorial of 2, the first call to factr( ) causes a second, recursive call with the argument of 1. </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This call returns 1, which is then multiplied by 2 (the original n value).</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The answer is then 2. Try working through the computation of 3 factorial on your own.</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 (You might want to insert printf( ) statements into factr( ) to see the level of each call and what the intermediate answers are.)</a:t>
            </a:r>
            <a:endParaRPr sz="1900">
              <a:latin typeface="Times New Roman"/>
              <a:ea typeface="Times New Roman"/>
              <a:cs typeface="Times New Roman"/>
              <a:sym typeface="Times New Roman"/>
            </a:endParaRPr>
          </a:p>
          <a:p>
            <a:pPr indent="-349250" lvl="0" marL="457200" rtl="0" algn="l">
              <a:spcBef>
                <a:spcPts val="0"/>
              </a:spcBef>
              <a:spcAft>
                <a:spcPts val="0"/>
              </a:spcAft>
              <a:buClr>
                <a:schemeClr val="dk1"/>
              </a:buClr>
              <a:buSzPts val="1900"/>
              <a:buChar char="●"/>
            </a:pPr>
            <a:r>
              <a:rPr lang="en-US" sz="1900">
                <a:solidFill>
                  <a:schemeClr val="dk1"/>
                </a:solidFill>
                <a:latin typeface="Times New Roman"/>
                <a:ea typeface="Times New Roman"/>
                <a:cs typeface="Times New Roman"/>
                <a:sym typeface="Times New Roman"/>
              </a:rPr>
              <a:t> When a function calls itself, a new set of local variables and parameters are allocated storage on the stack, and the function code is executed from the top with these new variables.</a:t>
            </a:r>
            <a:endParaRPr sz="19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349250" lvl="0" marL="45720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 A recursive call does not make a new copy of the function. Only the values being operated upon are new. As each recursive call returns, the old local variables and parameters are removed from the stack, and execution resumes immediately after the recursive call inside the function. </a:t>
            </a:r>
            <a:endParaRPr sz="19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900">
              <a:solidFill>
                <a:schemeClr val="dk1"/>
              </a:solidFill>
              <a:latin typeface="Times New Roman"/>
              <a:ea typeface="Times New Roman"/>
              <a:cs typeface="Times New Roman"/>
              <a:sym typeface="Times New Roman"/>
            </a:endParaRPr>
          </a:p>
          <a:p>
            <a:pPr indent="-349250" lvl="0" marL="457200" rtl="0" algn="l">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Recursive functions could be said to ''telescope" out and back. Although recursion seems to offer the possibility of improved efficiency, such is seldom the case.</a:t>
            </a:r>
            <a:endParaRPr sz="19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9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7a158a6f9e_0_141"/>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799" name="Google Shape;799;g37a158a6f9e_0_141"/>
          <p:cNvGrpSpPr/>
          <p:nvPr/>
        </p:nvGrpSpPr>
        <p:grpSpPr>
          <a:xfrm>
            <a:off x="0" y="14654"/>
            <a:ext cx="12192000" cy="6858000"/>
            <a:chOff x="0" y="0"/>
            <a:chExt cx="12192000" cy="6858000"/>
          </a:xfrm>
        </p:grpSpPr>
        <p:pic>
          <p:nvPicPr>
            <p:cNvPr id="800" name="Google Shape;800;g37a158a6f9e_0_141"/>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801" name="Google Shape;801;g37a158a6f9e_0_141"/>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2" name="Google Shape;802;g37a158a6f9e_0_141"/>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03" name="Google Shape;803;g37a158a6f9e_0_141"/>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804" name="Google Shape;804;g37a158a6f9e_0_141"/>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05" name="Google Shape;805;g37a158a6f9e_0_141"/>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806" name="Google Shape;806;g37a158a6f9e_0_141"/>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807" name="Google Shape;807;g37a158a6f9e_0_141"/>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8" name="Google Shape;808;g37a158a6f9e_0_141"/>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9" name="Google Shape;809;g37a158a6f9e_0_141"/>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10" name="Google Shape;810;g37a158a6f9e_0_141"/>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811" name="Google Shape;811;g37a158a6f9e_0_141"/>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12" name="Google Shape;812;g37a158a6f9e_0_141"/>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813" name="Google Shape;813;g37a158a6f9e_0_141"/>
          <p:cNvSpPr txBox="1"/>
          <p:nvPr/>
        </p:nvSpPr>
        <p:spPr>
          <a:xfrm>
            <a:off x="1440900" y="0"/>
            <a:ext cx="9575700" cy="65880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6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 Often, recursive routines do not significantly reduce code size or improve memory utilization. Also, the recursive versions of most routines may execute a bit slower than their iterative equivalents because of the overhead of the repeated function calls. </a:t>
            </a:r>
            <a:endParaRPr sz="2000">
              <a:latin typeface="Times New Roman"/>
              <a:ea typeface="Times New Roman"/>
              <a:cs typeface="Times New Roman"/>
              <a:sym typeface="Times New Roman"/>
            </a:endParaRPr>
          </a:p>
          <a:p>
            <a:pPr indent="0" lvl="0" marL="457200" rtl="0" algn="l">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In fact, many recursive calls to a function could cause a stack overrun. Because storage for function parameters and local variables is on the stack and each new call creates a new copy of these variables, the stack could be exhausted. A stack overrun is what usually causes a program to crash when a recursive function runs wild.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The main advantage to recursive functions is that you can use them to create clearer and simpler versions of several algorithms.</a:t>
            </a:r>
            <a:endParaRPr sz="2000">
              <a:latin typeface="Times New Roman"/>
              <a:ea typeface="Times New Roman"/>
              <a:cs typeface="Times New Roman"/>
              <a:sym typeface="Times New Roman"/>
            </a:endParaRPr>
          </a:p>
          <a:p>
            <a:pPr indent="0" lvl="0" marL="457200" rtl="0" algn="l">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 Finally, some people seem to think recursively more easily than iteratively.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When writing recursive functions, you must have a conditional statement, such as an if, somewhere to force the function to return without the recursive call being executed. </a:t>
            </a:r>
            <a:endParaRPr sz="2000">
              <a:latin typeface="Times New Roman"/>
              <a:ea typeface="Times New Roman"/>
              <a:cs typeface="Times New Roman"/>
              <a:sym typeface="Times New Roman"/>
            </a:endParaRPr>
          </a:p>
          <a:p>
            <a:pPr indent="0" lvl="0" marL="457200" rtl="0" algn="l">
              <a:spcBef>
                <a:spcPts val="0"/>
              </a:spcBef>
              <a:spcAft>
                <a:spcPts val="0"/>
              </a:spcAft>
              <a:buNone/>
            </a:pPr>
            <a:r>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If you don't, the function will never return once you call it. Omitting the conditional statement is a common error when writing recursive functions</a:t>
            </a:r>
            <a:endParaRPr sz="2000">
              <a:latin typeface="Times New Roman"/>
              <a:ea typeface="Times New Roman"/>
              <a:cs typeface="Times New Roman"/>
              <a:sym typeface="Times New Roman"/>
            </a:endParaRPr>
          </a:p>
          <a:p>
            <a:pPr indent="0" lvl="0" marL="457200" rtl="0" algn="l">
              <a:spcBef>
                <a:spcPts val="0"/>
              </a:spcBef>
              <a:spcAft>
                <a:spcPts val="0"/>
              </a:spcAft>
              <a:buNone/>
            </a:pP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US" sz="2000">
                <a:latin typeface="Times New Roman"/>
                <a:ea typeface="Times New Roman"/>
                <a:cs typeface="Times New Roman"/>
                <a:sym typeface="Times New Roman"/>
              </a:rPr>
              <a:t>Use  printf( ) liberally during program development so that you can watch what is going on and abort execution if you see a mistake</a:t>
            </a:r>
            <a:endParaRPr sz="2000">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83071ae8d3_0_350"/>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819" name="Google Shape;819;g383071ae8d3_0_350"/>
          <p:cNvGrpSpPr/>
          <p:nvPr/>
        </p:nvGrpSpPr>
        <p:grpSpPr>
          <a:xfrm>
            <a:off x="0" y="14654"/>
            <a:ext cx="12192000" cy="6858000"/>
            <a:chOff x="0" y="0"/>
            <a:chExt cx="12192000" cy="6858000"/>
          </a:xfrm>
        </p:grpSpPr>
        <p:pic>
          <p:nvPicPr>
            <p:cNvPr id="820" name="Google Shape;820;g383071ae8d3_0_350"/>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821" name="Google Shape;821;g383071ae8d3_0_350"/>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2" name="Google Shape;822;g383071ae8d3_0_350"/>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23" name="Google Shape;823;g383071ae8d3_0_350"/>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824" name="Google Shape;824;g383071ae8d3_0_350"/>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25" name="Google Shape;825;g383071ae8d3_0_350"/>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826" name="Google Shape;826;g383071ae8d3_0_350"/>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827" name="Google Shape;827;g383071ae8d3_0_350"/>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8" name="Google Shape;828;g383071ae8d3_0_350"/>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9" name="Google Shape;829;g383071ae8d3_0_350"/>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30" name="Google Shape;830;g383071ae8d3_0_350"/>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831" name="Google Shape;831;g383071ae8d3_0_350"/>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32" name="Google Shape;832;g383071ae8d3_0_350"/>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833" name="Google Shape;833;g383071ae8d3_0_350"/>
          <p:cNvSpPr txBox="1"/>
          <p:nvPr/>
        </p:nvSpPr>
        <p:spPr>
          <a:xfrm>
            <a:off x="1605075" y="419500"/>
            <a:ext cx="7642200" cy="729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2400"/>
              </a:spcBef>
              <a:spcAft>
                <a:spcPts val="0"/>
              </a:spcAft>
              <a:buClr>
                <a:schemeClr val="dk1"/>
              </a:buClr>
              <a:buSzPts val="1100"/>
              <a:buFont typeface="Arial"/>
              <a:buNone/>
            </a:pPr>
            <a:r>
              <a:rPr b="1" i="0" lang="en-US" sz="2300" u="none" cap="none" strike="noStrike">
                <a:solidFill>
                  <a:schemeClr val="dk1"/>
                </a:solidFill>
                <a:latin typeface="Arial"/>
                <a:ea typeface="Arial"/>
                <a:cs typeface="Arial"/>
                <a:sym typeface="Arial"/>
              </a:rPr>
              <a:t>Function Prototypes in C</a:t>
            </a:r>
            <a:endParaRPr b="1" i="0" sz="23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
        <p:nvSpPr>
          <p:cNvPr id="834" name="Google Shape;834;g383071ae8d3_0_350"/>
          <p:cNvSpPr txBox="1"/>
          <p:nvPr/>
        </p:nvSpPr>
        <p:spPr>
          <a:xfrm>
            <a:off x="1422675" y="1076125"/>
            <a:ext cx="10141200" cy="559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US" sz="2100" u="none" cap="none" strike="noStrike">
                <a:solidFill>
                  <a:schemeClr val="dk1"/>
                </a:solidFill>
                <a:latin typeface="Times New Roman"/>
                <a:ea typeface="Times New Roman"/>
                <a:cs typeface="Times New Roman"/>
                <a:sym typeface="Times New Roman"/>
              </a:rPr>
              <a:t>What is a Function Prototype?</a:t>
            </a:r>
            <a:endParaRPr b="1" i="0" sz="2100" u="none" cap="none" strike="noStrike">
              <a:solidFill>
                <a:schemeClr val="dk1"/>
              </a:solidFill>
              <a:latin typeface="Times New Roman"/>
              <a:ea typeface="Times New Roman"/>
              <a:cs typeface="Times New Roman"/>
              <a:sym typeface="Times New Roman"/>
            </a:endParaRPr>
          </a:p>
          <a:p>
            <a:pPr indent="-349250" lvl="0" marL="457200" marR="0" rtl="0" algn="l">
              <a:lnSpc>
                <a:spcPct val="115000"/>
              </a:lnSpc>
              <a:spcBef>
                <a:spcPts val="1200"/>
              </a:spcBef>
              <a:spcAft>
                <a:spcPts val="0"/>
              </a:spcAft>
              <a:buClr>
                <a:schemeClr val="dk1"/>
              </a:buClr>
              <a:buSzPts val="1900"/>
              <a:buFont typeface="Arial"/>
              <a:buChar char="●"/>
            </a:pPr>
            <a:r>
              <a:rPr b="0" i="0" lang="en-US" sz="1900" u="none" cap="none" strike="noStrike">
                <a:solidFill>
                  <a:schemeClr val="dk1"/>
                </a:solidFill>
                <a:latin typeface="Times New Roman"/>
                <a:ea typeface="Times New Roman"/>
                <a:cs typeface="Times New Roman"/>
                <a:sym typeface="Times New Roman"/>
              </a:rPr>
              <a:t>A </a:t>
            </a:r>
            <a:r>
              <a:rPr b="1" i="0" lang="en-US" sz="1900" u="none" cap="none" strike="noStrike">
                <a:solidFill>
                  <a:schemeClr val="dk1"/>
                </a:solidFill>
                <a:latin typeface="Times New Roman"/>
                <a:ea typeface="Times New Roman"/>
                <a:cs typeface="Times New Roman"/>
                <a:sym typeface="Times New Roman"/>
              </a:rPr>
              <a:t>declaration of a function</a:t>
            </a:r>
            <a:r>
              <a:rPr b="0" i="0" lang="en-US" sz="1900" u="none" cap="none" strike="noStrike">
                <a:solidFill>
                  <a:schemeClr val="dk1"/>
                </a:solidFill>
                <a:latin typeface="Times New Roman"/>
                <a:ea typeface="Times New Roman"/>
                <a:cs typeface="Times New Roman"/>
                <a:sym typeface="Times New Roman"/>
              </a:rPr>
              <a:t> before it is used.</a:t>
            </a:r>
            <a:br>
              <a:rPr b="0" i="0" lang="en-US" sz="1900" u="none" cap="none" strike="noStrike">
                <a:solidFill>
                  <a:schemeClr val="dk1"/>
                </a:solidFill>
                <a:latin typeface="Times New Roman"/>
                <a:ea typeface="Times New Roman"/>
                <a:cs typeface="Times New Roman"/>
                <a:sym typeface="Times New Roman"/>
              </a:rPr>
            </a:br>
            <a:endParaRPr b="0" i="0" sz="1900" u="none" cap="none" strike="noStrike">
              <a:solidFill>
                <a:schemeClr val="dk1"/>
              </a:solidFill>
              <a:latin typeface="Times New Roman"/>
              <a:ea typeface="Times New Roman"/>
              <a:cs typeface="Times New Roman"/>
              <a:sym typeface="Times New Roman"/>
            </a:endParaRPr>
          </a:p>
          <a:p>
            <a:pPr indent="-349250" lvl="0" marL="457200" marR="0" rtl="0" algn="l">
              <a:lnSpc>
                <a:spcPct val="115000"/>
              </a:lnSpc>
              <a:spcBef>
                <a:spcPts val="0"/>
              </a:spcBef>
              <a:spcAft>
                <a:spcPts val="0"/>
              </a:spcAft>
              <a:buClr>
                <a:schemeClr val="dk1"/>
              </a:buClr>
              <a:buSzPts val="1900"/>
              <a:buFont typeface="Times New Roman"/>
              <a:buChar char="●"/>
            </a:pPr>
            <a:r>
              <a:rPr b="0" i="0" lang="en-US" sz="1900" u="none" cap="none" strike="noStrike">
                <a:solidFill>
                  <a:schemeClr val="dk1"/>
                </a:solidFill>
                <a:latin typeface="Times New Roman"/>
                <a:ea typeface="Times New Roman"/>
                <a:cs typeface="Times New Roman"/>
                <a:sym typeface="Times New Roman"/>
              </a:rPr>
              <a:t>Tells the compiler:</a:t>
            </a:r>
            <a:br>
              <a:rPr b="0" i="0" lang="en-US" sz="1900" u="none" cap="none" strike="noStrike">
                <a:solidFill>
                  <a:schemeClr val="dk1"/>
                </a:solidFill>
                <a:latin typeface="Times New Roman"/>
                <a:ea typeface="Times New Roman"/>
                <a:cs typeface="Times New Roman"/>
                <a:sym typeface="Times New Roman"/>
              </a:rPr>
            </a:br>
            <a:endParaRPr b="0" i="0" sz="1900" u="none" cap="none" strike="noStrike">
              <a:solidFill>
                <a:schemeClr val="dk1"/>
              </a:solidFill>
              <a:latin typeface="Times New Roman"/>
              <a:ea typeface="Times New Roman"/>
              <a:cs typeface="Times New Roman"/>
              <a:sym typeface="Times New Roman"/>
            </a:endParaRPr>
          </a:p>
          <a:p>
            <a:pPr indent="-349250" lvl="1" marL="914400" marR="0" rtl="0" algn="l">
              <a:lnSpc>
                <a:spcPct val="115000"/>
              </a:lnSpc>
              <a:spcBef>
                <a:spcPts val="0"/>
              </a:spcBef>
              <a:spcAft>
                <a:spcPts val="0"/>
              </a:spcAft>
              <a:buClr>
                <a:schemeClr val="dk1"/>
              </a:buClr>
              <a:buSzPts val="1900"/>
              <a:buFont typeface="Times New Roman"/>
              <a:buChar char="○"/>
            </a:pPr>
            <a:r>
              <a:rPr b="0" i="0" lang="en-US" sz="1900" u="none" cap="none" strike="noStrike">
                <a:solidFill>
                  <a:schemeClr val="dk1"/>
                </a:solidFill>
                <a:latin typeface="Times New Roman"/>
                <a:ea typeface="Times New Roman"/>
                <a:cs typeface="Times New Roman"/>
                <a:sym typeface="Times New Roman"/>
              </a:rPr>
              <a:t>Return type of the function</a:t>
            </a:r>
            <a:br>
              <a:rPr b="0" i="0" lang="en-US" sz="1900" u="none" cap="none" strike="noStrike">
                <a:solidFill>
                  <a:schemeClr val="dk1"/>
                </a:solidFill>
                <a:latin typeface="Times New Roman"/>
                <a:ea typeface="Times New Roman"/>
                <a:cs typeface="Times New Roman"/>
                <a:sym typeface="Times New Roman"/>
              </a:rPr>
            </a:br>
            <a:endParaRPr b="0" i="0" sz="1900" u="none" cap="none" strike="noStrike">
              <a:solidFill>
                <a:schemeClr val="dk1"/>
              </a:solidFill>
              <a:latin typeface="Times New Roman"/>
              <a:ea typeface="Times New Roman"/>
              <a:cs typeface="Times New Roman"/>
              <a:sym typeface="Times New Roman"/>
            </a:endParaRPr>
          </a:p>
          <a:p>
            <a:pPr indent="-349250" lvl="1" marL="914400" marR="0" rtl="0" algn="l">
              <a:lnSpc>
                <a:spcPct val="115000"/>
              </a:lnSpc>
              <a:spcBef>
                <a:spcPts val="0"/>
              </a:spcBef>
              <a:spcAft>
                <a:spcPts val="0"/>
              </a:spcAft>
              <a:buClr>
                <a:schemeClr val="dk1"/>
              </a:buClr>
              <a:buSzPts val="1900"/>
              <a:buFont typeface="Times New Roman"/>
              <a:buChar char="○"/>
            </a:pPr>
            <a:r>
              <a:rPr b="0" i="0" lang="en-US" sz="1900" u="none" cap="none" strike="noStrike">
                <a:solidFill>
                  <a:schemeClr val="dk1"/>
                </a:solidFill>
                <a:latin typeface="Times New Roman"/>
                <a:ea typeface="Times New Roman"/>
                <a:cs typeface="Times New Roman"/>
                <a:sym typeface="Times New Roman"/>
              </a:rPr>
              <a:t>Number and type of parameters</a:t>
            </a:r>
            <a:br>
              <a:rPr b="0" i="0" lang="en-US" sz="1900" u="none" cap="none" strike="noStrike">
                <a:solidFill>
                  <a:schemeClr val="dk1"/>
                </a:solidFill>
                <a:latin typeface="Times New Roman"/>
                <a:ea typeface="Times New Roman"/>
                <a:cs typeface="Times New Roman"/>
                <a:sym typeface="Times New Roman"/>
              </a:rPr>
            </a:br>
            <a:endParaRPr b="0" i="0" sz="1900" u="none" cap="none" strike="noStrike">
              <a:solidFill>
                <a:schemeClr val="dk1"/>
              </a:solidFill>
              <a:latin typeface="Times New Roman"/>
              <a:ea typeface="Times New Roman"/>
              <a:cs typeface="Times New Roman"/>
              <a:sym typeface="Times New Roman"/>
            </a:endParaRPr>
          </a:p>
          <a:p>
            <a:pPr indent="-349250" lvl="0" marL="457200" marR="0" rtl="0" algn="l">
              <a:lnSpc>
                <a:spcPct val="115000"/>
              </a:lnSpc>
              <a:spcBef>
                <a:spcPts val="0"/>
              </a:spcBef>
              <a:spcAft>
                <a:spcPts val="0"/>
              </a:spcAft>
              <a:buClr>
                <a:schemeClr val="dk1"/>
              </a:buClr>
              <a:buSzPts val="1900"/>
              <a:buFont typeface="Arial"/>
              <a:buChar char="●"/>
            </a:pPr>
            <a:r>
              <a:rPr b="0" i="0" lang="en-US" sz="1900" u="none" cap="none" strike="noStrike">
                <a:solidFill>
                  <a:schemeClr val="dk1"/>
                </a:solidFill>
                <a:latin typeface="Times New Roman"/>
                <a:ea typeface="Times New Roman"/>
                <a:cs typeface="Times New Roman"/>
                <a:sym typeface="Times New Roman"/>
              </a:rPr>
              <a:t>Helps the compiler perform </a:t>
            </a:r>
            <a:r>
              <a:rPr b="1" i="0" lang="en-US" sz="1900" u="none" cap="none" strike="noStrike">
                <a:solidFill>
                  <a:schemeClr val="dk1"/>
                </a:solidFill>
                <a:latin typeface="Times New Roman"/>
                <a:ea typeface="Times New Roman"/>
                <a:cs typeface="Times New Roman"/>
                <a:sym typeface="Times New Roman"/>
              </a:rPr>
              <a:t>type checking</a:t>
            </a:r>
            <a:r>
              <a:rPr b="0" i="0" lang="en-US" sz="1900" u="none" cap="none" strike="noStrike">
                <a:solidFill>
                  <a:schemeClr val="dk1"/>
                </a:solidFill>
                <a:latin typeface="Times New Roman"/>
                <a:ea typeface="Times New Roman"/>
                <a:cs typeface="Times New Roman"/>
                <a:sym typeface="Times New Roman"/>
              </a:rPr>
              <a:t>.</a:t>
            </a:r>
            <a:br>
              <a:rPr b="0" i="0" lang="en-US" sz="1900" u="none" cap="none" strike="noStrike">
                <a:solidFill>
                  <a:schemeClr val="dk1"/>
                </a:solidFill>
                <a:latin typeface="Times New Roman"/>
                <a:ea typeface="Times New Roman"/>
                <a:cs typeface="Times New Roman"/>
                <a:sym typeface="Times New Roman"/>
              </a:rPr>
            </a:b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rgbClr val="000000"/>
              </a:buClr>
              <a:buSzPts val="2200"/>
              <a:buFont typeface="Arial"/>
              <a:buNone/>
            </a:pPr>
            <a:r>
              <a:rPr b="1" i="0" lang="en-US" sz="2200" u="none" cap="none" strike="noStrike">
                <a:solidFill>
                  <a:schemeClr val="dk1"/>
                </a:solidFill>
                <a:latin typeface="Times New Roman"/>
                <a:ea typeface="Times New Roman"/>
                <a:cs typeface="Times New Roman"/>
                <a:sym typeface="Times New Roman"/>
              </a:rPr>
              <a:t>General Form</a:t>
            </a:r>
            <a:endParaRPr b="1" i="0" sz="22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400"/>
              </a:spcBef>
              <a:spcAft>
                <a:spcPts val="0"/>
              </a:spcAft>
              <a:buClr>
                <a:srgbClr val="000000"/>
              </a:buClr>
              <a:buSzPts val="2000"/>
              <a:buFont typeface="Arial"/>
              <a:buNone/>
            </a:pPr>
            <a:r>
              <a:rPr b="0" i="0" lang="en-US" sz="2000" u="none" cap="none" strike="noStrike">
                <a:solidFill>
                  <a:srgbClr val="188038"/>
                </a:solidFill>
                <a:latin typeface="Times New Roman"/>
                <a:ea typeface="Times New Roman"/>
                <a:cs typeface="Times New Roman"/>
                <a:sym typeface="Times New Roman"/>
              </a:rPr>
              <a:t>return_type function_name(type param1, type param2, ...);</a:t>
            </a:r>
            <a:endParaRPr b="0" i="0" sz="2000" u="none" cap="none" strike="noStrike">
              <a:solidFill>
                <a:srgbClr val="188038"/>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
        <p:nvSpPr>
          <p:cNvPr id="835" name="Google Shape;835;g383071ae8d3_0_350"/>
          <p:cNvSpPr txBox="1"/>
          <p:nvPr/>
        </p:nvSpPr>
        <p:spPr>
          <a:xfrm>
            <a:off x="6675600" y="1149100"/>
            <a:ext cx="5106900" cy="3775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US" sz="2100" u="none" cap="none" strike="noStrike">
                <a:solidFill>
                  <a:schemeClr val="dk1"/>
                </a:solidFill>
                <a:latin typeface="Times New Roman"/>
                <a:ea typeface="Times New Roman"/>
                <a:cs typeface="Times New Roman"/>
                <a:sym typeface="Times New Roman"/>
              </a:rPr>
              <a:t>Why Use Prototypes?</a:t>
            </a:r>
            <a:endParaRPr b="1" i="0" sz="21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900" u="none" cap="none" strike="noStrike">
                <a:solidFill>
                  <a:schemeClr val="dk1"/>
                </a:solidFill>
                <a:latin typeface="Times New Roman"/>
                <a:ea typeface="Times New Roman"/>
                <a:cs typeface="Times New Roman"/>
                <a:sym typeface="Times New Roman"/>
              </a:rPr>
              <a:t>✅ Ensures correct </a:t>
            </a:r>
            <a:r>
              <a:rPr b="1" i="0" lang="en-US" sz="1900" u="none" cap="none" strike="noStrike">
                <a:solidFill>
                  <a:schemeClr val="dk1"/>
                </a:solidFill>
                <a:latin typeface="Times New Roman"/>
                <a:ea typeface="Times New Roman"/>
                <a:cs typeface="Times New Roman"/>
                <a:sym typeface="Times New Roman"/>
              </a:rPr>
              <a:t>number of arguments</a:t>
            </a:r>
            <a:r>
              <a:rPr b="0" i="0" lang="en-US" sz="1900" u="none" cap="none" strike="noStrike">
                <a:solidFill>
                  <a:schemeClr val="dk1"/>
                </a:solidFill>
                <a:latin typeface="Times New Roman"/>
                <a:ea typeface="Times New Roman"/>
                <a:cs typeface="Times New Roman"/>
                <a:sym typeface="Times New Roman"/>
              </a:rPr>
              <a:t>.</a:t>
            </a:r>
            <a:br>
              <a:rPr b="0" i="0" lang="en-US" sz="1900" u="none" cap="none" strike="noStrike">
                <a:solidFill>
                  <a:schemeClr val="dk1"/>
                </a:solidFill>
                <a:latin typeface="Times New Roman"/>
                <a:ea typeface="Times New Roman"/>
                <a:cs typeface="Times New Roman"/>
                <a:sym typeface="Times New Roman"/>
              </a:rPr>
            </a:br>
            <a:r>
              <a:rPr b="0" i="0" lang="en-US" sz="1900" u="none" cap="none" strike="noStrike">
                <a:solidFill>
                  <a:schemeClr val="dk1"/>
                </a:solidFill>
                <a:latin typeface="Times New Roman"/>
                <a:ea typeface="Times New Roman"/>
                <a:cs typeface="Times New Roman"/>
                <a:sym typeface="Times New Roman"/>
              </a:rPr>
              <a:t> ✅ Catches </a:t>
            </a:r>
            <a:r>
              <a:rPr b="1" i="0" lang="en-US" sz="1900" u="none" cap="none" strike="noStrike">
                <a:solidFill>
                  <a:schemeClr val="dk1"/>
                </a:solidFill>
                <a:latin typeface="Times New Roman"/>
                <a:ea typeface="Times New Roman"/>
                <a:cs typeface="Times New Roman"/>
                <a:sym typeface="Times New Roman"/>
              </a:rPr>
              <a:t>type mismatches</a:t>
            </a:r>
            <a:r>
              <a:rPr b="0" i="0" lang="en-US" sz="1900" u="none" cap="none" strike="noStrike">
                <a:solidFill>
                  <a:schemeClr val="dk1"/>
                </a:solidFill>
                <a:latin typeface="Times New Roman"/>
                <a:ea typeface="Times New Roman"/>
                <a:cs typeface="Times New Roman"/>
                <a:sym typeface="Times New Roman"/>
              </a:rPr>
              <a:t>.</a:t>
            </a:r>
            <a:br>
              <a:rPr b="0" i="0" lang="en-US" sz="1900" u="none" cap="none" strike="noStrike">
                <a:solidFill>
                  <a:schemeClr val="dk1"/>
                </a:solidFill>
                <a:latin typeface="Times New Roman"/>
                <a:ea typeface="Times New Roman"/>
                <a:cs typeface="Times New Roman"/>
                <a:sym typeface="Times New Roman"/>
              </a:rPr>
            </a:br>
            <a:r>
              <a:rPr b="0" i="0" lang="en-US" sz="1900" u="none" cap="none" strike="noStrike">
                <a:solidFill>
                  <a:schemeClr val="dk1"/>
                </a:solidFill>
                <a:latin typeface="Times New Roman"/>
                <a:ea typeface="Times New Roman"/>
                <a:cs typeface="Times New Roman"/>
                <a:sym typeface="Times New Roman"/>
              </a:rPr>
              <a:t> ✅ Improves </a:t>
            </a:r>
            <a:r>
              <a:rPr b="1" i="0" lang="en-US" sz="1900" u="none" cap="none" strike="noStrike">
                <a:solidFill>
                  <a:schemeClr val="dk1"/>
                </a:solidFill>
                <a:latin typeface="Times New Roman"/>
                <a:ea typeface="Times New Roman"/>
                <a:cs typeface="Times New Roman"/>
                <a:sym typeface="Times New Roman"/>
              </a:rPr>
              <a:t>program reliability</a:t>
            </a:r>
            <a:r>
              <a:rPr b="0" i="0" lang="en-US" sz="1900" u="none" cap="none" strike="noStrike">
                <a:solidFill>
                  <a:schemeClr val="dk1"/>
                </a:solidFill>
                <a:latin typeface="Times New Roman"/>
                <a:ea typeface="Times New Roman"/>
                <a:cs typeface="Times New Roman"/>
                <a:sym typeface="Times New Roman"/>
              </a:rPr>
              <a:t>.</a:t>
            </a:r>
            <a:br>
              <a:rPr b="0" i="0" lang="en-US" sz="1900" u="none" cap="none" strike="noStrike">
                <a:solidFill>
                  <a:schemeClr val="dk1"/>
                </a:solidFill>
                <a:latin typeface="Times New Roman"/>
                <a:ea typeface="Times New Roman"/>
                <a:cs typeface="Times New Roman"/>
                <a:sym typeface="Times New Roman"/>
              </a:rPr>
            </a:br>
            <a:r>
              <a:rPr b="0" i="0" lang="en-US" sz="1900" u="none" cap="none" strike="noStrike">
                <a:solidFill>
                  <a:schemeClr val="dk1"/>
                </a:solidFill>
                <a:latin typeface="Times New Roman"/>
                <a:ea typeface="Times New Roman"/>
                <a:cs typeface="Times New Roman"/>
                <a:sym typeface="Times New Roman"/>
              </a:rPr>
              <a:t> ✅ Required in </a:t>
            </a:r>
            <a:r>
              <a:rPr b="1" i="0" lang="en-US" sz="1900" u="none" cap="none" strike="noStrike">
                <a:solidFill>
                  <a:schemeClr val="dk1"/>
                </a:solidFill>
                <a:latin typeface="Times New Roman"/>
                <a:ea typeface="Times New Roman"/>
                <a:cs typeface="Times New Roman"/>
                <a:sym typeface="Times New Roman"/>
              </a:rPr>
              <a:t>C++</a:t>
            </a:r>
            <a:r>
              <a:rPr b="0" i="0" lang="en-US" sz="1900" u="none" cap="none" strike="noStrike">
                <a:solidFill>
                  <a:schemeClr val="dk1"/>
                </a:solidFill>
                <a:latin typeface="Times New Roman"/>
                <a:ea typeface="Times New Roman"/>
                <a:cs typeface="Times New Roman"/>
                <a:sym typeface="Times New Roman"/>
              </a:rPr>
              <a:t>, strongly encouraged in modern C.</a:t>
            </a:r>
            <a:endParaRPr b="0" i="0" sz="19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2850"/>
              <a:buFont typeface="Arial"/>
              <a:buNone/>
            </a:pPr>
            <a:r>
              <a:t/>
            </a:r>
            <a:endParaRPr b="0" i="0" sz="28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g383071ae8d3_0_368"/>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841" name="Google Shape;841;g383071ae8d3_0_368"/>
          <p:cNvGrpSpPr/>
          <p:nvPr/>
        </p:nvGrpSpPr>
        <p:grpSpPr>
          <a:xfrm>
            <a:off x="0" y="32893"/>
            <a:ext cx="12192000" cy="6858000"/>
            <a:chOff x="0" y="0"/>
            <a:chExt cx="12192000" cy="6858000"/>
          </a:xfrm>
        </p:grpSpPr>
        <p:pic>
          <p:nvPicPr>
            <p:cNvPr id="842" name="Google Shape;842;g383071ae8d3_0_368"/>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843" name="Google Shape;843;g383071ae8d3_0_368"/>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4" name="Google Shape;844;g383071ae8d3_0_368"/>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45" name="Google Shape;845;g383071ae8d3_0_368"/>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846" name="Google Shape;846;g383071ae8d3_0_368"/>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47" name="Google Shape;847;g383071ae8d3_0_368"/>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848" name="Google Shape;848;g383071ae8d3_0_368"/>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849" name="Google Shape;849;g383071ae8d3_0_368"/>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0" name="Google Shape;850;g383071ae8d3_0_368"/>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1" name="Google Shape;851;g383071ae8d3_0_368"/>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52" name="Google Shape;852;g383071ae8d3_0_368"/>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853" name="Google Shape;853;g383071ae8d3_0_368"/>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54" name="Google Shape;854;g383071ae8d3_0_368"/>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855" name="Google Shape;855;g383071ae8d3_0_368"/>
          <p:cNvSpPr txBox="1"/>
          <p:nvPr/>
        </p:nvSpPr>
        <p:spPr>
          <a:xfrm>
            <a:off x="1823925" y="1076125"/>
            <a:ext cx="6803400" cy="4340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t>
            </a:r>
            <a:r>
              <a:rPr b="0" i="0" lang="en-US" sz="1800" u="none" cap="none" strike="noStrike">
                <a:solidFill>
                  <a:srgbClr val="000000"/>
                </a:solidFill>
                <a:latin typeface="Arial"/>
                <a:ea typeface="Arial"/>
                <a:cs typeface="Arial"/>
                <a:sym typeface="Arial"/>
              </a:rPr>
              <a:t>* Using function prototype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void sqr_it(int *i);  // prototype</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int main(void)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int x;</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x = 10;</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sqr_it(x);   // ❌ error: type mismatch</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return 0;</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void sqr_it(int *i)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*i = *i * *i;</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Compiler shows error because an int was passed instead of int*.</a:t>
            </a:r>
            <a:endParaRPr b="0" i="0" sz="1800" u="none" cap="none" strike="noStrike">
              <a:solidFill>
                <a:srgbClr val="000000"/>
              </a:solidFill>
              <a:latin typeface="Arial"/>
              <a:ea typeface="Arial"/>
              <a:cs typeface="Arial"/>
              <a:sym typeface="Arial"/>
            </a:endParaRPr>
          </a:p>
        </p:txBody>
      </p:sp>
      <p:sp>
        <p:nvSpPr>
          <p:cNvPr id="856" name="Google Shape;856;g383071ae8d3_0_368"/>
          <p:cNvSpPr txBox="1"/>
          <p:nvPr/>
        </p:nvSpPr>
        <p:spPr>
          <a:xfrm>
            <a:off x="1678025" y="310075"/>
            <a:ext cx="3556800" cy="67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50"/>
              <a:buFont typeface="Arial"/>
              <a:buNone/>
            </a:pPr>
            <a:r>
              <a:rPr b="1" i="0" lang="en-US" sz="2450" u="none" cap="none" strike="noStrike">
                <a:solidFill>
                  <a:schemeClr val="dk1"/>
                </a:solidFill>
                <a:latin typeface="Times New Roman"/>
                <a:ea typeface="Times New Roman"/>
                <a:cs typeface="Times New Roman"/>
                <a:sym typeface="Times New Roman"/>
              </a:rPr>
              <a:t>Example</a:t>
            </a:r>
            <a:endParaRPr b="1" i="0" sz="24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83071ae8d3_0_386"/>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862" name="Google Shape;862;g383071ae8d3_0_386"/>
          <p:cNvGrpSpPr/>
          <p:nvPr/>
        </p:nvGrpSpPr>
        <p:grpSpPr>
          <a:xfrm>
            <a:off x="0" y="14654"/>
            <a:ext cx="12192000" cy="6858000"/>
            <a:chOff x="0" y="0"/>
            <a:chExt cx="12192000" cy="6858000"/>
          </a:xfrm>
        </p:grpSpPr>
        <p:pic>
          <p:nvPicPr>
            <p:cNvPr id="863" name="Google Shape;863;g383071ae8d3_0_386"/>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864" name="Google Shape;864;g383071ae8d3_0_386"/>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5" name="Google Shape;865;g383071ae8d3_0_386"/>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66" name="Google Shape;866;g383071ae8d3_0_386"/>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867" name="Google Shape;867;g383071ae8d3_0_386"/>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68" name="Google Shape;868;g383071ae8d3_0_386"/>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869" name="Google Shape;869;g383071ae8d3_0_386"/>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870" name="Google Shape;870;g383071ae8d3_0_386"/>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1" name="Google Shape;871;g383071ae8d3_0_386"/>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2" name="Google Shape;872;g383071ae8d3_0_386"/>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73" name="Google Shape;873;g383071ae8d3_0_386"/>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874" name="Google Shape;874;g383071ae8d3_0_386"/>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75" name="Google Shape;875;g383071ae8d3_0_386"/>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pic>
        <p:nvPicPr>
          <p:cNvPr id="876" name="Google Shape;876;g383071ae8d3_0_386"/>
          <p:cNvPicPr preferRelativeResize="0"/>
          <p:nvPr/>
        </p:nvPicPr>
        <p:blipFill rotWithShape="1">
          <a:blip r:embed="rId9">
            <a:alphaModFix/>
          </a:blip>
          <a:srcRect b="0" l="0" r="0" t="0"/>
          <a:stretch/>
        </p:blipFill>
        <p:spPr>
          <a:xfrm>
            <a:off x="1422675" y="0"/>
            <a:ext cx="9375025" cy="6858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79c1af9f7a_0_140"/>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882" name="Google Shape;882;g379c1af9f7a_0_140"/>
          <p:cNvGrpSpPr/>
          <p:nvPr/>
        </p:nvGrpSpPr>
        <p:grpSpPr>
          <a:xfrm>
            <a:off x="0" y="14654"/>
            <a:ext cx="12192000" cy="6858000"/>
            <a:chOff x="0" y="0"/>
            <a:chExt cx="12192000" cy="6858000"/>
          </a:xfrm>
        </p:grpSpPr>
        <p:pic>
          <p:nvPicPr>
            <p:cNvPr id="883" name="Google Shape;883;g379c1af9f7a_0_140"/>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884" name="Google Shape;884;g379c1af9f7a_0_140"/>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5" name="Google Shape;885;g379c1af9f7a_0_140"/>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86" name="Google Shape;886;g379c1af9f7a_0_140"/>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887" name="Google Shape;887;g379c1af9f7a_0_140"/>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88" name="Google Shape;888;g379c1af9f7a_0_140"/>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889" name="Google Shape;889;g379c1af9f7a_0_140"/>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890" name="Google Shape;890;g379c1af9f7a_0_140"/>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1" name="Google Shape;891;g379c1af9f7a_0_140"/>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2" name="Google Shape;892;g379c1af9f7a_0_140"/>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93" name="Google Shape;893;g379c1af9f7a_0_140"/>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894" name="Google Shape;894;g379c1af9f7a_0_140"/>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895" name="Google Shape;895;g379c1af9f7a_0_140"/>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896" name="Google Shape;896;g379c1af9f7a_0_140"/>
          <p:cNvSpPr txBox="1"/>
          <p:nvPr/>
        </p:nvSpPr>
        <p:spPr>
          <a:xfrm>
            <a:off x="1550350" y="200625"/>
            <a:ext cx="8864400" cy="10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rPr b="0" i="0" lang="en-US" sz="2050" u="none" cap="none" strike="noStrike">
                <a:solidFill>
                  <a:schemeClr val="dk1"/>
                </a:solidFill>
                <a:latin typeface="Times New Roman"/>
                <a:ea typeface="Times New Roman"/>
                <a:cs typeface="Times New Roman"/>
                <a:sym typeface="Times New Roman"/>
              </a:rPr>
              <a:t> </a:t>
            </a:r>
            <a:r>
              <a:rPr b="1" i="0" lang="en-US" sz="2450" u="none" cap="none" strike="noStrike">
                <a:solidFill>
                  <a:srgbClr val="FF0000"/>
                </a:solidFill>
                <a:latin typeface="Times New Roman"/>
                <a:ea typeface="Times New Roman"/>
                <a:cs typeface="Times New Roman"/>
                <a:sym typeface="Times New Roman"/>
              </a:rPr>
              <a:t>Declaring Variable Length Parameter Lists</a:t>
            </a:r>
            <a:endParaRPr b="1" i="0" sz="2450" u="none" cap="none" strike="noStrike">
              <a:solidFill>
                <a:srgbClr val="FF0000"/>
              </a:solidFill>
              <a:latin typeface="Times New Roman"/>
              <a:ea typeface="Times New Roman"/>
              <a:cs typeface="Times New Roman"/>
              <a:sym typeface="Times New Roman"/>
            </a:endParaRPr>
          </a:p>
        </p:txBody>
      </p:sp>
      <p:sp>
        <p:nvSpPr>
          <p:cNvPr id="897" name="Google Shape;897;g379c1af9f7a_0_140"/>
          <p:cNvSpPr txBox="1"/>
          <p:nvPr/>
        </p:nvSpPr>
        <p:spPr>
          <a:xfrm>
            <a:off x="1477400" y="948450"/>
            <a:ext cx="10578900" cy="5672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US" sz="1900" u="none" cap="none" strike="noStrike">
                <a:solidFill>
                  <a:schemeClr val="dk1"/>
                </a:solidFill>
                <a:latin typeface="Arial"/>
                <a:ea typeface="Arial"/>
                <a:cs typeface="Arial"/>
                <a:sym typeface="Arial"/>
              </a:rPr>
              <a:t>Definition</a:t>
            </a:r>
            <a:endParaRPr b="1" i="0" sz="1900" u="none" cap="none" strike="noStrike">
              <a:solidFill>
                <a:schemeClr val="dk1"/>
              </a:solidFill>
              <a:latin typeface="Arial"/>
              <a:ea typeface="Arial"/>
              <a:cs typeface="Arial"/>
              <a:sym typeface="Arial"/>
            </a:endParaRPr>
          </a:p>
          <a:p>
            <a:pPr indent="-336550" lvl="0" marL="457200" marR="0" rtl="0" algn="l">
              <a:lnSpc>
                <a:spcPct val="115000"/>
              </a:lnSpc>
              <a:spcBef>
                <a:spcPts val="120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Some functions can accept a </a:t>
            </a:r>
            <a:r>
              <a:rPr b="1" i="0" lang="en-US" sz="1700" u="none" cap="none" strike="noStrike">
                <a:solidFill>
                  <a:schemeClr val="dk1"/>
                </a:solidFill>
                <a:latin typeface="Arial"/>
                <a:ea typeface="Arial"/>
                <a:cs typeface="Arial"/>
                <a:sym typeface="Arial"/>
              </a:rPr>
              <a:t>variable number of arguments</a:t>
            </a:r>
            <a:r>
              <a:rPr b="0" i="0" lang="en-US" sz="1700" u="none" cap="none" strike="noStrike">
                <a:solidFill>
                  <a:schemeClr val="dk1"/>
                </a:solidFill>
                <a:latin typeface="Arial"/>
                <a:ea typeface="Arial"/>
                <a:cs typeface="Arial"/>
                <a:sym typeface="Arial"/>
              </a:rPr>
              <a:t>.</a:t>
            </a:r>
            <a:br>
              <a:rPr b="0" i="0" lang="en-US" sz="1700" u="none" cap="none" strike="noStrike">
                <a:solidFill>
                  <a:schemeClr val="dk1"/>
                </a:solidFill>
                <a:latin typeface="Arial"/>
                <a:ea typeface="Arial"/>
                <a:cs typeface="Arial"/>
                <a:sym typeface="Arial"/>
              </a:rPr>
            </a:br>
            <a:endParaRPr b="0" i="0" sz="1700" u="none" cap="none" strike="noStrike">
              <a:solidFill>
                <a:schemeClr val="dk1"/>
              </a:solidFill>
              <a:latin typeface="Arial"/>
              <a:ea typeface="Arial"/>
              <a:cs typeface="Arial"/>
              <a:sym typeface="Arial"/>
            </a:endParaRPr>
          </a:p>
          <a:p>
            <a:pPr indent="-336550" lvl="0" marL="457200" marR="0" rtl="0" algn="l">
              <a:lnSpc>
                <a:spcPct val="115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Example: </a:t>
            </a:r>
            <a:r>
              <a:rPr b="0" i="0" lang="en-US" sz="1700" u="none" cap="none" strike="noStrike">
                <a:solidFill>
                  <a:srgbClr val="188038"/>
                </a:solidFill>
                <a:latin typeface="Roboto Mono"/>
                <a:ea typeface="Roboto Mono"/>
                <a:cs typeface="Roboto Mono"/>
                <a:sym typeface="Roboto Mono"/>
              </a:rPr>
              <a:t>printf()</a:t>
            </a:r>
            <a:br>
              <a:rPr b="0" i="0" lang="en-US" sz="1700" u="none" cap="none" strike="noStrike">
                <a:solidFill>
                  <a:srgbClr val="188038"/>
                </a:solidFill>
                <a:latin typeface="Roboto Mono"/>
                <a:ea typeface="Roboto Mono"/>
                <a:cs typeface="Roboto Mono"/>
                <a:sym typeface="Roboto Mono"/>
              </a:rPr>
            </a:br>
            <a:endParaRPr b="0" i="0" sz="1700" u="none" cap="none" strike="noStrike">
              <a:solidFill>
                <a:srgbClr val="188038"/>
              </a:solidFill>
              <a:latin typeface="Roboto Mono"/>
              <a:ea typeface="Roboto Mono"/>
              <a:cs typeface="Roboto Mono"/>
              <a:sym typeface="Roboto Mono"/>
            </a:endParaRPr>
          </a:p>
          <a:p>
            <a:pPr indent="-336550" lvl="0" marL="457200" marR="0" rtl="0" algn="l">
              <a:lnSpc>
                <a:spcPct val="115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Declared using </a:t>
            </a:r>
            <a:r>
              <a:rPr b="1" i="0" lang="en-US" sz="1700" u="none" cap="none" strike="noStrike">
                <a:solidFill>
                  <a:schemeClr val="dk1"/>
                </a:solidFill>
                <a:latin typeface="Arial"/>
                <a:ea typeface="Arial"/>
                <a:cs typeface="Arial"/>
                <a:sym typeface="Arial"/>
              </a:rPr>
              <a:t>ellipsis (</a:t>
            </a:r>
            <a:r>
              <a:rPr b="1" i="0" lang="en-US" sz="1700" u="none" cap="none" strike="noStrike">
                <a:solidFill>
                  <a:srgbClr val="188038"/>
                </a:solidFill>
                <a:latin typeface="Roboto Mono"/>
                <a:ea typeface="Roboto Mono"/>
                <a:cs typeface="Roboto Mono"/>
                <a:sym typeface="Roboto Mono"/>
              </a:rPr>
              <a:t>...</a:t>
            </a:r>
            <a:r>
              <a:rPr b="1" i="0" lang="en-US" sz="1700" u="none" cap="none" strike="noStrike">
                <a:solidFill>
                  <a:schemeClr val="dk1"/>
                </a:solidFill>
                <a:latin typeface="Arial"/>
                <a:ea typeface="Arial"/>
                <a:cs typeface="Arial"/>
                <a:sym typeface="Arial"/>
              </a:rPr>
              <a:t>)</a:t>
            </a:r>
            <a:r>
              <a:rPr b="0" i="0" lang="en-US" sz="1700" u="none" cap="none" strike="noStrike">
                <a:solidFill>
                  <a:schemeClr val="dk1"/>
                </a:solidFill>
                <a:latin typeface="Arial"/>
                <a:ea typeface="Arial"/>
                <a:cs typeface="Arial"/>
                <a:sym typeface="Arial"/>
              </a:rPr>
              <a:t> at the end of the parameter list.</a:t>
            </a:r>
            <a:endParaRPr b="0" i="0" sz="17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Syntax</a:t>
            </a:r>
            <a:endParaRPr b="1" i="0" sz="19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700"/>
              <a:buFont typeface="Arial"/>
              <a:buNone/>
            </a:pPr>
            <a:r>
              <a:rPr b="0" i="0" lang="en-US" sz="1700" u="none" cap="none" strike="noStrike">
                <a:solidFill>
                  <a:srgbClr val="188038"/>
                </a:solidFill>
                <a:latin typeface="Roboto Mono"/>
                <a:ea typeface="Roboto Mono"/>
                <a:cs typeface="Roboto Mono"/>
                <a:sym typeface="Roboto Mono"/>
              </a:rPr>
              <a:t>int func(int a, int b, ...);</a:t>
            </a:r>
            <a:endParaRPr b="0" i="0" sz="1700" u="none" cap="none" strike="noStrike">
              <a:solidFill>
                <a:srgbClr val="188038"/>
              </a:solidFill>
              <a:latin typeface="Roboto Mono"/>
              <a:ea typeface="Roboto Mono"/>
              <a:cs typeface="Roboto Mono"/>
              <a:sym typeface="Roboto Mono"/>
            </a:endParaRPr>
          </a:p>
          <a:p>
            <a:pPr indent="0" lvl="0" marL="0" marR="0" rtl="0" algn="l">
              <a:lnSpc>
                <a:spcPct val="115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15000"/>
              </a:lnSpc>
              <a:spcBef>
                <a:spcPts val="1200"/>
              </a:spcBef>
              <a:spcAft>
                <a:spcPts val="0"/>
              </a:spcAft>
              <a:buClr>
                <a:schemeClr val="dk1"/>
              </a:buClr>
              <a:buSzPts val="1700"/>
              <a:buFont typeface="Arial"/>
              <a:buChar char="●"/>
            </a:pPr>
            <a:r>
              <a:rPr b="0" i="0" lang="en-US" sz="1700" u="none" cap="none" strike="noStrike">
                <a:solidFill>
                  <a:srgbClr val="188038"/>
                </a:solidFill>
                <a:latin typeface="Roboto Mono"/>
                <a:ea typeface="Roboto Mono"/>
                <a:cs typeface="Roboto Mono"/>
                <a:sym typeface="Roboto Mono"/>
              </a:rPr>
              <a:t>func()</a:t>
            </a:r>
            <a:r>
              <a:rPr b="0" i="0" lang="en-US" sz="1700" u="none" cap="none" strike="noStrike">
                <a:solidFill>
                  <a:schemeClr val="dk1"/>
                </a:solidFill>
                <a:latin typeface="Arial"/>
                <a:ea typeface="Arial"/>
                <a:cs typeface="Arial"/>
                <a:sym typeface="Arial"/>
              </a:rPr>
              <a:t> has </a:t>
            </a:r>
            <a:r>
              <a:rPr b="1" i="0" lang="en-US" sz="1700" u="none" cap="none" strike="noStrike">
                <a:solidFill>
                  <a:schemeClr val="dk1"/>
                </a:solidFill>
                <a:latin typeface="Arial"/>
                <a:ea typeface="Arial"/>
                <a:cs typeface="Arial"/>
                <a:sym typeface="Arial"/>
              </a:rPr>
              <a:t>at least two integer parameters</a:t>
            </a:r>
            <a:r>
              <a:rPr b="0" i="0" lang="en-US" sz="1700" u="none" cap="none" strike="noStrike">
                <a:solidFill>
                  <a:schemeClr val="dk1"/>
                </a:solidFill>
                <a:latin typeface="Arial"/>
                <a:ea typeface="Arial"/>
                <a:cs typeface="Arial"/>
                <a:sym typeface="Arial"/>
              </a:rPr>
              <a:t>.</a:t>
            </a:r>
            <a:br>
              <a:rPr b="0" i="0" lang="en-US" sz="1700" u="none" cap="none" strike="noStrike">
                <a:solidFill>
                  <a:schemeClr val="dk1"/>
                </a:solidFill>
                <a:latin typeface="Arial"/>
                <a:ea typeface="Arial"/>
                <a:cs typeface="Arial"/>
                <a:sym typeface="Arial"/>
              </a:rPr>
            </a:br>
            <a:endParaRPr b="0" i="0" sz="1700" u="none" cap="none" strike="noStrike">
              <a:solidFill>
                <a:schemeClr val="dk1"/>
              </a:solidFill>
              <a:latin typeface="Arial"/>
              <a:ea typeface="Arial"/>
              <a:cs typeface="Arial"/>
              <a:sym typeface="Arial"/>
            </a:endParaRPr>
          </a:p>
          <a:p>
            <a:pPr indent="-336550" lvl="0" marL="457200" marR="0" rtl="0" algn="l">
              <a:lnSpc>
                <a:spcPct val="115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After that → any number of additional arguments (including 0).</a:t>
            </a:r>
            <a:br>
              <a:rPr b="0" i="0" lang="en-US" sz="1700" u="none" cap="none" strike="noStrike">
                <a:solidFill>
                  <a:schemeClr val="dk1"/>
                </a:solidFill>
                <a:latin typeface="Arial"/>
                <a:ea typeface="Arial"/>
                <a:cs typeface="Arial"/>
                <a:sym typeface="Arial"/>
              </a:rPr>
            </a:b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79c1af9f7a_0_158"/>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903" name="Google Shape;903;g379c1af9f7a_0_158"/>
          <p:cNvGrpSpPr/>
          <p:nvPr/>
        </p:nvGrpSpPr>
        <p:grpSpPr>
          <a:xfrm>
            <a:off x="0" y="14654"/>
            <a:ext cx="12192000" cy="6858000"/>
            <a:chOff x="0" y="0"/>
            <a:chExt cx="12192000" cy="6858000"/>
          </a:xfrm>
        </p:grpSpPr>
        <p:pic>
          <p:nvPicPr>
            <p:cNvPr id="904" name="Google Shape;904;g379c1af9f7a_0_158"/>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905" name="Google Shape;905;g379c1af9f7a_0_158"/>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6" name="Google Shape;906;g379c1af9f7a_0_158"/>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07" name="Google Shape;907;g379c1af9f7a_0_158"/>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908" name="Google Shape;908;g379c1af9f7a_0_158"/>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09" name="Google Shape;909;g379c1af9f7a_0_158"/>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910" name="Google Shape;910;g379c1af9f7a_0_158"/>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911" name="Google Shape;911;g379c1af9f7a_0_158"/>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2" name="Google Shape;912;g379c1af9f7a_0_158"/>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3" name="Google Shape;913;g379c1af9f7a_0_158"/>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14" name="Google Shape;914;g379c1af9f7a_0_158"/>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915" name="Google Shape;915;g379c1af9f7a_0_158"/>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16" name="Google Shape;916;g379c1af9f7a_0_158"/>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917" name="Google Shape;917;g379c1af9f7a_0_158"/>
          <p:cNvSpPr txBox="1"/>
          <p:nvPr/>
        </p:nvSpPr>
        <p:spPr>
          <a:xfrm>
            <a:off x="1769225" y="766050"/>
            <a:ext cx="9575700" cy="448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Rules</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600"/>
              <a:buFont typeface="Arial"/>
              <a:buNone/>
            </a:pPr>
            <a:r>
              <a:rPr b="0" i="0" lang="en-US" sz="1600" u="none" cap="none" strike="noStrike">
                <a:solidFill>
                  <a:schemeClr val="dk1"/>
                </a:solidFill>
                <a:latin typeface="Arial"/>
                <a:ea typeface="Arial"/>
                <a:cs typeface="Arial"/>
                <a:sym typeface="Arial"/>
              </a:rPr>
              <a:t>A function with </a:t>
            </a:r>
            <a:r>
              <a:rPr b="0" i="0" lang="en-US" sz="1600" u="none" cap="none" strike="noStrike">
                <a:solidFill>
                  <a:srgbClr val="188038"/>
                </a:solidFill>
                <a:latin typeface="Roboto Mono"/>
                <a:ea typeface="Roboto Mono"/>
                <a:cs typeface="Roboto Mono"/>
                <a:sym typeface="Roboto Mono"/>
              </a:rPr>
              <a:t>...</a:t>
            </a:r>
            <a:r>
              <a:rPr b="0" i="0" lang="en-US" sz="1600" u="none" cap="none" strike="noStrike">
                <a:solidFill>
                  <a:schemeClr val="dk1"/>
                </a:solidFill>
                <a:latin typeface="Arial"/>
                <a:ea typeface="Arial"/>
                <a:cs typeface="Arial"/>
                <a:sym typeface="Arial"/>
              </a:rPr>
              <a:t> must have </a:t>
            </a:r>
            <a:r>
              <a:rPr b="1" i="0" lang="en-US" sz="1600" u="none" cap="none" strike="noStrike">
                <a:solidFill>
                  <a:schemeClr val="dk1"/>
                </a:solidFill>
                <a:latin typeface="Arial"/>
                <a:ea typeface="Arial"/>
                <a:cs typeface="Arial"/>
                <a:sym typeface="Arial"/>
              </a:rPr>
              <a:t>at least one fixed parameter</a:t>
            </a:r>
            <a:r>
              <a:rPr b="0" i="0" lang="en-US" sz="1600" u="none" cap="none" strike="noStrike">
                <a:solidFill>
                  <a:schemeClr val="dk1"/>
                </a:solidFill>
                <a:latin typeface="Arial"/>
                <a:ea typeface="Arial"/>
                <a:cs typeface="Arial"/>
                <a:sym typeface="Arial"/>
              </a:rPr>
              <a:t>.</a:t>
            </a:r>
            <a:br>
              <a:rPr b="0" i="0" lang="en-US" sz="1600" u="none" cap="none" strike="noStrike">
                <a:solidFill>
                  <a:schemeClr val="dk1"/>
                </a:solidFill>
                <a:latin typeface="Arial"/>
                <a:ea typeface="Arial"/>
                <a:cs typeface="Arial"/>
                <a:sym typeface="Arial"/>
              </a:rPr>
            </a:br>
            <a:br>
              <a:rPr b="0" i="0" lang="en-US" sz="1600" u="none" cap="none" strike="noStrike">
                <a:solidFill>
                  <a:schemeClr val="dk1"/>
                </a:solidFill>
                <a:latin typeface="Arial"/>
                <a:ea typeface="Arial"/>
                <a:cs typeface="Arial"/>
                <a:sym typeface="Arial"/>
              </a:rPr>
            </a:br>
            <a:r>
              <a:rPr b="0" i="0" lang="en-US" sz="1600" u="none" cap="none" strike="noStrike">
                <a:solidFill>
                  <a:schemeClr val="dk1"/>
                </a:solidFill>
                <a:latin typeface="Arial"/>
                <a:ea typeface="Arial"/>
                <a:cs typeface="Arial"/>
                <a:sym typeface="Arial"/>
              </a:rPr>
              <a:t> </a:t>
            </a:r>
            <a:r>
              <a:rPr b="0" i="0" lang="en-US" sz="1600" u="none" cap="none" strike="noStrike">
                <a:solidFill>
                  <a:srgbClr val="188038"/>
                </a:solidFill>
                <a:latin typeface="Roboto Mono"/>
                <a:ea typeface="Roboto Mono"/>
                <a:cs typeface="Roboto Mono"/>
                <a:sym typeface="Roboto Mono"/>
              </a:rPr>
              <a:t>int func(...);   // ❌ Illegal</a:t>
            </a:r>
            <a:endParaRPr b="0" i="0" sz="1600" u="none" cap="none" strike="noStrike">
              <a:solidFill>
                <a:srgbClr val="188038"/>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188038"/>
                </a:solidFill>
                <a:latin typeface="Roboto Mono"/>
                <a:ea typeface="Roboto Mono"/>
                <a:cs typeface="Roboto Mono"/>
                <a:sym typeface="Roboto Mono"/>
              </a:rPr>
              <a:t>int func(int x, ...); // ✅ Correct</a:t>
            </a:r>
            <a:endParaRPr b="0" i="0" sz="1600" u="none" cap="none" strike="noStrike">
              <a:solidFill>
                <a:srgbClr val="188038"/>
              </a:solidFill>
              <a:latin typeface="Roboto Mono"/>
              <a:ea typeface="Roboto Mono"/>
              <a:cs typeface="Roboto Mono"/>
              <a:sym typeface="Roboto Mono"/>
            </a:endParaRPr>
          </a:p>
          <a:p>
            <a:pPr indent="-330200" lvl="0" marL="457200" marR="0" rtl="0" algn="l">
              <a:lnSpc>
                <a:spcPct val="115000"/>
              </a:lnSpc>
              <a:spcBef>
                <a:spcPts val="1200"/>
              </a:spcBef>
              <a:spcAft>
                <a:spcPts val="0"/>
              </a:spcAft>
              <a:buClr>
                <a:schemeClr val="dk1"/>
              </a:buClr>
              <a:buSzPts val="1600"/>
              <a:buFont typeface="Arial"/>
              <a:buAutoNum type="arabicPeriod"/>
            </a:pPr>
            <a:r>
              <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To access the extra arguments, use </a:t>
            </a:r>
            <a:r>
              <a:rPr b="0" i="0" lang="en-US" sz="1600" u="none" cap="none" strike="noStrike">
                <a:solidFill>
                  <a:srgbClr val="188038"/>
                </a:solidFill>
                <a:latin typeface="Roboto Mono"/>
                <a:ea typeface="Roboto Mono"/>
                <a:cs typeface="Roboto Mono"/>
                <a:sym typeface="Roboto Mono"/>
              </a:rPr>
              <a:t>&lt;stdarg.h&gt;</a:t>
            </a:r>
            <a:r>
              <a:rPr b="0" i="0" lang="en-US" sz="1600" u="none" cap="none" strike="noStrike">
                <a:solidFill>
                  <a:schemeClr val="dk1"/>
                </a:solidFill>
                <a:latin typeface="Arial"/>
                <a:ea typeface="Arial"/>
                <a:cs typeface="Arial"/>
                <a:sym typeface="Arial"/>
              </a:rPr>
              <a:t> library:</a:t>
            </a:r>
            <a:br>
              <a:rPr b="0" i="0" lang="en-US" sz="1600" u="none" cap="none" strike="noStrike">
                <a:solidFill>
                  <a:schemeClr val="dk1"/>
                </a:solidFill>
                <a:latin typeface="Arial"/>
                <a:ea typeface="Arial"/>
                <a:cs typeface="Arial"/>
                <a:sym typeface="Arial"/>
              </a:rPr>
            </a:b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US" sz="1600" u="none" cap="none" strike="noStrike">
                <a:solidFill>
                  <a:srgbClr val="188038"/>
                </a:solidFill>
                <a:latin typeface="Roboto Mono"/>
                <a:ea typeface="Roboto Mono"/>
                <a:cs typeface="Roboto Mono"/>
                <a:sym typeface="Roboto Mono"/>
              </a:rPr>
              <a:t>va_list</a:t>
            </a:r>
            <a:r>
              <a:rPr b="0" i="0" lang="en-US" sz="1600" u="none" cap="none" strike="noStrike">
                <a:solidFill>
                  <a:schemeClr val="dk1"/>
                </a:solidFill>
                <a:latin typeface="Arial"/>
                <a:ea typeface="Arial"/>
                <a:cs typeface="Arial"/>
                <a:sym typeface="Arial"/>
              </a:rPr>
              <a:t> → declare argument list</a:t>
            </a:r>
            <a:br>
              <a:rPr b="0" i="0" lang="en-US" sz="1600" u="none" cap="none" strike="noStrike">
                <a:solidFill>
                  <a:schemeClr val="dk1"/>
                </a:solidFill>
                <a:latin typeface="Arial"/>
                <a:ea typeface="Arial"/>
                <a:cs typeface="Arial"/>
                <a:sym typeface="Arial"/>
              </a:rPr>
            </a:b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US" sz="1600" u="none" cap="none" strike="noStrike">
                <a:solidFill>
                  <a:srgbClr val="188038"/>
                </a:solidFill>
                <a:latin typeface="Roboto Mono"/>
                <a:ea typeface="Roboto Mono"/>
                <a:cs typeface="Roboto Mono"/>
                <a:sym typeface="Roboto Mono"/>
              </a:rPr>
              <a:t>va_start</a:t>
            </a:r>
            <a:r>
              <a:rPr b="0" i="0" lang="en-US" sz="1600" u="none" cap="none" strike="noStrike">
                <a:solidFill>
                  <a:schemeClr val="dk1"/>
                </a:solidFill>
                <a:latin typeface="Arial"/>
                <a:ea typeface="Arial"/>
                <a:cs typeface="Arial"/>
                <a:sym typeface="Arial"/>
              </a:rPr>
              <a:t> → initialize</a:t>
            </a:r>
            <a:br>
              <a:rPr b="0" i="0" lang="en-US" sz="1600" u="none" cap="none" strike="noStrike">
                <a:solidFill>
                  <a:schemeClr val="dk1"/>
                </a:solidFill>
                <a:latin typeface="Arial"/>
                <a:ea typeface="Arial"/>
                <a:cs typeface="Arial"/>
                <a:sym typeface="Arial"/>
              </a:rPr>
            </a:b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US" sz="1600" u="none" cap="none" strike="noStrike">
                <a:solidFill>
                  <a:srgbClr val="188038"/>
                </a:solidFill>
                <a:latin typeface="Roboto Mono"/>
                <a:ea typeface="Roboto Mono"/>
                <a:cs typeface="Roboto Mono"/>
                <a:sym typeface="Roboto Mono"/>
              </a:rPr>
              <a:t>va_arg</a:t>
            </a:r>
            <a:r>
              <a:rPr b="0" i="0" lang="en-US" sz="1600" u="none" cap="none" strike="noStrike">
                <a:solidFill>
                  <a:schemeClr val="dk1"/>
                </a:solidFill>
                <a:latin typeface="Arial"/>
                <a:ea typeface="Arial"/>
                <a:cs typeface="Arial"/>
                <a:sym typeface="Arial"/>
              </a:rPr>
              <a:t> → retrieve arguments</a:t>
            </a:r>
            <a:br>
              <a:rPr b="0" i="0" lang="en-US" sz="1600" u="none" cap="none" strike="noStrike">
                <a:solidFill>
                  <a:schemeClr val="dk1"/>
                </a:solidFill>
                <a:latin typeface="Arial"/>
                <a:ea typeface="Arial"/>
                <a:cs typeface="Arial"/>
                <a:sym typeface="Arial"/>
              </a:rPr>
            </a:b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US" sz="1600" u="none" cap="none" strike="noStrike">
                <a:solidFill>
                  <a:srgbClr val="188038"/>
                </a:solidFill>
                <a:latin typeface="Roboto Mono"/>
                <a:ea typeface="Roboto Mono"/>
                <a:cs typeface="Roboto Mono"/>
                <a:sym typeface="Roboto Mono"/>
              </a:rPr>
              <a:t>va_end</a:t>
            </a:r>
            <a:r>
              <a:rPr b="0" i="0" lang="en-US" sz="1600" u="none" cap="none" strike="noStrike">
                <a:solidFill>
                  <a:schemeClr val="dk1"/>
                </a:solidFill>
                <a:latin typeface="Arial"/>
                <a:ea typeface="Arial"/>
                <a:cs typeface="Arial"/>
                <a:sym typeface="Arial"/>
              </a:rPr>
              <a:t> → clean up</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79c1af9f7a_0_176"/>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923" name="Google Shape;923;g379c1af9f7a_0_176"/>
          <p:cNvGrpSpPr/>
          <p:nvPr/>
        </p:nvGrpSpPr>
        <p:grpSpPr>
          <a:xfrm>
            <a:off x="0" y="14654"/>
            <a:ext cx="12192000" cy="6858000"/>
            <a:chOff x="0" y="0"/>
            <a:chExt cx="12192000" cy="6858000"/>
          </a:xfrm>
        </p:grpSpPr>
        <p:pic>
          <p:nvPicPr>
            <p:cNvPr id="924" name="Google Shape;924;g379c1af9f7a_0_176"/>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925" name="Google Shape;925;g379c1af9f7a_0_176"/>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6" name="Google Shape;926;g379c1af9f7a_0_176"/>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27" name="Google Shape;927;g379c1af9f7a_0_176"/>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928" name="Google Shape;928;g379c1af9f7a_0_176"/>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29" name="Google Shape;929;g379c1af9f7a_0_176"/>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930" name="Google Shape;930;g379c1af9f7a_0_176"/>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931" name="Google Shape;931;g379c1af9f7a_0_176"/>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2" name="Google Shape;932;g379c1af9f7a_0_176"/>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3" name="Google Shape;933;g379c1af9f7a_0_176"/>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34" name="Google Shape;934;g379c1af9f7a_0_176"/>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935" name="Google Shape;935;g379c1af9f7a_0_176"/>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36" name="Google Shape;936;g379c1af9f7a_0_176"/>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937" name="Google Shape;937;g379c1af9f7a_0_176"/>
          <p:cNvSpPr txBox="1"/>
          <p:nvPr/>
        </p:nvSpPr>
        <p:spPr>
          <a:xfrm>
            <a:off x="1586825" y="255350"/>
            <a:ext cx="5180100" cy="74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FF0000"/>
                </a:solidFill>
                <a:latin typeface="Times New Roman"/>
                <a:ea typeface="Times New Roman"/>
                <a:cs typeface="Times New Roman"/>
                <a:sym typeface="Times New Roman"/>
              </a:rPr>
              <a:t>The ''Implicit int" Rule</a:t>
            </a:r>
            <a:endParaRPr b="1" i="0" sz="2550" u="none" cap="none" strike="noStrike">
              <a:solidFill>
                <a:srgbClr val="FF0000"/>
              </a:solidFill>
              <a:latin typeface="Times New Roman"/>
              <a:ea typeface="Times New Roman"/>
              <a:cs typeface="Times New Roman"/>
              <a:sym typeface="Times New Roman"/>
            </a:endParaRPr>
          </a:p>
        </p:txBody>
      </p:sp>
      <p:sp>
        <p:nvSpPr>
          <p:cNvPr id="938" name="Google Shape;938;g379c1af9f7a_0_176"/>
          <p:cNvSpPr txBox="1"/>
          <p:nvPr/>
        </p:nvSpPr>
        <p:spPr>
          <a:xfrm>
            <a:off x="1477400" y="1112600"/>
            <a:ext cx="10487700" cy="5453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US" sz="1900" u="none" cap="none" strike="noStrike">
                <a:solidFill>
                  <a:srgbClr val="FF0000"/>
                </a:solidFill>
                <a:latin typeface="Arial"/>
                <a:ea typeface="Arial"/>
                <a:cs typeface="Arial"/>
                <a:sym typeface="Arial"/>
              </a:rPr>
              <a:t>Definition</a:t>
            </a:r>
            <a:endParaRPr b="1" i="0" sz="1900" u="none" cap="none" strike="noStrike">
              <a:solidFill>
                <a:srgbClr val="FF0000"/>
              </a:solidFill>
              <a:latin typeface="Arial"/>
              <a:ea typeface="Arial"/>
              <a:cs typeface="Arial"/>
              <a:sym typeface="Arial"/>
            </a:endParaRPr>
          </a:p>
          <a:p>
            <a:pPr indent="-336550" lvl="0" marL="457200" marR="0" rtl="0" algn="l">
              <a:lnSpc>
                <a:spcPct val="115000"/>
              </a:lnSpc>
              <a:spcBef>
                <a:spcPts val="120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In early versions of C (C89), if no type was specified, the compiler </a:t>
            </a:r>
            <a:r>
              <a:rPr b="1" i="0" lang="en-US" sz="1700" u="none" cap="none" strike="noStrike">
                <a:solidFill>
                  <a:schemeClr val="dk1"/>
                </a:solidFill>
                <a:latin typeface="Arial"/>
                <a:ea typeface="Arial"/>
                <a:cs typeface="Arial"/>
                <a:sym typeface="Arial"/>
              </a:rPr>
              <a:t>assumed </a:t>
            </a:r>
            <a:r>
              <a:rPr b="1" i="0" lang="en-US" sz="1700" u="none" cap="none" strike="noStrike">
                <a:solidFill>
                  <a:srgbClr val="188038"/>
                </a:solidFill>
                <a:latin typeface="Roboto Mono"/>
                <a:ea typeface="Roboto Mono"/>
                <a:cs typeface="Roboto Mono"/>
                <a:sym typeface="Roboto Mono"/>
              </a:rPr>
              <a:t>int</a:t>
            </a:r>
            <a:r>
              <a:rPr b="0" i="0" lang="en-US" sz="1700" u="none" cap="none" strike="noStrike">
                <a:solidFill>
                  <a:schemeClr val="dk1"/>
                </a:solidFill>
                <a:latin typeface="Arial"/>
                <a:ea typeface="Arial"/>
                <a:cs typeface="Arial"/>
                <a:sym typeface="Arial"/>
              </a:rPr>
              <a:t>.</a:t>
            </a:r>
            <a:br>
              <a:rPr b="0" i="0" lang="en-US" sz="1700" u="none" cap="none" strike="noStrike">
                <a:solidFill>
                  <a:schemeClr val="dk1"/>
                </a:solidFill>
                <a:latin typeface="Arial"/>
                <a:ea typeface="Arial"/>
                <a:cs typeface="Arial"/>
                <a:sym typeface="Arial"/>
              </a:rPr>
            </a:br>
            <a:endParaRPr b="0" i="0" sz="1700" u="none" cap="none" strike="noStrike">
              <a:solidFill>
                <a:schemeClr val="dk1"/>
              </a:solidFill>
              <a:latin typeface="Arial"/>
              <a:ea typeface="Arial"/>
              <a:cs typeface="Arial"/>
              <a:sym typeface="Arial"/>
            </a:endParaRPr>
          </a:p>
          <a:p>
            <a:pPr indent="-336550" lvl="0" marL="457200" marR="0" rtl="0" algn="l">
              <a:lnSpc>
                <a:spcPct val="115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This is called the </a:t>
            </a:r>
            <a:r>
              <a:rPr b="1" i="0" lang="en-US" sz="1700" u="none" cap="none" strike="noStrike">
                <a:solidFill>
                  <a:schemeClr val="dk1"/>
                </a:solidFill>
                <a:latin typeface="Arial"/>
                <a:ea typeface="Arial"/>
                <a:cs typeface="Arial"/>
                <a:sym typeface="Arial"/>
              </a:rPr>
              <a:t>implicit int rule</a:t>
            </a:r>
            <a:r>
              <a:rPr b="0" i="0" lang="en-US" sz="1700" u="none" cap="none" strike="noStrike">
                <a:solidFill>
                  <a:schemeClr val="dk1"/>
                </a:solidFill>
                <a:latin typeface="Arial"/>
                <a:ea typeface="Arial"/>
                <a:cs typeface="Arial"/>
                <a:sym typeface="Arial"/>
              </a:rPr>
              <a:t> (or “default to int” rule).</a:t>
            </a:r>
            <a:br>
              <a:rPr b="0" i="0" lang="en-US" sz="1700" u="none" cap="none" strike="noStrike">
                <a:solidFill>
                  <a:schemeClr val="dk1"/>
                </a:solidFill>
                <a:latin typeface="Arial"/>
                <a:ea typeface="Arial"/>
                <a:cs typeface="Arial"/>
                <a:sym typeface="Arial"/>
              </a:rPr>
            </a:br>
            <a:endParaRPr b="0" i="0" sz="1700" u="none" cap="none" strike="noStrike">
              <a:solidFill>
                <a:schemeClr val="dk1"/>
              </a:solidFill>
              <a:latin typeface="Arial"/>
              <a:ea typeface="Arial"/>
              <a:cs typeface="Arial"/>
              <a:sym typeface="Arial"/>
            </a:endParaRPr>
          </a:p>
          <a:p>
            <a:pPr indent="-336550" lvl="0" marL="457200" marR="0" rtl="0" algn="l">
              <a:lnSpc>
                <a:spcPct val="115000"/>
              </a:lnSpc>
              <a:spcBef>
                <a:spcPts val="0"/>
              </a:spcBef>
              <a:spcAft>
                <a:spcPts val="0"/>
              </a:spcAft>
              <a:buClr>
                <a:schemeClr val="dk1"/>
              </a:buClr>
              <a:buSzPts val="1700"/>
              <a:buFont typeface="Arial"/>
              <a:buChar char="●"/>
            </a:pPr>
            <a:r>
              <a:rPr b="1" i="0" lang="en-US" sz="1700" u="none" cap="none" strike="noStrike">
                <a:solidFill>
                  <a:schemeClr val="dk1"/>
                </a:solidFill>
                <a:latin typeface="Arial"/>
                <a:ea typeface="Arial"/>
                <a:cs typeface="Arial"/>
                <a:sym typeface="Arial"/>
              </a:rPr>
              <a:t>Removed in C99 and not supported in C++</a:t>
            </a:r>
            <a:r>
              <a:rPr b="0" i="0" lang="en-US" sz="1700" u="none" cap="none" strike="noStrike">
                <a:solidFill>
                  <a:schemeClr val="dk1"/>
                </a:solidFill>
                <a:latin typeface="Arial"/>
                <a:ea typeface="Arial"/>
                <a:cs typeface="Arial"/>
                <a:sym typeface="Arial"/>
              </a:rPr>
              <a:t>.</a:t>
            </a:r>
            <a:br>
              <a:rPr b="0" i="0" lang="en-US" sz="1700" u="none" cap="none" strike="noStrike">
                <a:solidFill>
                  <a:schemeClr val="dk1"/>
                </a:solidFill>
                <a:latin typeface="Arial"/>
                <a:ea typeface="Arial"/>
                <a:cs typeface="Arial"/>
                <a:sym typeface="Arial"/>
              </a:rPr>
            </a:br>
            <a:endParaRPr b="0" i="0" sz="1700" u="none" cap="none" strike="noStrike">
              <a:solidFill>
                <a:schemeClr val="dk1"/>
              </a:solidFill>
              <a:latin typeface="Arial"/>
              <a:ea typeface="Arial"/>
              <a:cs typeface="Arial"/>
              <a:sym typeface="Arial"/>
            </a:endParaRPr>
          </a:p>
          <a:p>
            <a:pPr indent="-336550" lvl="0" marL="457200" marR="0" rtl="0" algn="l">
              <a:lnSpc>
                <a:spcPct val="115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Today, </a:t>
            </a:r>
            <a:r>
              <a:rPr b="1" i="0" lang="en-US" sz="1700" u="none" cap="none" strike="noStrike">
                <a:solidFill>
                  <a:schemeClr val="dk1"/>
                </a:solidFill>
                <a:latin typeface="Arial"/>
                <a:ea typeface="Arial"/>
                <a:cs typeface="Arial"/>
                <a:sym typeface="Arial"/>
              </a:rPr>
              <a:t>always explicitly specify types</a:t>
            </a:r>
            <a:r>
              <a:rPr b="0" i="0" lang="en-US" sz="1700" u="none" cap="none" strike="noStrike">
                <a:solidFill>
                  <a:schemeClr val="dk1"/>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g379c1af9f7a_0_199"/>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944" name="Google Shape;944;g379c1af9f7a_0_199"/>
          <p:cNvGrpSpPr/>
          <p:nvPr/>
        </p:nvGrpSpPr>
        <p:grpSpPr>
          <a:xfrm>
            <a:off x="0" y="14654"/>
            <a:ext cx="12192000" cy="6858000"/>
            <a:chOff x="0" y="0"/>
            <a:chExt cx="12192000" cy="6858000"/>
          </a:xfrm>
        </p:grpSpPr>
        <p:pic>
          <p:nvPicPr>
            <p:cNvPr id="945" name="Google Shape;945;g379c1af9f7a_0_199"/>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946" name="Google Shape;946;g379c1af9f7a_0_199"/>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7" name="Google Shape;947;g379c1af9f7a_0_199"/>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48" name="Google Shape;948;g379c1af9f7a_0_199"/>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949" name="Google Shape;949;g379c1af9f7a_0_199"/>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50" name="Google Shape;950;g379c1af9f7a_0_199"/>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951" name="Google Shape;951;g379c1af9f7a_0_199"/>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952" name="Google Shape;952;g379c1af9f7a_0_199"/>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3" name="Google Shape;953;g379c1af9f7a_0_199"/>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4" name="Google Shape;954;g379c1af9f7a_0_199"/>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55" name="Google Shape;955;g379c1af9f7a_0_199"/>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956" name="Google Shape;956;g379c1af9f7a_0_199"/>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57" name="Google Shape;957;g379c1af9f7a_0_199"/>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958" name="Google Shape;958;g379c1af9f7a_0_199"/>
          <p:cNvSpPr txBox="1"/>
          <p:nvPr/>
        </p:nvSpPr>
        <p:spPr>
          <a:xfrm>
            <a:off x="1641550" y="383025"/>
            <a:ext cx="7222800" cy="47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50"/>
              <a:buFont typeface="Arial"/>
              <a:buNone/>
            </a:pPr>
            <a:r>
              <a:t/>
            </a:r>
            <a:endParaRPr b="1" i="0" sz="2650" u="none" cap="none" strike="noStrike">
              <a:solidFill>
                <a:schemeClr val="dk1"/>
              </a:solidFill>
              <a:latin typeface="Times New Roman"/>
              <a:ea typeface="Times New Roman"/>
              <a:cs typeface="Times New Roman"/>
              <a:sym typeface="Times New Roman"/>
            </a:endParaRPr>
          </a:p>
        </p:txBody>
      </p:sp>
      <p:sp>
        <p:nvSpPr>
          <p:cNvPr id="959" name="Google Shape;959;g379c1af9f7a_0_199"/>
          <p:cNvSpPr txBox="1"/>
          <p:nvPr/>
        </p:nvSpPr>
        <p:spPr>
          <a:xfrm>
            <a:off x="1550350" y="1203800"/>
            <a:ext cx="10469400" cy="525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pic>
        <p:nvPicPr>
          <p:cNvPr id="960" name="Google Shape;960;g379c1af9f7a_0_199"/>
          <p:cNvPicPr preferRelativeResize="0"/>
          <p:nvPr/>
        </p:nvPicPr>
        <p:blipFill rotWithShape="1">
          <a:blip r:embed="rId9">
            <a:alphaModFix/>
          </a:blip>
          <a:srcRect b="0" l="0" r="0" t="0"/>
          <a:stretch/>
        </p:blipFill>
        <p:spPr>
          <a:xfrm>
            <a:off x="2015400" y="0"/>
            <a:ext cx="4386625" cy="4957750"/>
          </a:xfrm>
          <a:prstGeom prst="rect">
            <a:avLst/>
          </a:prstGeom>
          <a:noFill/>
          <a:ln>
            <a:noFill/>
          </a:ln>
        </p:spPr>
      </p:pic>
      <p:sp>
        <p:nvSpPr>
          <p:cNvPr id="961" name="Google Shape;961;g379c1af9f7a_0_199"/>
          <p:cNvSpPr txBox="1"/>
          <p:nvPr/>
        </p:nvSpPr>
        <p:spPr>
          <a:xfrm>
            <a:off x="7441650" y="1495625"/>
            <a:ext cx="4176900" cy="390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pic>
        <p:nvPicPr>
          <p:cNvPr id="962" name="Google Shape;962;g379c1af9f7a_0_199"/>
          <p:cNvPicPr preferRelativeResize="0"/>
          <p:nvPr/>
        </p:nvPicPr>
        <p:blipFill rotWithShape="1">
          <a:blip r:embed="rId10">
            <a:alphaModFix/>
          </a:blip>
          <a:srcRect b="0" l="0" r="0" t="0"/>
          <a:stretch/>
        </p:blipFill>
        <p:spPr>
          <a:xfrm>
            <a:off x="6738000" y="-38075"/>
            <a:ext cx="5454000" cy="50721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g383071ae8d3_0_476"/>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968" name="Google Shape;968;g383071ae8d3_0_476"/>
          <p:cNvGrpSpPr/>
          <p:nvPr/>
        </p:nvGrpSpPr>
        <p:grpSpPr>
          <a:xfrm>
            <a:off x="0" y="14654"/>
            <a:ext cx="12192000" cy="6858000"/>
            <a:chOff x="0" y="0"/>
            <a:chExt cx="12192000" cy="6858000"/>
          </a:xfrm>
        </p:grpSpPr>
        <p:pic>
          <p:nvPicPr>
            <p:cNvPr id="969" name="Google Shape;969;g383071ae8d3_0_476"/>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970" name="Google Shape;970;g383071ae8d3_0_476"/>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1" name="Google Shape;971;g383071ae8d3_0_476"/>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72" name="Google Shape;972;g383071ae8d3_0_476"/>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973" name="Google Shape;973;g383071ae8d3_0_476"/>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74" name="Google Shape;974;g383071ae8d3_0_476"/>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975" name="Google Shape;975;g383071ae8d3_0_476"/>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976" name="Google Shape;976;g383071ae8d3_0_476"/>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7" name="Google Shape;977;g383071ae8d3_0_476"/>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8" name="Google Shape;978;g383071ae8d3_0_476"/>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79" name="Google Shape;979;g383071ae8d3_0_476"/>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980" name="Google Shape;980;g383071ae8d3_0_476"/>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81" name="Google Shape;981;g383071ae8d3_0_476"/>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982" name="Google Shape;982;g383071ae8d3_0_476"/>
          <p:cNvSpPr txBox="1"/>
          <p:nvPr/>
        </p:nvSpPr>
        <p:spPr>
          <a:xfrm>
            <a:off x="1586825" y="255350"/>
            <a:ext cx="7678800" cy="98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rPr b="0" i="0" lang="en-US" sz="2050" u="none" cap="none" strike="noStrike">
                <a:solidFill>
                  <a:schemeClr val="dk1"/>
                </a:solidFill>
                <a:latin typeface="Times New Roman"/>
                <a:ea typeface="Times New Roman"/>
                <a:cs typeface="Times New Roman"/>
                <a:sym typeface="Times New Roman"/>
              </a:rPr>
              <a:t> </a:t>
            </a:r>
            <a:r>
              <a:rPr b="1" i="0" lang="en-US" sz="2450" u="none" cap="none" strike="noStrike">
                <a:solidFill>
                  <a:srgbClr val="FF0000"/>
                </a:solidFill>
                <a:latin typeface="Times New Roman"/>
                <a:ea typeface="Times New Roman"/>
                <a:cs typeface="Times New Roman"/>
                <a:sym typeface="Times New Roman"/>
              </a:rPr>
              <a:t>Old-Style vs. Modern Function Parameter Declarations</a:t>
            </a:r>
            <a:endParaRPr b="1" i="0" sz="2450" u="none" cap="none" strike="noStrike">
              <a:solidFill>
                <a:srgbClr val="FF0000"/>
              </a:solidFill>
              <a:latin typeface="Times New Roman"/>
              <a:ea typeface="Times New Roman"/>
              <a:cs typeface="Times New Roman"/>
              <a:sym typeface="Times New Roman"/>
            </a:endParaRPr>
          </a:p>
        </p:txBody>
      </p:sp>
      <p:sp>
        <p:nvSpPr>
          <p:cNvPr id="983" name="Google Shape;983;g383071ae8d3_0_476"/>
          <p:cNvSpPr txBox="1"/>
          <p:nvPr/>
        </p:nvSpPr>
        <p:spPr>
          <a:xfrm>
            <a:off x="1623300" y="1149075"/>
            <a:ext cx="9685200" cy="552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rPr b="0" i="0" lang="en-US" sz="2050" u="none" cap="none" strike="noStrike">
                <a:solidFill>
                  <a:schemeClr val="dk1"/>
                </a:solidFill>
                <a:latin typeface="Times New Roman"/>
                <a:ea typeface="Times New Roman"/>
                <a:cs typeface="Times New Roman"/>
                <a:sym typeface="Times New Roman"/>
              </a:rPr>
              <a:t> The old-style function parameter declaration consists of two parts: a parameter list, which goes inside the parentheses that follow the function name, and the actual parameter declarations, which go between the closing parentheses and the function's opening curly brace. The general form of the old-style parameter definition is type func_name(parm1, parm2, . . . parmN) type parm1; type parm2; . . . type parmN; { function code }</a:t>
            </a:r>
            <a:endParaRPr b="0" i="0" sz="2050" u="none" cap="none" strike="noStrike">
              <a:solidFill>
                <a:schemeClr val="dk1"/>
              </a:solidFill>
              <a:latin typeface="Times New Roman"/>
              <a:ea typeface="Times New Roman"/>
              <a:cs typeface="Times New Roman"/>
              <a:sym typeface="Times New Roman"/>
            </a:endParaRPr>
          </a:p>
        </p:txBody>
      </p:sp>
      <p:pic>
        <p:nvPicPr>
          <p:cNvPr id="984" name="Google Shape;984;g383071ae8d3_0_476"/>
          <p:cNvPicPr preferRelativeResize="0"/>
          <p:nvPr/>
        </p:nvPicPr>
        <p:blipFill rotWithShape="1">
          <a:blip r:embed="rId9">
            <a:alphaModFix/>
          </a:blip>
          <a:srcRect b="0" l="0" r="0" t="0"/>
          <a:stretch/>
        </p:blipFill>
        <p:spPr>
          <a:xfrm>
            <a:off x="1331475" y="3210125"/>
            <a:ext cx="5781875" cy="2152250"/>
          </a:xfrm>
          <a:prstGeom prst="rect">
            <a:avLst/>
          </a:prstGeom>
          <a:noFill/>
          <a:ln>
            <a:noFill/>
          </a:ln>
        </p:spPr>
      </p:pic>
      <p:sp>
        <p:nvSpPr>
          <p:cNvPr id="985" name="Google Shape;985;g383071ae8d3_0_476"/>
          <p:cNvSpPr txBox="1"/>
          <p:nvPr/>
        </p:nvSpPr>
        <p:spPr>
          <a:xfrm>
            <a:off x="7614000" y="3963425"/>
            <a:ext cx="4578000" cy="162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pic>
        <p:nvPicPr>
          <p:cNvPr id="986" name="Google Shape;986;g383071ae8d3_0_476"/>
          <p:cNvPicPr preferRelativeResize="0"/>
          <p:nvPr/>
        </p:nvPicPr>
        <p:blipFill rotWithShape="1">
          <a:blip r:embed="rId10">
            <a:alphaModFix/>
          </a:blip>
          <a:srcRect b="0" l="0" r="0" t="0"/>
          <a:stretch/>
        </p:blipFill>
        <p:spPr>
          <a:xfrm>
            <a:off x="6639125" y="3263250"/>
            <a:ext cx="5161750" cy="19896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g379c1af9f7a_0_32"/>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992" name="Google Shape;992;g379c1af9f7a_0_32"/>
          <p:cNvGrpSpPr/>
          <p:nvPr/>
        </p:nvGrpSpPr>
        <p:grpSpPr>
          <a:xfrm>
            <a:off x="0" y="14654"/>
            <a:ext cx="12192000" cy="6858000"/>
            <a:chOff x="0" y="0"/>
            <a:chExt cx="12192000" cy="6858000"/>
          </a:xfrm>
        </p:grpSpPr>
        <p:pic>
          <p:nvPicPr>
            <p:cNvPr id="993" name="Google Shape;993;g379c1af9f7a_0_32"/>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994" name="Google Shape;994;g379c1af9f7a_0_32"/>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2"/>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5" name="Google Shape;995;g379c1af9f7a_0_32"/>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96" name="Google Shape;996;g379c1af9f7a_0_32"/>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997" name="Google Shape;997;g379c1af9f7a_0_32"/>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998" name="Google Shape;998;g379c1af9f7a_0_32"/>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999" name="Google Shape;999;g379c1af9f7a_0_32"/>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1000" name="Google Shape;1000;g379c1af9f7a_0_32"/>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1" name="Google Shape;1001;g379c1af9f7a_0_32"/>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2" name="Google Shape;1002;g379c1af9f7a_0_32"/>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03" name="Google Shape;1003;g379c1af9f7a_0_32"/>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1004" name="Google Shape;1004;g379c1af9f7a_0_32"/>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05" name="Google Shape;1005;g379c1af9f7a_0_32"/>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1006" name="Google Shape;1006;g379c1af9f7a_0_32"/>
          <p:cNvSpPr txBox="1"/>
          <p:nvPr/>
        </p:nvSpPr>
        <p:spPr>
          <a:xfrm>
            <a:off x="1404425" y="1222025"/>
            <a:ext cx="10524000" cy="230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r>
              <a:rPr b="0" i="0" lang="en-US" sz="2300" u="none" cap="none" strike="noStrike">
                <a:solidFill>
                  <a:srgbClr val="000000"/>
                </a:solidFill>
                <a:latin typeface="Arial"/>
                <a:ea typeface="Arial"/>
                <a:cs typeface="Arial"/>
                <a:sym typeface="Arial"/>
              </a:rPr>
              <a:t>The inline Keyword C99 has added the keyword inline, which applies to functions. It is described fully in Part Two, but a brief description is given here. By preceding a function declaration with inline, you are telling the compiler to optimize calls to the function. Typically, this means that the function's code will be expanded in line, rather than called. However, inline is only a request to the compiler, and can be ignored.</a:t>
            </a:r>
            <a:endParaRPr b="0" i="0" sz="2300" u="none" cap="none" strike="noStrike">
              <a:solidFill>
                <a:srgbClr val="000000"/>
              </a:solidFill>
              <a:latin typeface="Arial"/>
              <a:ea typeface="Arial"/>
              <a:cs typeface="Arial"/>
              <a:sym typeface="Arial"/>
            </a:endParaRPr>
          </a:p>
        </p:txBody>
      </p:sp>
      <p:sp>
        <p:nvSpPr>
          <p:cNvPr id="1007" name="Google Shape;1007;g379c1af9f7a_0_32"/>
          <p:cNvSpPr txBox="1"/>
          <p:nvPr/>
        </p:nvSpPr>
        <p:spPr>
          <a:xfrm>
            <a:off x="1586825" y="401275"/>
            <a:ext cx="8773200" cy="82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50"/>
              <a:buFont typeface="Arial"/>
              <a:buNone/>
            </a:pPr>
            <a:r>
              <a:rPr b="1" i="0" lang="en-US" sz="3050" u="none" cap="none" strike="noStrike">
                <a:solidFill>
                  <a:srgbClr val="FF0000"/>
                </a:solidFill>
                <a:latin typeface="Times New Roman"/>
                <a:ea typeface="Times New Roman"/>
                <a:cs typeface="Times New Roman"/>
                <a:sym typeface="Times New Roman"/>
              </a:rPr>
              <a:t>The Inline Keyword</a:t>
            </a:r>
            <a:endParaRPr b="1" i="0" sz="3050" u="none" cap="none" strike="noStrike">
              <a:solidFill>
                <a:srgbClr val="FF0000"/>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7a158a6f9e_0_165"/>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1013" name="Google Shape;1013;g37a158a6f9e_0_165"/>
          <p:cNvGrpSpPr/>
          <p:nvPr/>
        </p:nvGrpSpPr>
        <p:grpSpPr>
          <a:xfrm>
            <a:off x="0" y="14654"/>
            <a:ext cx="12192000" cy="6858000"/>
            <a:chOff x="0" y="0"/>
            <a:chExt cx="12192000" cy="6858000"/>
          </a:xfrm>
        </p:grpSpPr>
        <p:pic>
          <p:nvPicPr>
            <p:cNvPr id="1014" name="Google Shape;1014;g37a158a6f9e_0_165"/>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1015" name="Google Shape;1015;g37a158a6f9e_0_165"/>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6" name="Google Shape;1016;g37a158a6f9e_0_165"/>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17" name="Google Shape;1017;g37a158a6f9e_0_165"/>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1018" name="Google Shape;1018;g37a158a6f9e_0_165"/>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19" name="Google Shape;1019;g37a158a6f9e_0_165"/>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1020" name="Google Shape;1020;g37a158a6f9e_0_165"/>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1021" name="Google Shape;1021;g37a158a6f9e_0_165"/>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2" name="Google Shape;1022;g37a158a6f9e_0_165"/>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3" name="Google Shape;1023;g37a158a6f9e_0_165"/>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24" name="Google Shape;1024;g37a158a6f9e_0_165"/>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1025" name="Google Shape;1025;g37a158a6f9e_0_165"/>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26" name="Google Shape;1026;g37a158a6f9e_0_165"/>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1027" name="Google Shape;1027;g37a158a6f9e_0_165"/>
          <p:cNvSpPr txBox="1"/>
          <p:nvPr/>
        </p:nvSpPr>
        <p:spPr>
          <a:xfrm>
            <a:off x="1641550" y="383025"/>
            <a:ext cx="7222800" cy="47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50"/>
              <a:buFont typeface="Arial"/>
              <a:buNone/>
            </a:pPr>
            <a:r>
              <a:t/>
            </a:r>
            <a:endParaRPr b="1" i="0" sz="2650" u="none" cap="none" strike="noStrike">
              <a:solidFill>
                <a:schemeClr val="dk1"/>
              </a:solidFill>
              <a:latin typeface="Times New Roman"/>
              <a:ea typeface="Times New Roman"/>
              <a:cs typeface="Times New Roman"/>
              <a:sym typeface="Times New Roman"/>
            </a:endParaRPr>
          </a:p>
        </p:txBody>
      </p:sp>
      <p:sp>
        <p:nvSpPr>
          <p:cNvPr id="1028" name="Google Shape;1028;g37a158a6f9e_0_165"/>
          <p:cNvSpPr txBox="1"/>
          <p:nvPr/>
        </p:nvSpPr>
        <p:spPr>
          <a:xfrm>
            <a:off x="1550350" y="1203800"/>
            <a:ext cx="10469400" cy="525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rPr lang="en-US" sz="2050">
                <a:solidFill>
                  <a:schemeClr val="dk1"/>
                </a:solidFill>
                <a:latin typeface="Times New Roman"/>
                <a:ea typeface="Times New Roman"/>
                <a:cs typeface="Times New Roman"/>
                <a:sym typeface="Times New Roman"/>
              </a:rPr>
              <a:t>                                  </a:t>
            </a:r>
            <a:r>
              <a:rPr lang="en-US" sz="5650">
                <a:solidFill>
                  <a:schemeClr val="dk1"/>
                </a:solidFill>
                <a:latin typeface="Times New Roman"/>
                <a:ea typeface="Times New Roman"/>
                <a:cs typeface="Times New Roman"/>
                <a:sym typeface="Times New Roman"/>
              </a:rPr>
              <a:t>THANK YOU</a:t>
            </a:r>
            <a:endParaRPr b="0" i="0" sz="5650" u="none" cap="none" strike="noStrike">
              <a:solidFill>
                <a:schemeClr val="dk1"/>
              </a:solidFill>
              <a:latin typeface="Times New Roman"/>
              <a:ea typeface="Times New Roman"/>
              <a:cs typeface="Times New Roman"/>
              <a:sym typeface="Times New Roman"/>
            </a:endParaRPr>
          </a:p>
        </p:txBody>
      </p:sp>
      <p:sp>
        <p:nvSpPr>
          <p:cNvPr id="1029" name="Google Shape;1029;g37a158a6f9e_0_165"/>
          <p:cNvSpPr txBox="1"/>
          <p:nvPr/>
        </p:nvSpPr>
        <p:spPr>
          <a:xfrm>
            <a:off x="7441650" y="1495625"/>
            <a:ext cx="4176900" cy="390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g37a158a6f9e_0_188"/>
          <p:cNvSpPr txBox="1"/>
          <p:nvPr>
            <p:ph idx="1" type="body"/>
          </p:nvPr>
        </p:nvSpPr>
        <p:spPr>
          <a:xfrm>
            <a:off x="512253" y="2218551"/>
            <a:ext cx="5454000" cy="3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t/>
            </a:r>
            <a:endParaRPr/>
          </a:p>
        </p:txBody>
      </p:sp>
      <p:grpSp>
        <p:nvGrpSpPr>
          <p:cNvPr id="1035" name="Google Shape;1035;g37a158a6f9e_0_188"/>
          <p:cNvGrpSpPr/>
          <p:nvPr/>
        </p:nvGrpSpPr>
        <p:grpSpPr>
          <a:xfrm>
            <a:off x="0" y="14654"/>
            <a:ext cx="12192000" cy="6858000"/>
            <a:chOff x="0" y="0"/>
            <a:chExt cx="12192000" cy="6858000"/>
          </a:xfrm>
        </p:grpSpPr>
        <p:pic>
          <p:nvPicPr>
            <p:cNvPr id="1036" name="Google Shape;1036;g37a158a6f9e_0_188"/>
            <p:cNvPicPr preferRelativeResize="0"/>
            <p:nvPr/>
          </p:nvPicPr>
          <p:blipFill rotWithShape="1">
            <a:blip r:embed="rId3">
              <a:alphaModFix/>
            </a:blip>
            <a:srcRect b="0" l="0" r="0" t="0"/>
            <a:stretch/>
          </p:blipFill>
          <p:spPr>
            <a:xfrm>
              <a:off x="0" y="0"/>
              <a:ext cx="12192000" cy="6857997"/>
            </a:xfrm>
            <a:prstGeom prst="rect">
              <a:avLst/>
            </a:prstGeom>
            <a:noFill/>
            <a:ln>
              <a:noFill/>
            </a:ln>
          </p:spPr>
        </p:pic>
        <p:sp>
          <p:nvSpPr>
            <p:cNvPr id="1037" name="Google Shape;1037;g37a158a6f9e_0_188"/>
            <p:cNvSpPr/>
            <p:nvPr/>
          </p:nvSpPr>
          <p:spPr>
            <a:xfrm>
              <a:off x="5713" y="5713"/>
              <a:ext cx="1093470" cy="819150"/>
            </a:xfrm>
            <a:custGeom>
              <a:rect b="b" l="l" r="r" t="t"/>
              <a:pathLst>
                <a:path extrusionOk="0" h="819150" w="1093470">
                  <a:moveTo>
                    <a:pt x="1093469" y="0"/>
                  </a:moveTo>
                  <a:lnTo>
                    <a:pt x="0" y="0"/>
                  </a:lnTo>
                  <a:lnTo>
                    <a:pt x="0" y="819148"/>
                  </a:lnTo>
                  <a:lnTo>
                    <a:pt x="54610" y="817878"/>
                  </a:lnTo>
                  <a:lnTo>
                    <a:pt x="108585" y="815338"/>
                  </a:lnTo>
                  <a:lnTo>
                    <a:pt x="161925" y="810258"/>
                  </a:lnTo>
                  <a:lnTo>
                    <a:pt x="213995" y="803273"/>
                  </a:lnTo>
                  <a:lnTo>
                    <a:pt x="265430" y="795018"/>
                  </a:lnTo>
                  <a:lnTo>
                    <a:pt x="316230" y="784223"/>
                  </a:lnTo>
                  <a:lnTo>
                    <a:pt x="365760" y="772158"/>
                  </a:lnTo>
                  <a:lnTo>
                    <a:pt x="414019" y="758188"/>
                  </a:lnTo>
                  <a:lnTo>
                    <a:pt x="461009" y="742948"/>
                  </a:lnTo>
                  <a:lnTo>
                    <a:pt x="507364" y="725803"/>
                  </a:lnTo>
                  <a:lnTo>
                    <a:pt x="552450" y="707388"/>
                  </a:lnTo>
                  <a:lnTo>
                    <a:pt x="595630" y="687068"/>
                  </a:lnTo>
                  <a:lnTo>
                    <a:pt x="637540" y="665478"/>
                  </a:lnTo>
                  <a:lnTo>
                    <a:pt x="678180" y="642618"/>
                  </a:lnTo>
                  <a:lnTo>
                    <a:pt x="717550" y="618488"/>
                  </a:lnTo>
                  <a:lnTo>
                    <a:pt x="755015" y="592453"/>
                  </a:lnTo>
                  <a:lnTo>
                    <a:pt x="791210" y="565783"/>
                  </a:lnTo>
                  <a:lnTo>
                    <a:pt x="825500" y="537208"/>
                  </a:lnTo>
                  <a:lnTo>
                    <a:pt x="857885" y="507998"/>
                  </a:lnTo>
                  <a:lnTo>
                    <a:pt x="889000" y="477518"/>
                  </a:lnTo>
                  <a:lnTo>
                    <a:pt x="917575" y="445768"/>
                  </a:lnTo>
                  <a:lnTo>
                    <a:pt x="944244" y="413383"/>
                  </a:lnTo>
                  <a:lnTo>
                    <a:pt x="969010" y="379728"/>
                  </a:lnTo>
                  <a:lnTo>
                    <a:pt x="991869" y="345438"/>
                  </a:lnTo>
                  <a:lnTo>
                    <a:pt x="1012825" y="309878"/>
                  </a:lnTo>
                  <a:lnTo>
                    <a:pt x="1031240" y="273683"/>
                  </a:lnTo>
                  <a:lnTo>
                    <a:pt x="1047115" y="236218"/>
                  </a:lnTo>
                  <a:lnTo>
                    <a:pt x="1061085" y="198753"/>
                  </a:lnTo>
                  <a:lnTo>
                    <a:pt x="1072515" y="160018"/>
                  </a:lnTo>
                  <a:lnTo>
                    <a:pt x="1082040" y="120650"/>
                  </a:lnTo>
                  <a:lnTo>
                    <a:pt x="1088390" y="81278"/>
                  </a:lnTo>
                  <a:lnTo>
                    <a:pt x="1092200" y="40638"/>
                  </a:lnTo>
                  <a:lnTo>
                    <a:pt x="1093469" y="0"/>
                  </a:lnTo>
                  <a:close/>
                </a:path>
              </a:pathLst>
            </a:custGeom>
            <a:solidFill>
              <a:srgbClr val="FFFFEC">
                <a:alpha val="3137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8" name="Google Shape;1038;g37a158a6f9e_0_188"/>
            <p:cNvSpPr/>
            <p:nvPr/>
          </p:nvSpPr>
          <p:spPr>
            <a:xfrm>
              <a:off x="7619" y="7620"/>
              <a:ext cx="1094105" cy="819150"/>
            </a:xfrm>
            <a:custGeom>
              <a:rect b="b" l="l" r="r" t="t"/>
              <a:pathLst>
                <a:path extrusionOk="0" h="819150" w="1094105">
                  <a:moveTo>
                    <a:pt x="1094105" y="0"/>
                  </a:moveTo>
                  <a:lnTo>
                    <a:pt x="1092835" y="40638"/>
                  </a:lnTo>
                  <a:lnTo>
                    <a:pt x="1088390" y="81278"/>
                  </a:lnTo>
                  <a:lnTo>
                    <a:pt x="1082040" y="121283"/>
                  </a:lnTo>
                  <a:lnTo>
                    <a:pt x="1073150" y="160020"/>
                  </a:lnTo>
                  <a:lnTo>
                    <a:pt x="1061720" y="198753"/>
                  </a:lnTo>
                  <a:lnTo>
                    <a:pt x="1047750" y="236853"/>
                  </a:lnTo>
                  <a:lnTo>
                    <a:pt x="1031240" y="273683"/>
                  </a:lnTo>
                  <a:lnTo>
                    <a:pt x="1012825" y="309878"/>
                  </a:lnTo>
                  <a:lnTo>
                    <a:pt x="992505" y="345438"/>
                  </a:lnTo>
                  <a:lnTo>
                    <a:pt x="969644" y="379728"/>
                  </a:lnTo>
                  <a:lnTo>
                    <a:pt x="944880" y="413383"/>
                  </a:lnTo>
                  <a:lnTo>
                    <a:pt x="917575" y="446403"/>
                  </a:lnTo>
                  <a:lnTo>
                    <a:pt x="889000" y="477518"/>
                  </a:lnTo>
                  <a:lnTo>
                    <a:pt x="858519" y="508000"/>
                  </a:lnTo>
                  <a:lnTo>
                    <a:pt x="825500" y="537843"/>
                  </a:lnTo>
                  <a:lnTo>
                    <a:pt x="791210" y="565783"/>
                  </a:lnTo>
                  <a:lnTo>
                    <a:pt x="755650" y="592453"/>
                  </a:lnTo>
                  <a:lnTo>
                    <a:pt x="718185" y="618488"/>
                  </a:lnTo>
                  <a:lnTo>
                    <a:pt x="678815" y="642618"/>
                  </a:lnTo>
                  <a:lnTo>
                    <a:pt x="638175" y="666113"/>
                  </a:lnTo>
                  <a:lnTo>
                    <a:pt x="595630" y="687703"/>
                  </a:lnTo>
                  <a:lnTo>
                    <a:pt x="552450" y="707388"/>
                  </a:lnTo>
                  <a:lnTo>
                    <a:pt x="507363" y="726438"/>
                  </a:lnTo>
                  <a:lnTo>
                    <a:pt x="461645" y="742950"/>
                  </a:lnTo>
                  <a:lnTo>
                    <a:pt x="414020" y="758825"/>
                  </a:lnTo>
                  <a:lnTo>
                    <a:pt x="365758" y="772793"/>
                  </a:lnTo>
                  <a:lnTo>
                    <a:pt x="316230" y="784858"/>
                  </a:lnTo>
                  <a:lnTo>
                    <a:pt x="266065" y="795018"/>
                  </a:lnTo>
                  <a:lnTo>
                    <a:pt x="214628" y="803908"/>
                  </a:lnTo>
                  <a:lnTo>
                    <a:pt x="161925" y="810258"/>
                  </a:lnTo>
                  <a:lnTo>
                    <a:pt x="109220" y="815338"/>
                  </a:lnTo>
                  <a:lnTo>
                    <a:pt x="55244" y="818513"/>
                  </a:lnTo>
                  <a:lnTo>
                    <a:pt x="635" y="819150"/>
                  </a:lnTo>
                  <a:lnTo>
                    <a:pt x="0" y="819150"/>
                  </a:lnTo>
                  <a:lnTo>
                    <a:pt x="635" y="0"/>
                  </a:lnTo>
                  <a:lnTo>
                    <a:pt x="1094105" y="0"/>
                  </a:lnTo>
                  <a:close/>
                </a:path>
              </a:pathLst>
            </a:custGeom>
            <a:noFill/>
            <a:ln cap="flat" cmpd="sng" w="9525">
              <a:solidFill>
                <a:srgbClr val="EBE79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39" name="Google Shape;1039;g37a158a6f9e_0_188"/>
            <p:cNvPicPr preferRelativeResize="0"/>
            <p:nvPr/>
          </p:nvPicPr>
          <p:blipFill rotWithShape="1">
            <a:blip r:embed="rId4">
              <a:alphaModFix/>
            </a:blip>
            <a:srcRect b="0" l="0" r="0" t="0"/>
            <a:stretch/>
          </p:blipFill>
          <p:spPr>
            <a:xfrm>
              <a:off x="182878" y="2540"/>
              <a:ext cx="2350135" cy="1783078"/>
            </a:xfrm>
            <a:prstGeom prst="rect">
              <a:avLst/>
            </a:prstGeom>
            <a:noFill/>
            <a:ln>
              <a:noFill/>
            </a:ln>
          </p:spPr>
        </p:pic>
        <p:sp>
          <p:nvSpPr>
            <p:cNvPr id="1040" name="Google Shape;1040;g37a158a6f9e_0_188"/>
            <p:cNvSpPr/>
            <p:nvPr/>
          </p:nvSpPr>
          <p:spPr>
            <a:xfrm>
              <a:off x="226694" y="22858"/>
              <a:ext cx="2270125" cy="1703705"/>
            </a:xfrm>
            <a:custGeom>
              <a:rect b="b" l="l" r="r" t="t"/>
              <a:pathLst>
                <a:path extrusionOk="0" h="1703705" w="2270125">
                  <a:moveTo>
                    <a:pt x="0" y="851535"/>
                  </a:moveTo>
                  <a:lnTo>
                    <a:pt x="1269" y="810260"/>
                  </a:lnTo>
                  <a:lnTo>
                    <a:pt x="5079" y="769620"/>
                  </a:lnTo>
                  <a:lnTo>
                    <a:pt x="11429" y="729615"/>
                  </a:lnTo>
                  <a:lnTo>
                    <a:pt x="20318" y="689610"/>
                  </a:lnTo>
                  <a:lnTo>
                    <a:pt x="31750" y="650875"/>
                  </a:lnTo>
                  <a:lnTo>
                    <a:pt x="45083" y="612775"/>
                  </a:lnTo>
                  <a:lnTo>
                    <a:pt x="60959" y="575310"/>
                  </a:lnTo>
                  <a:lnTo>
                    <a:pt x="79375" y="538480"/>
                  </a:lnTo>
                  <a:lnTo>
                    <a:pt x="99059" y="502285"/>
                  </a:lnTo>
                  <a:lnTo>
                    <a:pt x="121918" y="467359"/>
                  </a:lnTo>
                  <a:lnTo>
                    <a:pt x="146050" y="433070"/>
                  </a:lnTo>
                  <a:lnTo>
                    <a:pt x="172718" y="400050"/>
                  </a:lnTo>
                  <a:lnTo>
                    <a:pt x="200658" y="367665"/>
                  </a:lnTo>
                  <a:lnTo>
                    <a:pt x="231138" y="336550"/>
                  </a:lnTo>
                  <a:lnTo>
                    <a:pt x="262888" y="306070"/>
                  </a:lnTo>
                  <a:lnTo>
                    <a:pt x="296545" y="277495"/>
                  </a:lnTo>
                  <a:lnTo>
                    <a:pt x="332105" y="249554"/>
                  </a:lnTo>
                  <a:lnTo>
                    <a:pt x="369570" y="222885"/>
                  </a:lnTo>
                  <a:lnTo>
                    <a:pt x="407670" y="197485"/>
                  </a:lnTo>
                  <a:lnTo>
                    <a:pt x="448308" y="173355"/>
                  </a:lnTo>
                  <a:lnTo>
                    <a:pt x="489583" y="151130"/>
                  </a:lnTo>
                  <a:lnTo>
                    <a:pt x="532765" y="129539"/>
                  </a:lnTo>
                  <a:lnTo>
                    <a:pt x="576580" y="109855"/>
                  </a:lnTo>
                  <a:lnTo>
                    <a:pt x="622298" y="91440"/>
                  </a:lnTo>
                  <a:lnTo>
                    <a:pt x="669290" y="74930"/>
                  </a:lnTo>
                  <a:lnTo>
                    <a:pt x="716915" y="59690"/>
                  </a:lnTo>
                  <a:lnTo>
                    <a:pt x="766445" y="45720"/>
                  </a:lnTo>
                  <a:lnTo>
                    <a:pt x="815975" y="34290"/>
                  </a:lnTo>
                  <a:lnTo>
                    <a:pt x="867410" y="23495"/>
                  </a:lnTo>
                  <a:lnTo>
                    <a:pt x="919480" y="15240"/>
                  </a:lnTo>
                  <a:lnTo>
                    <a:pt x="972185" y="8890"/>
                  </a:lnTo>
                  <a:lnTo>
                    <a:pt x="1025525" y="3810"/>
                  </a:lnTo>
                  <a:lnTo>
                    <a:pt x="1080135" y="1270"/>
                  </a:lnTo>
                  <a:lnTo>
                    <a:pt x="1134745" y="0"/>
                  </a:lnTo>
                  <a:lnTo>
                    <a:pt x="1189988" y="1270"/>
                  </a:lnTo>
                  <a:lnTo>
                    <a:pt x="1243963" y="3810"/>
                  </a:lnTo>
                  <a:lnTo>
                    <a:pt x="1297938" y="8890"/>
                  </a:lnTo>
                  <a:lnTo>
                    <a:pt x="1350645" y="15240"/>
                  </a:lnTo>
                  <a:lnTo>
                    <a:pt x="1402715" y="23495"/>
                  </a:lnTo>
                  <a:lnTo>
                    <a:pt x="1453515" y="34290"/>
                  </a:lnTo>
                  <a:lnTo>
                    <a:pt x="1503680" y="45720"/>
                  </a:lnTo>
                  <a:lnTo>
                    <a:pt x="1552575" y="59690"/>
                  </a:lnTo>
                  <a:lnTo>
                    <a:pt x="1600835" y="74930"/>
                  </a:lnTo>
                  <a:lnTo>
                    <a:pt x="1647189" y="91440"/>
                  </a:lnTo>
                  <a:lnTo>
                    <a:pt x="1692910" y="109855"/>
                  </a:lnTo>
                  <a:lnTo>
                    <a:pt x="1737360" y="129539"/>
                  </a:lnTo>
                  <a:lnTo>
                    <a:pt x="1779905" y="151130"/>
                  </a:lnTo>
                  <a:lnTo>
                    <a:pt x="1821814" y="173355"/>
                  </a:lnTo>
                  <a:lnTo>
                    <a:pt x="1861820" y="197485"/>
                  </a:lnTo>
                  <a:lnTo>
                    <a:pt x="1900555" y="222885"/>
                  </a:lnTo>
                  <a:lnTo>
                    <a:pt x="1937385" y="249554"/>
                  </a:lnTo>
                  <a:lnTo>
                    <a:pt x="1972945" y="277495"/>
                  </a:lnTo>
                  <a:lnTo>
                    <a:pt x="2006600" y="306070"/>
                  </a:lnTo>
                  <a:lnTo>
                    <a:pt x="2038985" y="336550"/>
                  </a:lnTo>
                  <a:lnTo>
                    <a:pt x="2068830" y="367665"/>
                  </a:lnTo>
                  <a:lnTo>
                    <a:pt x="2097405" y="400050"/>
                  </a:lnTo>
                  <a:lnTo>
                    <a:pt x="2123440" y="433070"/>
                  </a:lnTo>
                  <a:lnTo>
                    <a:pt x="2148205" y="467359"/>
                  </a:lnTo>
                  <a:lnTo>
                    <a:pt x="2170430" y="502285"/>
                  </a:lnTo>
                  <a:lnTo>
                    <a:pt x="2190750" y="538480"/>
                  </a:lnTo>
                  <a:lnTo>
                    <a:pt x="2208530" y="575310"/>
                  </a:lnTo>
                  <a:lnTo>
                    <a:pt x="2224405" y="612775"/>
                  </a:lnTo>
                  <a:lnTo>
                    <a:pt x="2238375" y="650875"/>
                  </a:lnTo>
                  <a:lnTo>
                    <a:pt x="2249805" y="689610"/>
                  </a:lnTo>
                  <a:lnTo>
                    <a:pt x="2258695" y="729615"/>
                  </a:lnTo>
                  <a:lnTo>
                    <a:pt x="2265045" y="769620"/>
                  </a:lnTo>
                  <a:lnTo>
                    <a:pt x="2268855" y="810260"/>
                  </a:lnTo>
                  <a:lnTo>
                    <a:pt x="2270125" y="851535"/>
                  </a:lnTo>
                  <a:lnTo>
                    <a:pt x="2268855" y="892810"/>
                  </a:lnTo>
                  <a:lnTo>
                    <a:pt x="2265045" y="933450"/>
                  </a:lnTo>
                  <a:lnTo>
                    <a:pt x="2258695" y="974090"/>
                  </a:lnTo>
                  <a:lnTo>
                    <a:pt x="2249805" y="1013460"/>
                  </a:lnTo>
                  <a:lnTo>
                    <a:pt x="2238375" y="1052830"/>
                  </a:lnTo>
                  <a:lnTo>
                    <a:pt x="2224405" y="1090930"/>
                  </a:lnTo>
                  <a:lnTo>
                    <a:pt x="2208530" y="1128395"/>
                  </a:lnTo>
                  <a:lnTo>
                    <a:pt x="2190750" y="1165225"/>
                  </a:lnTo>
                  <a:lnTo>
                    <a:pt x="2170430" y="1201420"/>
                  </a:lnTo>
                  <a:lnTo>
                    <a:pt x="2148205" y="1236345"/>
                  </a:lnTo>
                  <a:lnTo>
                    <a:pt x="2123440" y="1270635"/>
                  </a:lnTo>
                  <a:lnTo>
                    <a:pt x="2097405" y="1303655"/>
                  </a:lnTo>
                  <a:lnTo>
                    <a:pt x="2068830" y="1336040"/>
                  </a:lnTo>
                  <a:lnTo>
                    <a:pt x="2038985" y="1367155"/>
                  </a:lnTo>
                  <a:lnTo>
                    <a:pt x="2006600" y="1397000"/>
                  </a:lnTo>
                  <a:lnTo>
                    <a:pt x="1972945" y="1426210"/>
                  </a:lnTo>
                  <a:lnTo>
                    <a:pt x="1937385" y="1454150"/>
                  </a:lnTo>
                  <a:lnTo>
                    <a:pt x="1900555" y="1480820"/>
                  </a:lnTo>
                  <a:lnTo>
                    <a:pt x="1861820" y="1505585"/>
                  </a:lnTo>
                  <a:lnTo>
                    <a:pt x="1821814" y="1529715"/>
                  </a:lnTo>
                  <a:lnTo>
                    <a:pt x="1779905" y="1552575"/>
                  </a:lnTo>
                  <a:lnTo>
                    <a:pt x="1737360" y="1573530"/>
                  </a:lnTo>
                  <a:lnTo>
                    <a:pt x="1692910" y="1593850"/>
                  </a:lnTo>
                  <a:lnTo>
                    <a:pt x="1647189" y="1611630"/>
                  </a:lnTo>
                  <a:lnTo>
                    <a:pt x="1600835" y="1628775"/>
                  </a:lnTo>
                  <a:lnTo>
                    <a:pt x="1552575" y="1644014"/>
                  </a:lnTo>
                  <a:lnTo>
                    <a:pt x="1503680" y="1657350"/>
                  </a:lnTo>
                  <a:lnTo>
                    <a:pt x="1453515" y="1669414"/>
                  </a:lnTo>
                  <a:lnTo>
                    <a:pt x="1402715" y="1679575"/>
                  </a:lnTo>
                  <a:lnTo>
                    <a:pt x="1350645" y="1687830"/>
                  </a:lnTo>
                  <a:lnTo>
                    <a:pt x="1297938" y="1694814"/>
                  </a:lnTo>
                  <a:lnTo>
                    <a:pt x="1243963" y="1699260"/>
                  </a:lnTo>
                  <a:lnTo>
                    <a:pt x="1189988" y="1702435"/>
                  </a:lnTo>
                  <a:lnTo>
                    <a:pt x="1134745" y="1703705"/>
                  </a:lnTo>
                  <a:lnTo>
                    <a:pt x="1080135" y="1702435"/>
                  </a:lnTo>
                  <a:lnTo>
                    <a:pt x="1025525" y="1699260"/>
                  </a:lnTo>
                  <a:lnTo>
                    <a:pt x="972185" y="1694814"/>
                  </a:lnTo>
                  <a:lnTo>
                    <a:pt x="919480" y="1687830"/>
                  </a:lnTo>
                  <a:lnTo>
                    <a:pt x="867410" y="1679575"/>
                  </a:lnTo>
                  <a:lnTo>
                    <a:pt x="815975" y="1669414"/>
                  </a:lnTo>
                  <a:lnTo>
                    <a:pt x="766445" y="1657350"/>
                  </a:lnTo>
                  <a:lnTo>
                    <a:pt x="716915" y="1644014"/>
                  </a:lnTo>
                  <a:lnTo>
                    <a:pt x="669290" y="1628775"/>
                  </a:lnTo>
                  <a:lnTo>
                    <a:pt x="622298" y="1611630"/>
                  </a:lnTo>
                  <a:lnTo>
                    <a:pt x="576580" y="1593850"/>
                  </a:lnTo>
                  <a:lnTo>
                    <a:pt x="532765" y="1573530"/>
                  </a:lnTo>
                  <a:lnTo>
                    <a:pt x="489583" y="1552575"/>
                  </a:lnTo>
                  <a:lnTo>
                    <a:pt x="448308" y="1529715"/>
                  </a:lnTo>
                  <a:lnTo>
                    <a:pt x="407670" y="1505585"/>
                  </a:lnTo>
                  <a:lnTo>
                    <a:pt x="369570" y="1480820"/>
                  </a:lnTo>
                  <a:lnTo>
                    <a:pt x="332105" y="1454150"/>
                  </a:lnTo>
                  <a:lnTo>
                    <a:pt x="296545" y="1426210"/>
                  </a:lnTo>
                  <a:lnTo>
                    <a:pt x="262888" y="1397000"/>
                  </a:lnTo>
                  <a:lnTo>
                    <a:pt x="231138" y="1367155"/>
                  </a:lnTo>
                  <a:lnTo>
                    <a:pt x="200658" y="1336040"/>
                  </a:lnTo>
                  <a:lnTo>
                    <a:pt x="172718" y="1303655"/>
                  </a:lnTo>
                  <a:lnTo>
                    <a:pt x="146050" y="1270635"/>
                  </a:lnTo>
                  <a:lnTo>
                    <a:pt x="121918" y="1236345"/>
                  </a:lnTo>
                  <a:lnTo>
                    <a:pt x="99059" y="1201420"/>
                  </a:lnTo>
                  <a:lnTo>
                    <a:pt x="79375" y="1165225"/>
                  </a:lnTo>
                  <a:lnTo>
                    <a:pt x="60959" y="1128395"/>
                  </a:lnTo>
                  <a:lnTo>
                    <a:pt x="45083" y="1090930"/>
                  </a:lnTo>
                  <a:lnTo>
                    <a:pt x="31750" y="1052830"/>
                  </a:lnTo>
                  <a:lnTo>
                    <a:pt x="20318" y="1013460"/>
                  </a:lnTo>
                  <a:lnTo>
                    <a:pt x="11429" y="974090"/>
                  </a:lnTo>
                  <a:lnTo>
                    <a:pt x="5079" y="933450"/>
                  </a:lnTo>
                  <a:lnTo>
                    <a:pt x="1269" y="892810"/>
                  </a:lnTo>
                  <a:lnTo>
                    <a:pt x="0" y="851535"/>
                  </a:lnTo>
                  <a:close/>
                </a:path>
              </a:pathLst>
            </a:custGeom>
            <a:noFill/>
            <a:ln cap="flat" cmpd="sng" w="27425">
              <a:solidFill>
                <a:srgbClr val="FFFFD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41" name="Google Shape;1041;g37a158a6f9e_0_188"/>
            <p:cNvPicPr preferRelativeResize="0"/>
            <p:nvPr/>
          </p:nvPicPr>
          <p:blipFill rotWithShape="1">
            <a:blip r:embed="rId5">
              <a:alphaModFix/>
            </a:blip>
            <a:srcRect b="0" l="0" r="0" t="0"/>
            <a:stretch/>
          </p:blipFill>
          <p:spPr>
            <a:xfrm>
              <a:off x="295274" y="960118"/>
              <a:ext cx="1399538" cy="1313813"/>
            </a:xfrm>
            <a:prstGeom prst="rect">
              <a:avLst/>
            </a:prstGeom>
            <a:noFill/>
            <a:ln>
              <a:noFill/>
            </a:ln>
          </p:spPr>
        </p:pic>
        <p:pic>
          <p:nvPicPr>
            <p:cNvPr id="1042" name="Google Shape;1042;g37a158a6f9e_0_188"/>
            <p:cNvPicPr preferRelativeResize="0"/>
            <p:nvPr/>
          </p:nvPicPr>
          <p:blipFill rotWithShape="1">
            <a:blip r:embed="rId6">
              <a:alphaModFix/>
            </a:blip>
            <a:srcRect b="0" l="0" r="0" t="0"/>
            <a:stretch/>
          </p:blipFill>
          <p:spPr>
            <a:xfrm>
              <a:off x="313689" y="969010"/>
              <a:ext cx="1359535" cy="1274445"/>
            </a:xfrm>
            <a:prstGeom prst="rect">
              <a:avLst/>
            </a:prstGeom>
            <a:noFill/>
            <a:ln>
              <a:noFill/>
            </a:ln>
          </p:spPr>
        </p:pic>
        <p:sp>
          <p:nvSpPr>
            <p:cNvPr id="1043" name="Google Shape;1043;g37a158a6f9e_0_188"/>
            <p:cNvSpPr/>
            <p:nvPr/>
          </p:nvSpPr>
          <p:spPr>
            <a:xfrm>
              <a:off x="314958" y="970280"/>
              <a:ext cx="1358900" cy="1273175"/>
            </a:xfrm>
            <a:custGeom>
              <a:rect b="b" l="l" r="r" t="t"/>
              <a:pathLst>
                <a:path extrusionOk="0" h="1273175" w="1358900">
                  <a:moveTo>
                    <a:pt x="93343" y="167640"/>
                  </a:moveTo>
                  <a:lnTo>
                    <a:pt x="120649" y="137160"/>
                  </a:lnTo>
                  <a:lnTo>
                    <a:pt x="150493" y="109220"/>
                  </a:lnTo>
                  <a:lnTo>
                    <a:pt x="182880" y="84455"/>
                  </a:lnTo>
                  <a:lnTo>
                    <a:pt x="217168" y="62865"/>
                  </a:lnTo>
                  <a:lnTo>
                    <a:pt x="253998" y="45085"/>
                  </a:lnTo>
                  <a:lnTo>
                    <a:pt x="292735" y="29845"/>
                  </a:lnTo>
                  <a:lnTo>
                    <a:pt x="332740" y="17780"/>
                  </a:lnTo>
                  <a:lnTo>
                    <a:pt x="374648" y="8255"/>
                  </a:lnTo>
                  <a:lnTo>
                    <a:pt x="417830" y="2540"/>
                  </a:lnTo>
                  <a:lnTo>
                    <a:pt x="462280" y="0"/>
                  </a:lnTo>
                  <a:lnTo>
                    <a:pt x="508000" y="0"/>
                  </a:lnTo>
                  <a:lnTo>
                    <a:pt x="554355" y="3810"/>
                  </a:lnTo>
                  <a:lnTo>
                    <a:pt x="601345" y="10160"/>
                  </a:lnTo>
                  <a:lnTo>
                    <a:pt x="648335" y="19685"/>
                  </a:lnTo>
                  <a:lnTo>
                    <a:pt x="695960" y="32384"/>
                  </a:lnTo>
                  <a:lnTo>
                    <a:pt x="744220" y="47625"/>
                  </a:lnTo>
                  <a:lnTo>
                    <a:pt x="791845" y="66675"/>
                  </a:lnTo>
                  <a:lnTo>
                    <a:pt x="839469" y="88265"/>
                  </a:lnTo>
                  <a:lnTo>
                    <a:pt x="886460" y="113030"/>
                  </a:lnTo>
                  <a:lnTo>
                    <a:pt x="932815" y="140970"/>
                  </a:lnTo>
                  <a:lnTo>
                    <a:pt x="978535" y="171450"/>
                  </a:lnTo>
                  <a:lnTo>
                    <a:pt x="1022985" y="205104"/>
                  </a:lnTo>
                  <a:lnTo>
                    <a:pt x="1066165" y="241300"/>
                  </a:lnTo>
                  <a:lnTo>
                    <a:pt x="1106170" y="279400"/>
                  </a:lnTo>
                  <a:lnTo>
                    <a:pt x="1143000" y="318135"/>
                  </a:lnTo>
                  <a:lnTo>
                    <a:pt x="1177925" y="358775"/>
                  </a:lnTo>
                  <a:lnTo>
                    <a:pt x="1209675" y="400685"/>
                  </a:lnTo>
                  <a:lnTo>
                    <a:pt x="1238250" y="443230"/>
                  </a:lnTo>
                  <a:lnTo>
                    <a:pt x="1264285" y="486409"/>
                  </a:lnTo>
                  <a:lnTo>
                    <a:pt x="1287145" y="530225"/>
                  </a:lnTo>
                  <a:lnTo>
                    <a:pt x="1306830" y="574040"/>
                  </a:lnTo>
                  <a:lnTo>
                    <a:pt x="1323340" y="618490"/>
                  </a:lnTo>
                  <a:lnTo>
                    <a:pt x="1336675" y="662940"/>
                  </a:lnTo>
                  <a:lnTo>
                    <a:pt x="1347470" y="707390"/>
                  </a:lnTo>
                  <a:lnTo>
                    <a:pt x="1354455" y="751205"/>
                  </a:lnTo>
                  <a:lnTo>
                    <a:pt x="1358265" y="795020"/>
                  </a:lnTo>
                  <a:lnTo>
                    <a:pt x="1358900" y="837565"/>
                  </a:lnTo>
                  <a:lnTo>
                    <a:pt x="1355725" y="880110"/>
                  </a:lnTo>
                  <a:lnTo>
                    <a:pt x="1350010" y="920750"/>
                  </a:lnTo>
                  <a:lnTo>
                    <a:pt x="1339850" y="960755"/>
                  </a:lnTo>
                  <a:lnTo>
                    <a:pt x="1326515" y="999490"/>
                  </a:lnTo>
                  <a:lnTo>
                    <a:pt x="1310005" y="1036319"/>
                  </a:lnTo>
                  <a:lnTo>
                    <a:pt x="1289685" y="1071880"/>
                  </a:lnTo>
                  <a:lnTo>
                    <a:pt x="1265555" y="1105535"/>
                  </a:lnTo>
                  <a:lnTo>
                    <a:pt x="1238250" y="1136015"/>
                  </a:lnTo>
                  <a:lnTo>
                    <a:pt x="1208405" y="1163955"/>
                  </a:lnTo>
                  <a:lnTo>
                    <a:pt x="1176020" y="1188720"/>
                  </a:lnTo>
                  <a:lnTo>
                    <a:pt x="1141730" y="1210310"/>
                  </a:lnTo>
                  <a:lnTo>
                    <a:pt x="1104900" y="1228725"/>
                  </a:lnTo>
                  <a:lnTo>
                    <a:pt x="1066165" y="1243965"/>
                  </a:lnTo>
                  <a:lnTo>
                    <a:pt x="1026160" y="1256030"/>
                  </a:lnTo>
                  <a:lnTo>
                    <a:pt x="984250" y="1264920"/>
                  </a:lnTo>
                  <a:lnTo>
                    <a:pt x="940435" y="1270635"/>
                  </a:lnTo>
                  <a:lnTo>
                    <a:pt x="895985" y="1273175"/>
                  </a:lnTo>
                  <a:lnTo>
                    <a:pt x="850900" y="1273175"/>
                  </a:lnTo>
                  <a:lnTo>
                    <a:pt x="804545" y="1270000"/>
                  </a:lnTo>
                  <a:lnTo>
                    <a:pt x="757555" y="1263015"/>
                  </a:lnTo>
                  <a:lnTo>
                    <a:pt x="709930" y="1253490"/>
                  </a:lnTo>
                  <a:lnTo>
                    <a:pt x="662305" y="1241425"/>
                  </a:lnTo>
                  <a:lnTo>
                    <a:pt x="614680" y="1225550"/>
                  </a:lnTo>
                  <a:lnTo>
                    <a:pt x="567055" y="1207135"/>
                  </a:lnTo>
                  <a:lnTo>
                    <a:pt x="519430" y="1184910"/>
                  </a:lnTo>
                  <a:lnTo>
                    <a:pt x="472440" y="1160145"/>
                  </a:lnTo>
                  <a:lnTo>
                    <a:pt x="426083" y="1132840"/>
                  </a:lnTo>
                  <a:lnTo>
                    <a:pt x="380365" y="1101725"/>
                  </a:lnTo>
                  <a:lnTo>
                    <a:pt x="335915" y="1068070"/>
                  </a:lnTo>
                  <a:lnTo>
                    <a:pt x="292735" y="1031875"/>
                  </a:lnTo>
                  <a:lnTo>
                    <a:pt x="252729" y="994410"/>
                  </a:lnTo>
                  <a:lnTo>
                    <a:pt x="215265" y="955040"/>
                  </a:lnTo>
                  <a:lnTo>
                    <a:pt x="180973" y="914400"/>
                  </a:lnTo>
                  <a:lnTo>
                    <a:pt x="149223" y="873125"/>
                  </a:lnTo>
                  <a:lnTo>
                    <a:pt x="120649" y="830580"/>
                  </a:lnTo>
                  <a:lnTo>
                    <a:pt x="94614" y="787400"/>
                  </a:lnTo>
                  <a:lnTo>
                    <a:pt x="71753" y="743585"/>
                  </a:lnTo>
                  <a:lnTo>
                    <a:pt x="52068" y="699135"/>
                  </a:lnTo>
                  <a:lnTo>
                    <a:pt x="35560" y="654685"/>
                  </a:lnTo>
                  <a:lnTo>
                    <a:pt x="21588" y="610235"/>
                  </a:lnTo>
                  <a:lnTo>
                    <a:pt x="11429" y="565785"/>
                  </a:lnTo>
                  <a:lnTo>
                    <a:pt x="4444" y="521970"/>
                  </a:lnTo>
                  <a:lnTo>
                    <a:pt x="635" y="478155"/>
                  </a:lnTo>
                  <a:lnTo>
                    <a:pt x="0" y="435609"/>
                  </a:lnTo>
                  <a:lnTo>
                    <a:pt x="2539" y="393065"/>
                  </a:lnTo>
                  <a:lnTo>
                    <a:pt x="8889" y="352425"/>
                  </a:lnTo>
                  <a:lnTo>
                    <a:pt x="18413" y="312420"/>
                  </a:lnTo>
                  <a:lnTo>
                    <a:pt x="31750" y="273685"/>
                  </a:lnTo>
                  <a:lnTo>
                    <a:pt x="48893" y="236854"/>
                  </a:lnTo>
                  <a:lnTo>
                    <a:pt x="69213" y="201295"/>
                  </a:lnTo>
                  <a:lnTo>
                    <a:pt x="93343" y="167640"/>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4" name="Google Shape;1044;g37a158a6f9e_0_188"/>
            <p:cNvSpPr/>
            <p:nvPr/>
          </p:nvSpPr>
          <p:spPr>
            <a:xfrm>
              <a:off x="443863" y="1098550"/>
              <a:ext cx="1101090" cy="1016635"/>
            </a:xfrm>
            <a:custGeom>
              <a:rect b="b" l="l" r="r" t="t"/>
              <a:pathLst>
                <a:path extrusionOk="0" h="1016635" w="1101090">
                  <a:moveTo>
                    <a:pt x="66038" y="121285"/>
                  </a:moveTo>
                  <a:lnTo>
                    <a:pt x="44450" y="152400"/>
                  </a:lnTo>
                  <a:lnTo>
                    <a:pt x="13968" y="222250"/>
                  </a:lnTo>
                  <a:lnTo>
                    <a:pt x="5080" y="260350"/>
                  </a:lnTo>
                  <a:lnTo>
                    <a:pt x="0" y="299720"/>
                  </a:lnTo>
                  <a:lnTo>
                    <a:pt x="0" y="340360"/>
                  </a:lnTo>
                  <a:lnTo>
                    <a:pt x="3175" y="381635"/>
                  </a:lnTo>
                  <a:lnTo>
                    <a:pt x="10794" y="424180"/>
                  </a:lnTo>
                  <a:lnTo>
                    <a:pt x="22225" y="467359"/>
                  </a:lnTo>
                  <a:lnTo>
                    <a:pt x="37463" y="510540"/>
                  </a:lnTo>
                  <a:lnTo>
                    <a:pt x="56513" y="554355"/>
                  </a:lnTo>
                  <a:lnTo>
                    <a:pt x="79375" y="597535"/>
                  </a:lnTo>
                  <a:lnTo>
                    <a:pt x="106043" y="640080"/>
                  </a:lnTo>
                  <a:lnTo>
                    <a:pt x="135255" y="681990"/>
                  </a:lnTo>
                  <a:lnTo>
                    <a:pt x="168910" y="723265"/>
                  </a:lnTo>
                  <a:lnTo>
                    <a:pt x="205104" y="762635"/>
                  </a:lnTo>
                  <a:lnTo>
                    <a:pt x="245110" y="801370"/>
                  </a:lnTo>
                  <a:lnTo>
                    <a:pt x="288288" y="837565"/>
                  </a:lnTo>
                  <a:lnTo>
                    <a:pt x="333375" y="871855"/>
                  </a:lnTo>
                  <a:lnTo>
                    <a:pt x="379095" y="902335"/>
                  </a:lnTo>
                  <a:lnTo>
                    <a:pt x="426084" y="929005"/>
                  </a:lnTo>
                  <a:lnTo>
                    <a:pt x="473709" y="952500"/>
                  </a:lnTo>
                  <a:lnTo>
                    <a:pt x="520700" y="972185"/>
                  </a:lnTo>
                  <a:lnTo>
                    <a:pt x="568325" y="988060"/>
                  </a:lnTo>
                  <a:lnTo>
                    <a:pt x="615315" y="1000760"/>
                  </a:lnTo>
                  <a:lnTo>
                    <a:pt x="661670" y="1009650"/>
                  </a:lnTo>
                  <a:lnTo>
                    <a:pt x="707390" y="1015365"/>
                  </a:lnTo>
                  <a:lnTo>
                    <a:pt x="751840" y="1016635"/>
                  </a:lnTo>
                  <a:lnTo>
                    <a:pt x="795020" y="1014730"/>
                  </a:lnTo>
                  <a:lnTo>
                    <a:pt x="836294" y="1009015"/>
                  </a:lnTo>
                  <a:lnTo>
                    <a:pt x="875665" y="999490"/>
                  </a:lnTo>
                  <a:lnTo>
                    <a:pt x="913130" y="986155"/>
                  </a:lnTo>
                  <a:lnTo>
                    <a:pt x="947419" y="969010"/>
                  </a:lnTo>
                  <a:lnTo>
                    <a:pt x="979805" y="948690"/>
                  </a:lnTo>
                  <a:lnTo>
                    <a:pt x="1035050" y="895350"/>
                  </a:lnTo>
                  <a:lnTo>
                    <a:pt x="1087120" y="794385"/>
                  </a:lnTo>
                  <a:lnTo>
                    <a:pt x="1096010" y="756285"/>
                  </a:lnTo>
                  <a:lnTo>
                    <a:pt x="1100455" y="716915"/>
                  </a:lnTo>
                  <a:lnTo>
                    <a:pt x="1101090" y="676275"/>
                  </a:lnTo>
                  <a:lnTo>
                    <a:pt x="1097280" y="635000"/>
                  </a:lnTo>
                  <a:lnTo>
                    <a:pt x="1089660" y="592455"/>
                  </a:lnTo>
                  <a:lnTo>
                    <a:pt x="1078230" y="549275"/>
                  </a:lnTo>
                  <a:lnTo>
                    <a:pt x="1062990" y="506095"/>
                  </a:lnTo>
                  <a:lnTo>
                    <a:pt x="1043940" y="462915"/>
                  </a:lnTo>
                  <a:lnTo>
                    <a:pt x="1021715" y="419734"/>
                  </a:lnTo>
                  <a:lnTo>
                    <a:pt x="995044" y="376555"/>
                  </a:lnTo>
                  <a:lnTo>
                    <a:pt x="965200" y="334645"/>
                  </a:lnTo>
                  <a:lnTo>
                    <a:pt x="932180" y="294005"/>
                  </a:lnTo>
                  <a:lnTo>
                    <a:pt x="895350" y="254000"/>
                  </a:lnTo>
                  <a:lnTo>
                    <a:pt x="855980" y="215900"/>
                  </a:lnTo>
                  <a:lnTo>
                    <a:pt x="812800" y="179070"/>
                  </a:lnTo>
                  <a:lnTo>
                    <a:pt x="767715" y="145415"/>
                  </a:lnTo>
                  <a:lnTo>
                    <a:pt x="721360" y="114935"/>
                  </a:lnTo>
                  <a:lnTo>
                    <a:pt x="675005" y="87630"/>
                  </a:lnTo>
                  <a:lnTo>
                    <a:pt x="627380" y="64769"/>
                  </a:lnTo>
                  <a:lnTo>
                    <a:pt x="579755" y="45085"/>
                  </a:lnTo>
                  <a:lnTo>
                    <a:pt x="532765" y="28575"/>
                  </a:lnTo>
                  <a:lnTo>
                    <a:pt x="485775" y="15875"/>
                  </a:lnTo>
                  <a:lnTo>
                    <a:pt x="438784" y="6985"/>
                  </a:lnTo>
                  <a:lnTo>
                    <a:pt x="393700" y="1905"/>
                  </a:lnTo>
                  <a:lnTo>
                    <a:pt x="349250" y="0"/>
                  </a:lnTo>
                  <a:lnTo>
                    <a:pt x="306070" y="1905"/>
                  </a:lnTo>
                  <a:lnTo>
                    <a:pt x="264793" y="7620"/>
                  </a:lnTo>
                  <a:lnTo>
                    <a:pt x="225425" y="17145"/>
                  </a:lnTo>
                  <a:lnTo>
                    <a:pt x="187960" y="30480"/>
                  </a:lnTo>
                  <a:lnTo>
                    <a:pt x="153035" y="47625"/>
                  </a:lnTo>
                  <a:lnTo>
                    <a:pt x="66038" y="121285"/>
                  </a:lnTo>
                  <a:close/>
                </a:path>
              </a:pathLst>
            </a:custGeom>
            <a:noFill/>
            <a:ln cap="flat" cmpd="sng" w="9525">
              <a:solidFill>
                <a:srgbClr val="DFDB8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5" name="Google Shape;1045;g37a158a6f9e_0_188"/>
            <p:cNvSpPr/>
            <p:nvPr/>
          </p:nvSpPr>
          <p:spPr>
            <a:xfrm>
              <a:off x="1350010" y="0"/>
              <a:ext cx="10841990" cy="6858000"/>
            </a:xfrm>
            <a:custGeom>
              <a:rect b="b" l="l" r="r" t="t"/>
              <a:pathLst>
                <a:path extrusionOk="0" h="6858000" w="10841990">
                  <a:moveTo>
                    <a:pt x="10841990" y="0"/>
                  </a:moveTo>
                  <a:lnTo>
                    <a:pt x="0" y="0"/>
                  </a:lnTo>
                  <a:lnTo>
                    <a:pt x="0" y="6858000"/>
                  </a:lnTo>
                  <a:lnTo>
                    <a:pt x="10841990" y="6858000"/>
                  </a:lnTo>
                  <a:lnTo>
                    <a:pt x="108419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46" name="Google Shape;1046;g37a158a6f9e_0_188"/>
            <p:cNvPicPr preferRelativeResize="0"/>
            <p:nvPr/>
          </p:nvPicPr>
          <p:blipFill rotWithShape="1">
            <a:blip r:embed="rId7">
              <a:alphaModFix/>
            </a:blip>
            <a:srcRect b="0" l="0" r="0" t="0"/>
            <a:stretch/>
          </p:blipFill>
          <p:spPr>
            <a:xfrm>
              <a:off x="1273810" y="0"/>
              <a:ext cx="177165" cy="6857995"/>
            </a:xfrm>
            <a:prstGeom prst="rect">
              <a:avLst/>
            </a:prstGeom>
            <a:noFill/>
            <a:ln>
              <a:noFill/>
            </a:ln>
          </p:spPr>
        </p:pic>
        <p:sp>
          <p:nvSpPr>
            <p:cNvPr id="1047" name="Google Shape;1047;g37a158a6f9e_0_188"/>
            <p:cNvSpPr/>
            <p:nvPr/>
          </p:nvSpPr>
          <p:spPr>
            <a:xfrm>
              <a:off x="1353185" y="0"/>
              <a:ext cx="97790" cy="6858000"/>
            </a:xfrm>
            <a:custGeom>
              <a:rect b="b" l="l" r="r" t="t"/>
              <a:pathLst>
                <a:path extrusionOk="0" h="6858000" w="97790">
                  <a:moveTo>
                    <a:pt x="97790" y="0"/>
                  </a:moveTo>
                  <a:lnTo>
                    <a:pt x="0" y="0"/>
                  </a:lnTo>
                  <a:lnTo>
                    <a:pt x="0" y="6858000"/>
                  </a:lnTo>
                  <a:lnTo>
                    <a:pt x="97790" y="6858000"/>
                  </a:lnTo>
                  <a:lnTo>
                    <a:pt x="9779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48" name="Google Shape;1048;g37a158a6f9e_0_188"/>
            <p:cNvPicPr preferRelativeResize="0"/>
            <p:nvPr/>
          </p:nvPicPr>
          <p:blipFill rotWithShape="1">
            <a:blip r:embed="rId8">
              <a:alphaModFix/>
            </a:blip>
            <a:srcRect b="0" l="0" r="0" t="0"/>
            <a:stretch/>
          </p:blipFill>
          <p:spPr>
            <a:xfrm>
              <a:off x="0" y="78738"/>
              <a:ext cx="1207134" cy="676908"/>
            </a:xfrm>
            <a:prstGeom prst="rect">
              <a:avLst/>
            </a:prstGeom>
            <a:noFill/>
            <a:ln>
              <a:noFill/>
            </a:ln>
          </p:spPr>
        </p:pic>
      </p:grpSp>
      <p:sp>
        <p:nvSpPr>
          <p:cNvPr id="1049" name="Google Shape;1049;g37a158a6f9e_0_188"/>
          <p:cNvSpPr txBox="1"/>
          <p:nvPr/>
        </p:nvSpPr>
        <p:spPr>
          <a:xfrm>
            <a:off x="1641550" y="383025"/>
            <a:ext cx="7222800" cy="47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50"/>
              <a:buFont typeface="Arial"/>
              <a:buNone/>
            </a:pPr>
            <a:r>
              <a:t/>
            </a:r>
            <a:endParaRPr b="1" i="0" sz="2650" u="none" cap="none" strike="noStrike">
              <a:solidFill>
                <a:schemeClr val="dk1"/>
              </a:solidFill>
              <a:latin typeface="Times New Roman"/>
              <a:ea typeface="Times New Roman"/>
              <a:cs typeface="Times New Roman"/>
              <a:sym typeface="Times New Roman"/>
            </a:endParaRPr>
          </a:p>
        </p:txBody>
      </p:sp>
      <p:sp>
        <p:nvSpPr>
          <p:cNvPr id="1050" name="Google Shape;1050;g37a158a6f9e_0_188"/>
          <p:cNvSpPr txBox="1"/>
          <p:nvPr/>
        </p:nvSpPr>
        <p:spPr>
          <a:xfrm>
            <a:off x="1550350" y="1203800"/>
            <a:ext cx="10469400" cy="525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
        <p:nvSpPr>
          <p:cNvPr id="1051" name="Google Shape;1051;g37a158a6f9e_0_188"/>
          <p:cNvSpPr txBox="1"/>
          <p:nvPr/>
        </p:nvSpPr>
        <p:spPr>
          <a:xfrm>
            <a:off x="7441650" y="1495625"/>
            <a:ext cx="4176900" cy="390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50"/>
              <a:buFont typeface="Arial"/>
              <a:buNone/>
            </a:pPr>
            <a:r>
              <a:t/>
            </a:r>
            <a:endParaRPr b="0" i="0" sz="20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2025-08-18T05:48:38Z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2024-12-15T05:30:00Z</vt:filetime>
  </property>
  <property fmtid="{D5CDD505-2E9C-101B-9397-08002B2CF9AE}" pid="3" name="Creator">
    <vt:lpwstr>Keynote</vt:lpwstr>
  </property>
  <property fmtid="{D5CDD505-2E9C-101B-9397-08002B2CF9AE}" pid="4" name="LastSaved">
    <vt:filetime>2025-08-18T05:30:00Z</vt:filetime>
  </property>
  <property fmtid="{D5CDD505-2E9C-101B-9397-08002B2CF9AE}" pid="5" name="Producer">
    <vt:lpwstr>macOS Version 15.1.1 (Build 24B91) Quartz PDFContext</vt:lpwstr>
  </property>
  <property fmtid="{D5CDD505-2E9C-101B-9397-08002B2CF9AE}" pid="6" name="ICV">
    <vt:lpwstr>542A2AE1F3A544419029EACC91234721_13</vt:lpwstr>
  </property>
  <property fmtid="{D5CDD505-2E9C-101B-9397-08002B2CF9AE}" pid="7" name="KSOProductBuildVer">
    <vt:lpwstr>2057-12.2.0.17153</vt:lpwstr>
  </property>
</Properties>
</file>